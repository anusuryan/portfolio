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Semi-Bold" charset="1" panose="00000700000000000000"/>
      <p:regular r:id="rId18"/>
    </p:embeddedFont>
    <p:embeddedFont>
      <p:font typeface="Poppins" charset="1" panose="00000500000000000000"/>
      <p:regular r:id="rId19"/>
    </p:embeddedFont>
    <p:embeddedFont>
      <p:font typeface="Poppins Italics" charset="1" panose="00000500000000000000"/>
      <p:regular r:id="rId20"/>
    </p:embeddedFont>
    <p:embeddedFont>
      <p:font typeface="Poppins Bold Italics" charset="1" panose="00000800000000000000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2921" y="2057400"/>
            <a:ext cx="6737985" cy="8229600"/>
          </a:xfrm>
          <a:custGeom>
            <a:avLst/>
            <a:gdLst/>
            <a:ahLst/>
            <a:cxnLst/>
            <a:rect r="r" b="b" t="t" l="l"/>
            <a:pathLst>
              <a:path h="8229600" w="6737985">
                <a:moveTo>
                  <a:pt x="0" y="0"/>
                </a:moveTo>
                <a:lnTo>
                  <a:pt x="6737985" y="0"/>
                </a:lnTo>
                <a:lnTo>
                  <a:pt x="67379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37600" y="6812476"/>
            <a:ext cx="440299" cy="440299"/>
          </a:xfrm>
          <a:custGeom>
            <a:avLst/>
            <a:gdLst/>
            <a:ahLst/>
            <a:cxnLst/>
            <a:rect r="r" b="b" t="t" l="l"/>
            <a:pathLst>
              <a:path h="440299" w="440299">
                <a:moveTo>
                  <a:pt x="0" y="0"/>
                </a:moveTo>
                <a:lnTo>
                  <a:pt x="440299" y="0"/>
                </a:lnTo>
                <a:lnTo>
                  <a:pt x="440299" y="440299"/>
                </a:lnTo>
                <a:lnTo>
                  <a:pt x="0" y="4402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61401" y="2426793"/>
            <a:ext cx="9673822" cy="407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2"/>
              </a:lnSpc>
            </a:pPr>
            <a:r>
              <a:rPr lang="en-US" sz="10710" spc="-546" b="tru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Future is Now : Exploring Blockchain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62252" y="6861017"/>
            <a:ext cx="7419757" cy="391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DRIVING INNOVATION, SHAPING THE WORLD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4283" y="1166557"/>
            <a:ext cx="5803317" cy="45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3321" spc="-16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Blochchain Technologies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8854" y="5541829"/>
            <a:ext cx="7277051" cy="3327247"/>
            <a:chOff x="0" y="0"/>
            <a:chExt cx="1153767" cy="5275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3767" cy="527531"/>
            </a:xfrm>
            <a:custGeom>
              <a:avLst/>
              <a:gdLst/>
              <a:ahLst/>
              <a:cxnLst/>
              <a:rect r="r" b="b" t="t" l="l"/>
              <a:pathLst>
                <a:path h="527531" w="1153767">
                  <a:moveTo>
                    <a:pt x="24469" y="0"/>
                  </a:moveTo>
                  <a:lnTo>
                    <a:pt x="1129298" y="0"/>
                  </a:lnTo>
                  <a:cubicBezTo>
                    <a:pt x="1135788" y="0"/>
                    <a:pt x="1142012" y="2578"/>
                    <a:pt x="1146600" y="7167"/>
                  </a:cubicBezTo>
                  <a:cubicBezTo>
                    <a:pt x="1151189" y="11756"/>
                    <a:pt x="1153767" y="17980"/>
                    <a:pt x="1153767" y="24469"/>
                  </a:cubicBezTo>
                  <a:lnTo>
                    <a:pt x="1153767" y="503062"/>
                  </a:lnTo>
                  <a:cubicBezTo>
                    <a:pt x="1153767" y="509551"/>
                    <a:pt x="1151189" y="515775"/>
                    <a:pt x="1146600" y="520364"/>
                  </a:cubicBezTo>
                  <a:cubicBezTo>
                    <a:pt x="1142012" y="524953"/>
                    <a:pt x="1135788" y="527531"/>
                    <a:pt x="1129298" y="527531"/>
                  </a:cubicBezTo>
                  <a:lnTo>
                    <a:pt x="24469" y="527531"/>
                  </a:lnTo>
                  <a:cubicBezTo>
                    <a:pt x="10955" y="527531"/>
                    <a:pt x="0" y="516576"/>
                    <a:pt x="0" y="503062"/>
                  </a:cubicBezTo>
                  <a:lnTo>
                    <a:pt x="0" y="24469"/>
                  </a:lnTo>
                  <a:cubicBezTo>
                    <a:pt x="0" y="10955"/>
                    <a:pt x="10955" y="0"/>
                    <a:pt x="2446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4135" r="0" b="-114135"/>
              </a:stretch>
            </a:blipFill>
            <a:ln w="85725" cap="rnd">
              <a:solidFill>
                <a:srgbClr val="6BC4E0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801701" y="2100236"/>
            <a:ext cx="6315855" cy="3327247"/>
            <a:chOff x="0" y="0"/>
            <a:chExt cx="1001371" cy="5275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1371" cy="527531"/>
            </a:xfrm>
            <a:custGeom>
              <a:avLst/>
              <a:gdLst/>
              <a:ahLst/>
              <a:cxnLst/>
              <a:rect r="r" b="b" t="t" l="l"/>
              <a:pathLst>
                <a:path h="527531" w="1001371">
                  <a:moveTo>
                    <a:pt x="28193" y="0"/>
                  </a:moveTo>
                  <a:lnTo>
                    <a:pt x="973178" y="0"/>
                  </a:lnTo>
                  <a:cubicBezTo>
                    <a:pt x="988748" y="0"/>
                    <a:pt x="1001371" y="12623"/>
                    <a:pt x="1001371" y="28193"/>
                  </a:cubicBezTo>
                  <a:lnTo>
                    <a:pt x="1001371" y="499338"/>
                  </a:lnTo>
                  <a:cubicBezTo>
                    <a:pt x="1001371" y="514908"/>
                    <a:pt x="988748" y="527531"/>
                    <a:pt x="973178" y="527531"/>
                  </a:cubicBezTo>
                  <a:lnTo>
                    <a:pt x="28193" y="527531"/>
                  </a:lnTo>
                  <a:cubicBezTo>
                    <a:pt x="12623" y="527531"/>
                    <a:pt x="0" y="514908"/>
                    <a:pt x="0" y="499338"/>
                  </a:cubicBezTo>
                  <a:lnTo>
                    <a:pt x="0" y="28193"/>
                  </a:lnTo>
                  <a:cubicBezTo>
                    <a:pt x="0" y="12623"/>
                    <a:pt x="12623" y="0"/>
                    <a:pt x="2819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3353" r="0" b="-13353"/>
              </a:stretch>
            </a:blipFill>
            <a:ln w="85725" cap="rnd">
              <a:solidFill>
                <a:srgbClr val="6BC4E0"/>
              </a:solidFill>
              <a:prstDash val="solid"/>
              <a:round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18854" y="2636709"/>
            <a:ext cx="9172749" cy="2368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45"/>
              </a:lnSpc>
              <a:spcBef>
                <a:spcPct val="0"/>
              </a:spcBef>
            </a:pPr>
            <a:r>
              <a:rPr lang="en-US" b="true" sz="9110" spc="-464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Blockchain and Cryptocurrency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144000" y="3152967"/>
            <a:ext cx="3902279" cy="6280865"/>
            <a:chOff x="0" y="0"/>
            <a:chExt cx="604565" cy="973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4565" cy="973070"/>
            </a:xfrm>
            <a:custGeom>
              <a:avLst/>
              <a:gdLst/>
              <a:ahLst/>
              <a:cxnLst/>
              <a:rect r="r" b="b" t="t" l="l"/>
              <a:pathLst>
                <a:path h="973070" w="604565">
                  <a:moveTo>
                    <a:pt x="45631" y="0"/>
                  </a:moveTo>
                  <a:lnTo>
                    <a:pt x="558934" y="0"/>
                  </a:lnTo>
                  <a:cubicBezTo>
                    <a:pt x="584136" y="0"/>
                    <a:pt x="604565" y="20430"/>
                    <a:pt x="604565" y="45631"/>
                  </a:cubicBezTo>
                  <a:lnTo>
                    <a:pt x="604565" y="927440"/>
                  </a:lnTo>
                  <a:cubicBezTo>
                    <a:pt x="604565" y="939542"/>
                    <a:pt x="599758" y="951148"/>
                    <a:pt x="591200" y="959705"/>
                  </a:cubicBezTo>
                  <a:cubicBezTo>
                    <a:pt x="582643" y="968263"/>
                    <a:pt x="571036" y="973070"/>
                    <a:pt x="558934" y="973070"/>
                  </a:cubicBezTo>
                  <a:lnTo>
                    <a:pt x="45631" y="973070"/>
                  </a:lnTo>
                  <a:cubicBezTo>
                    <a:pt x="20430" y="973070"/>
                    <a:pt x="0" y="952641"/>
                    <a:pt x="0" y="927440"/>
                  </a:cubicBezTo>
                  <a:lnTo>
                    <a:pt x="0" y="45631"/>
                  </a:lnTo>
                  <a:cubicBezTo>
                    <a:pt x="0" y="33529"/>
                    <a:pt x="4808" y="21922"/>
                    <a:pt x="13365" y="13365"/>
                  </a:cubicBezTo>
                  <a:cubicBezTo>
                    <a:pt x="21922" y="4808"/>
                    <a:pt x="33529" y="0"/>
                    <a:pt x="45631" y="0"/>
                  </a:cubicBezTo>
                  <a:close/>
                </a:path>
              </a:pathLst>
            </a:custGeom>
            <a:blipFill>
              <a:blip r:embed="rId6"/>
              <a:stretch>
                <a:fillRect l="-42768" t="0" r="-42768" b="0"/>
              </a:stretch>
            </a:blipFill>
            <a:ln w="85725" cap="rnd">
              <a:solidFill>
                <a:srgbClr val="6BC4E0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357021" y="2271521"/>
            <a:ext cx="3902279" cy="6280865"/>
            <a:chOff x="0" y="0"/>
            <a:chExt cx="604565" cy="9730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4565" cy="973070"/>
            </a:xfrm>
            <a:custGeom>
              <a:avLst/>
              <a:gdLst/>
              <a:ahLst/>
              <a:cxnLst/>
              <a:rect r="r" b="b" t="t" l="l"/>
              <a:pathLst>
                <a:path h="973070" w="604565">
                  <a:moveTo>
                    <a:pt x="45631" y="0"/>
                  </a:moveTo>
                  <a:lnTo>
                    <a:pt x="558934" y="0"/>
                  </a:lnTo>
                  <a:cubicBezTo>
                    <a:pt x="584136" y="0"/>
                    <a:pt x="604565" y="20430"/>
                    <a:pt x="604565" y="45631"/>
                  </a:cubicBezTo>
                  <a:lnTo>
                    <a:pt x="604565" y="927440"/>
                  </a:lnTo>
                  <a:cubicBezTo>
                    <a:pt x="604565" y="939542"/>
                    <a:pt x="599758" y="951148"/>
                    <a:pt x="591200" y="959705"/>
                  </a:cubicBezTo>
                  <a:cubicBezTo>
                    <a:pt x="582643" y="968263"/>
                    <a:pt x="571036" y="973070"/>
                    <a:pt x="558934" y="973070"/>
                  </a:cubicBezTo>
                  <a:lnTo>
                    <a:pt x="45631" y="973070"/>
                  </a:lnTo>
                  <a:cubicBezTo>
                    <a:pt x="20430" y="973070"/>
                    <a:pt x="0" y="952641"/>
                    <a:pt x="0" y="927440"/>
                  </a:cubicBezTo>
                  <a:lnTo>
                    <a:pt x="0" y="45631"/>
                  </a:lnTo>
                  <a:cubicBezTo>
                    <a:pt x="0" y="33529"/>
                    <a:pt x="4808" y="21922"/>
                    <a:pt x="13365" y="13365"/>
                  </a:cubicBezTo>
                  <a:cubicBezTo>
                    <a:pt x="21922" y="4808"/>
                    <a:pt x="33529" y="0"/>
                    <a:pt x="45631" y="0"/>
                  </a:cubicBezTo>
                  <a:close/>
                </a:path>
              </a:pathLst>
            </a:custGeom>
            <a:blipFill>
              <a:blip r:embed="rId7"/>
              <a:stretch>
                <a:fillRect l="-76882" t="0" r="-96499" b="0"/>
              </a:stretch>
            </a:blipFill>
            <a:ln w="8572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95022" y="2056057"/>
            <a:ext cx="7625146" cy="347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45"/>
              </a:lnSpc>
              <a:spcBef>
                <a:spcPct val="0"/>
              </a:spcBef>
            </a:pPr>
            <a:r>
              <a:rPr lang="en-US" b="true" sz="9110" spc="-464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is</a:t>
            </a:r>
            <a:r>
              <a:rPr lang="en-US" b="true" sz="9110" spc="-464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Blockchain</a:t>
            </a:r>
            <a:r>
              <a:rPr lang="en-US" b="true" sz="9110" spc="-464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Technology?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4283" y="1166557"/>
            <a:ext cx="5661257" cy="45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8"/>
              </a:lnSpc>
            </a:pPr>
            <a:r>
              <a:rPr lang="en-US" sz="3321" spc="-16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Blockchain Technologies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8854" y="5410306"/>
            <a:ext cx="6494003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Blockchain is a decentralized, digital ledger that records transactions securely, transparently, and immutably across a distributed network of computers. It enables trustless transactions without the need for intermediaries (like banks or governments).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55870" cy="705307"/>
          </a:xfrm>
          <a:custGeom>
            <a:avLst/>
            <a:gdLst/>
            <a:ahLst/>
            <a:cxnLst/>
            <a:rect r="r" b="b" t="t" l="l"/>
            <a:pathLst>
              <a:path h="705307" w="755870">
                <a:moveTo>
                  <a:pt x="0" y="0"/>
                </a:moveTo>
                <a:lnTo>
                  <a:pt x="755870" y="0"/>
                </a:lnTo>
                <a:lnTo>
                  <a:pt x="755870" y="705307"/>
                </a:lnTo>
                <a:lnTo>
                  <a:pt x="0" y="705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515107"/>
            <a:ext cx="7274018" cy="6499606"/>
            <a:chOff x="0" y="0"/>
            <a:chExt cx="1126936" cy="10069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6936" cy="1006959"/>
            </a:xfrm>
            <a:custGeom>
              <a:avLst/>
              <a:gdLst/>
              <a:ahLst/>
              <a:cxnLst/>
              <a:rect r="r" b="b" t="t" l="l"/>
              <a:pathLst>
                <a:path h="1006959" w="1126936">
                  <a:moveTo>
                    <a:pt x="24479" y="0"/>
                  </a:moveTo>
                  <a:lnTo>
                    <a:pt x="1102456" y="0"/>
                  </a:lnTo>
                  <a:cubicBezTo>
                    <a:pt x="1115976" y="0"/>
                    <a:pt x="1126936" y="10960"/>
                    <a:pt x="1126936" y="24479"/>
                  </a:cubicBezTo>
                  <a:lnTo>
                    <a:pt x="1126936" y="982480"/>
                  </a:lnTo>
                  <a:cubicBezTo>
                    <a:pt x="1126936" y="995999"/>
                    <a:pt x="1115976" y="1006959"/>
                    <a:pt x="1102456" y="1006959"/>
                  </a:cubicBezTo>
                  <a:lnTo>
                    <a:pt x="24479" y="1006959"/>
                  </a:lnTo>
                  <a:cubicBezTo>
                    <a:pt x="10960" y="1006959"/>
                    <a:pt x="0" y="995999"/>
                    <a:pt x="0" y="982480"/>
                  </a:cubicBezTo>
                  <a:lnTo>
                    <a:pt x="0" y="24479"/>
                  </a:lnTo>
                  <a:cubicBezTo>
                    <a:pt x="0" y="10960"/>
                    <a:pt x="10960" y="0"/>
                    <a:pt x="24479" y="0"/>
                  </a:cubicBezTo>
                  <a:close/>
                </a:path>
              </a:pathLst>
            </a:custGeom>
            <a:blipFill>
              <a:blip r:embed="rId6"/>
              <a:stretch>
                <a:fillRect l="-17057" t="0" r="-17057" b="0"/>
              </a:stretch>
            </a:blipFill>
            <a:ln w="8572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975615" y="993603"/>
            <a:ext cx="6833884" cy="84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2"/>
              </a:lnSpc>
              <a:spcBef>
                <a:spcPct val="0"/>
              </a:spcBef>
            </a:pPr>
            <a:r>
              <a:rPr lang="en-US" b="true" sz="6043" spc="-308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TOKEN SWAP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4820" y="1567180"/>
            <a:ext cx="9582710" cy="769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USER APPROVAL(IF REQUIRED)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If swapping ERC-20 for another ERC-20, user must approve the smart contract to spend their tokens.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ETH swaps don’t require pre-approval as ETH is sent directly.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Initiate the Swap.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user calls the swap function on a smart contract or DEX (e.g., Uniswap).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They specify the token pair and the amount to swap.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Price Calculation &amp; Validation.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contract calculates the amount of tokens to exchange based on:</a:t>
            </a:r>
          </a:p>
          <a:p>
            <a:pPr algn="l" marL="734068" indent="-244689" lvl="2">
              <a:lnSpc>
                <a:spcPts val="2380"/>
              </a:lnSpc>
              <a:buFont typeface="Arial"/>
              <a:buChar char="⚬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Fixed rate (e.g., 1 ETH = 100 Tokens)</a:t>
            </a:r>
          </a:p>
          <a:p>
            <a:pPr algn="l" marL="734068" indent="-244689" lvl="2">
              <a:lnSpc>
                <a:spcPts val="2380"/>
              </a:lnSpc>
              <a:buFont typeface="Arial"/>
              <a:buChar char="⚬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Dynamic rate (via liquidity pools like Uniswap)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It checks if there are sufficient tokens in the contract for the swap.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Execute the Swap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ETH is transferred to the contract, and ERC-20 tokens are sent to the user.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For ERC-20 to ERC-20 swaps, the contract transfers both tokens between parties.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Transaction Confirmation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swap is confirmed on the blockchain.</a:t>
            </a:r>
          </a:p>
          <a:p>
            <a:pPr algn="l" marL="367034" indent="-183517" lvl="1">
              <a:lnSpc>
                <a:spcPts val="2380"/>
              </a:lnSpc>
              <a:buFont typeface="Arial"/>
              <a:buChar char="•"/>
            </a:pPr>
            <a:r>
              <a:rPr lang="en-US" sz="1700" i="true" spc="212">
                <a:solidFill>
                  <a:srgbClr val="6BC4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Users can track their transaction via Etherscan or in their MetaMask wallet.</a:t>
            </a:r>
          </a:p>
          <a:p>
            <a:pPr algn="l">
              <a:lnSpc>
                <a:spcPts val="23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00133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49555" y="0"/>
            <a:ext cx="8238445" cy="8467498"/>
          </a:xfrm>
          <a:custGeom>
            <a:avLst/>
            <a:gdLst/>
            <a:ahLst/>
            <a:cxnLst/>
            <a:rect r="r" b="b" t="t" l="l"/>
            <a:pathLst>
              <a:path h="8467498" w="8238445">
                <a:moveTo>
                  <a:pt x="0" y="0"/>
                </a:moveTo>
                <a:lnTo>
                  <a:pt x="8238445" y="0"/>
                </a:lnTo>
                <a:lnTo>
                  <a:pt x="8238445" y="8467498"/>
                </a:lnTo>
                <a:lnTo>
                  <a:pt x="0" y="84674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676" t="0" r="-31676" b="-588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75615" y="712966"/>
            <a:ext cx="12027117" cy="94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22"/>
              </a:lnSpc>
              <a:spcBef>
                <a:spcPct val="0"/>
              </a:spcBef>
            </a:pPr>
            <a:r>
              <a:rPr lang="en-US" b="true" sz="6794" spc="-346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Flight Insurance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3811" y="1646637"/>
            <a:ext cx="8814676" cy="840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User Buys Insurance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traveler purchases a flight insurance policy using a blockchain-based platform.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Payment is made in crypto (ETH, USDC, etc.) or fiat via a connected wallet (e.g., MetaMask).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policy details (flight number, date, delay criteria) are stored on a smart contract.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Smart Contract Monitors Flight Data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smart contract connects to real-time flight data APIs (e.g., FlightAware, Chainlink Oracles).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It tracks whether the flight departs on time, is delayed, or gets canceled.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Automated Payout Trigger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If the flight meets the delay/cancellation conditions, the smart contract automatically releases the payout to the insured wallet.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need for manual claims or paperwork.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Immutable &amp; Transparent Records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Every transaction is recorded on the blockchain for auditable and tamper-proof claims.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Smart contracts eliminate fraud by ensuring only valid claims get processed.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Decentralized &amp; Cost-Efficient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Removes middlemen (insurance agents, claim processors).</a:t>
            </a:r>
          </a:p>
          <a:p>
            <a:pPr algn="l" marL="368281" indent="-184141" lvl="1">
              <a:lnSpc>
                <a:spcPts val="2899"/>
              </a:lnSpc>
              <a:buFont typeface="Arial"/>
              <a:buChar char="•"/>
            </a:pPr>
            <a:r>
              <a:rPr lang="en-US" sz="1705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Faster, cheaper, and fair compared to traditional insurance models.</a:t>
            </a:r>
          </a:p>
          <a:p>
            <a:pPr algn="l" marL="0" indent="0" lvl="0">
              <a:lnSpc>
                <a:spcPts val="28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75615" y="491445"/>
            <a:ext cx="885043" cy="825840"/>
          </a:xfrm>
          <a:custGeom>
            <a:avLst/>
            <a:gdLst/>
            <a:ahLst/>
            <a:cxnLst/>
            <a:rect r="r" b="b" t="t" l="l"/>
            <a:pathLst>
              <a:path h="825840" w="885043">
                <a:moveTo>
                  <a:pt x="0" y="0"/>
                </a:moveTo>
                <a:lnTo>
                  <a:pt x="885043" y="0"/>
                </a:lnTo>
                <a:lnTo>
                  <a:pt x="885043" y="825839"/>
                </a:lnTo>
                <a:lnTo>
                  <a:pt x="0" y="825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4031" y="2515107"/>
            <a:ext cx="7931782" cy="7743947"/>
          </a:xfrm>
          <a:custGeom>
            <a:avLst/>
            <a:gdLst/>
            <a:ahLst/>
            <a:cxnLst/>
            <a:rect r="r" b="b" t="t" l="l"/>
            <a:pathLst>
              <a:path h="7743947" w="7931782">
                <a:moveTo>
                  <a:pt x="0" y="0"/>
                </a:moveTo>
                <a:lnTo>
                  <a:pt x="7931782" y="0"/>
                </a:lnTo>
                <a:lnTo>
                  <a:pt x="7931782" y="7743948"/>
                </a:lnTo>
                <a:lnTo>
                  <a:pt x="0" y="7743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09" t="-3466" r="-2580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14001" y="465676"/>
            <a:ext cx="6006303" cy="85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61"/>
              </a:lnSpc>
              <a:spcBef>
                <a:spcPct val="0"/>
              </a:spcBef>
            </a:pPr>
            <a:r>
              <a:rPr lang="en-US" b="true" sz="6210" spc="-316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Shopping App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2353182"/>
            <a:ext cx="8431118" cy="681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9"/>
              </a:lnSpc>
            </a:pPr>
            <a:r>
              <a:rPr lang="en-US" sz="2899" i="true" b="true">
                <a:solidFill>
                  <a:srgbClr val="6BC4E0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Key Features of a Blockchain Shopping App</a:t>
            </a:r>
          </a:p>
          <a:p>
            <a:pPr algn="l">
              <a:lnSpc>
                <a:spcPts val="4929"/>
              </a:lnSpc>
            </a:pP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 i="true">
                <a:solidFill>
                  <a:srgbClr val="6BC4E0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Decentralized Marketplace – Buyers and sellers interact directly without intermediaries.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 i="true">
                <a:solidFill>
                  <a:srgbClr val="6BC4E0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Crypto Payments – Accepts ETH, USDC, BTC, or stablecoins for transactions.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 i="true">
                <a:solidFill>
                  <a:srgbClr val="6BC4E0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Smart Contracts – Automates order processing, refunds, and dispute resolution.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 i="true">
                <a:solidFill>
                  <a:srgbClr val="6BC4E0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NFT Receipts &amp; Ownership – Purchases are recorded as NFTs for verifiable proof of ownership.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 i="true">
                <a:solidFill>
                  <a:srgbClr val="6BC4E0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Loyalty Rewards &amp; Tokenization – Customers earn blockchain-based reward tokens.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 i="true">
                <a:solidFill>
                  <a:srgbClr val="6BC4E0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Supply Chain Transparency – Blockchain stores product history for authenticity verification.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98488" y="1807839"/>
            <a:ext cx="440299" cy="440299"/>
          </a:xfrm>
          <a:custGeom>
            <a:avLst/>
            <a:gdLst/>
            <a:ahLst/>
            <a:cxnLst/>
            <a:rect r="r" b="b" t="t" l="l"/>
            <a:pathLst>
              <a:path h="440299" w="440299">
                <a:moveTo>
                  <a:pt x="0" y="0"/>
                </a:moveTo>
                <a:lnTo>
                  <a:pt x="440299" y="0"/>
                </a:lnTo>
                <a:lnTo>
                  <a:pt x="440299" y="440299"/>
                </a:lnTo>
                <a:lnTo>
                  <a:pt x="0" y="44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36193" y="2416642"/>
            <a:ext cx="8662052" cy="5771092"/>
          </a:xfrm>
          <a:custGeom>
            <a:avLst/>
            <a:gdLst/>
            <a:ahLst/>
            <a:cxnLst/>
            <a:rect r="r" b="b" t="t" l="l"/>
            <a:pathLst>
              <a:path h="5771092" w="8662052">
                <a:moveTo>
                  <a:pt x="0" y="0"/>
                </a:moveTo>
                <a:lnTo>
                  <a:pt x="8662052" y="0"/>
                </a:lnTo>
                <a:lnTo>
                  <a:pt x="8662052" y="5771092"/>
                </a:lnTo>
                <a:lnTo>
                  <a:pt x="0" y="5771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75615" y="968023"/>
            <a:ext cx="10257294" cy="89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3"/>
              </a:lnSpc>
              <a:spcBef>
                <a:spcPct val="0"/>
              </a:spcBef>
            </a:pPr>
            <a:r>
              <a:rPr lang="en-US" b="true" sz="6410" spc="-326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HOTEL REGISTRATION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5022" y="2618784"/>
            <a:ext cx="7282566" cy="556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Smart C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acts for 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servat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– 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ates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k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ng,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y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,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 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f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u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nds.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NFT-B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Room Owner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– Gu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ceive NFTs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p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roof of re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v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on.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Cryp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 P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ym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nts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– Ac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ept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ETH, USDC, BNB, or stab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ec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ins for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okings.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Decent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alized Iden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ty (DID) – Gue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ts use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ockch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ain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-based d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git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yalty &amp; Reward Tok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– Ho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els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sue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oken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z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loy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lty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point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Supply Ch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Tr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pare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ncy – 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ra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cks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ot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el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rv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ces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(lau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dry, F&amp;B) 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-chain</a:t>
            </a:r>
            <a:r>
              <a:rPr lang="en-US" b="true" sz="2000" i="true" strike="noStrike" u="none">
                <a:solidFill>
                  <a:srgbClr val="FFFFFF">
                    <a:alpha val="80000"/>
                  </a:srgbClr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328893" y="1811771"/>
            <a:ext cx="576935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 spc="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EMPOWERING SMARTER SOLUTIONS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39900" y="2269246"/>
            <a:ext cx="7277051" cy="3327247"/>
            <a:chOff x="0" y="0"/>
            <a:chExt cx="1153767" cy="5275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3767" cy="527531"/>
            </a:xfrm>
            <a:custGeom>
              <a:avLst/>
              <a:gdLst/>
              <a:ahLst/>
              <a:cxnLst/>
              <a:rect r="r" b="b" t="t" l="l"/>
              <a:pathLst>
                <a:path h="527531" w="1153767">
                  <a:moveTo>
                    <a:pt x="24469" y="0"/>
                  </a:moveTo>
                  <a:lnTo>
                    <a:pt x="1129298" y="0"/>
                  </a:lnTo>
                  <a:cubicBezTo>
                    <a:pt x="1135788" y="0"/>
                    <a:pt x="1142012" y="2578"/>
                    <a:pt x="1146600" y="7167"/>
                  </a:cubicBezTo>
                  <a:cubicBezTo>
                    <a:pt x="1151189" y="11756"/>
                    <a:pt x="1153767" y="17980"/>
                    <a:pt x="1153767" y="24469"/>
                  </a:cubicBezTo>
                  <a:lnTo>
                    <a:pt x="1153767" y="503062"/>
                  </a:lnTo>
                  <a:cubicBezTo>
                    <a:pt x="1153767" y="509551"/>
                    <a:pt x="1151189" y="515775"/>
                    <a:pt x="1146600" y="520364"/>
                  </a:cubicBezTo>
                  <a:cubicBezTo>
                    <a:pt x="1142012" y="524953"/>
                    <a:pt x="1135788" y="527531"/>
                    <a:pt x="1129298" y="527531"/>
                  </a:cubicBezTo>
                  <a:lnTo>
                    <a:pt x="24469" y="527531"/>
                  </a:lnTo>
                  <a:cubicBezTo>
                    <a:pt x="10955" y="527531"/>
                    <a:pt x="0" y="516576"/>
                    <a:pt x="0" y="503062"/>
                  </a:cubicBezTo>
                  <a:lnTo>
                    <a:pt x="0" y="24469"/>
                  </a:lnTo>
                  <a:cubicBezTo>
                    <a:pt x="0" y="10955"/>
                    <a:pt x="10955" y="0"/>
                    <a:pt x="2446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4135" r="0" b="-114135"/>
              </a:stretch>
            </a:blipFill>
            <a:ln w="85725" cap="rnd">
              <a:solidFill>
                <a:srgbClr val="6BC4E0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99468" y="1651271"/>
            <a:ext cx="440299" cy="440299"/>
          </a:xfrm>
          <a:custGeom>
            <a:avLst/>
            <a:gdLst/>
            <a:ahLst/>
            <a:cxnLst/>
            <a:rect r="r" b="b" t="t" l="l"/>
            <a:pathLst>
              <a:path h="440299" w="440299">
                <a:moveTo>
                  <a:pt x="0" y="0"/>
                </a:moveTo>
                <a:lnTo>
                  <a:pt x="440299" y="0"/>
                </a:lnTo>
                <a:lnTo>
                  <a:pt x="440299" y="440299"/>
                </a:lnTo>
                <a:lnTo>
                  <a:pt x="0" y="4402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35321" y="1001470"/>
            <a:ext cx="8365386" cy="81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2"/>
              </a:lnSpc>
              <a:spcBef>
                <a:spcPct val="0"/>
              </a:spcBef>
            </a:pPr>
            <a:r>
              <a:rPr lang="en-US" b="true" sz="5846" spc="-298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Blockchain for Voting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5171" y="2796124"/>
            <a:ext cx="7282566" cy="385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centralization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centra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auth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ity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control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g; it'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manag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by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here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blockch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Immutable Vot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ing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cords –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Onc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vo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is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cast,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nnot b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c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hanged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or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dele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ed.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Tran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parent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&amp; Ver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ble –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Any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fy vote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on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blockch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in.</a:t>
            </a:r>
          </a:p>
          <a:p>
            <a:pPr algn="l" marL="431801" indent="-215900" lvl="1">
              <a:lnSpc>
                <a:spcPts val="3400"/>
              </a:lnSpc>
              <a:spcBef>
                <a:spcPct val="0"/>
              </a:spcBef>
              <a:buAutoNum type="arabicPeriod" startAt="1"/>
            </a:pP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cu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&amp; Fr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ud-Proof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ven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double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ing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 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vot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manip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518648" y="1655184"/>
            <a:ext cx="5769352" cy="37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REVOLUTIONIZING TRANSACTIONS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791824" y="3660832"/>
            <a:ext cx="8090144" cy="126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45"/>
              </a:lnSpc>
              <a:spcBef>
                <a:spcPct val="0"/>
              </a:spcBef>
            </a:pPr>
            <a:r>
              <a:rPr lang="en-US" b="true" sz="9110" spc="-464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STELLAR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2895460" y="3843350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56686" y="2810250"/>
            <a:ext cx="12574628" cy="126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5"/>
              </a:lnSpc>
            </a:pPr>
            <a:r>
              <a:rPr lang="en-US" b="true" sz="9110" spc="-464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BLOCKCHAIN TOKENS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819089" y="4968462"/>
            <a:ext cx="440299" cy="440299"/>
          </a:xfrm>
          <a:custGeom>
            <a:avLst/>
            <a:gdLst/>
            <a:ahLst/>
            <a:cxnLst/>
            <a:rect r="r" b="b" t="t" l="l"/>
            <a:pathLst>
              <a:path h="440299" w="440299">
                <a:moveTo>
                  <a:pt x="0" y="0"/>
                </a:moveTo>
                <a:lnTo>
                  <a:pt x="440299" y="0"/>
                </a:lnTo>
                <a:lnTo>
                  <a:pt x="440299" y="440299"/>
                </a:lnTo>
                <a:lnTo>
                  <a:pt x="0" y="44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43741" y="5017004"/>
            <a:ext cx="592517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DIFFERENT TOKENS OF BLOCKCHAIN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2895460" y="3843350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63408" y="2810250"/>
            <a:ext cx="13761183" cy="237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45"/>
              </a:lnSpc>
              <a:spcBef>
                <a:spcPct val="0"/>
              </a:spcBef>
            </a:pPr>
            <a:r>
              <a:rPr lang="en-US" b="true" sz="9110" spc="-464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Let’s Shape the Future Together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69877" y="1138510"/>
            <a:ext cx="4147678" cy="39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  <a:spcBef>
                <a:spcPct val="0"/>
              </a:spcBef>
            </a:pPr>
            <a:r>
              <a:rPr lang="en-US" b="true" sz="2211">
                <a:solidFill>
                  <a:srgbClr val="00274B"/>
                </a:solidFill>
                <a:latin typeface="Poppins Bold"/>
                <a:ea typeface="Poppins Bold"/>
                <a:cs typeface="Poppins Bold"/>
                <a:sym typeface="Poppins Bold"/>
              </a:rPr>
              <a:t>www.reallygreatsite.com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918170" y="2116872"/>
            <a:ext cx="440299" cy="440299"/>
          </a:xfrm>
          <a:custGeom>
            <a:avLst/>
            <a:gdLst/>
            <a:ahLst/>
            <a:cxnLst/>
            <a:rect r="r" b="b" t="t" l="l"/>
            <a:pathLst>
              <a:path h="440299" w="440299">
                <a:moveTo>
                  <a:pt x="0" y="0"/>
                </a:moveTo>
                <a:lnTo>
                  <a:pt x="440299" y="0"/>
                </a:lnTo>
                <a:lnTo>
                  <a:pt x="440299" y="440299"/>
                </a:lnTo>
                <a:lnTo>
                  <a:pt x="0" y="44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138320" y="2165413"/>
            <a:ext cx="2736012" cy="37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688B">
                <a:alpha val="100000"/>
              </a:srgbClr>
            </a:gs>
            <a:gs pos="50000">
              <a:srgbClr val="002E53">
                <a:alpha val="100000"/>
              </a:srgbClr>
            </a:gs>
            <a:gs pos="100000">
              <a:srgbClr val="0026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241280">
            <a:off x="-3191326" y="4206128"/>
            <a:ext cx="12105853" cy="121058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86425" y="7032625"/>
            <a:ext cx="440299" cy="440299"/>
          </a:xfrm>
          <a:custGeom>
            <a:avLst/>
            <a:gdLst/>
            <a:ahLst/>
            <a:cxnLst/>
            <a:rect r="r" b="b" t="t" l="l"/>
            <a:pathLst>
              <a:path h="440299" w="440299">
                <a:moveTo>
                  <a:pt x="0" y="0"/>
                </a:moveTo>
                <a:lnTo>
                  <a:pt x="440299" y="0"/>
                </a:lnTo>
                <a:lnTo>
                  <a:pt x="440299" y="440299"/>
                </a:lnTo>
                <a:lnTo>
                  <a:pt x="0" y="440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41052" y="8020283"/>
            <a:ext cx="3405896" cy="667364"/>
            <a:chOff x="0" y="0"/>
            <a:chExt cx="897026" cy="1757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7026" cy="175767"/>
            </a:xfrm>
            <a:custGeom>
              <a:avLst/>
              <a:gdLst/>
              <a:ahLst/>
              <a:cxnLst/>
              <a:rect r="r" b="b" t="t" l="l"/>
              <a:pathLst>
                <a:path h="175767" w="897026">
                  <a:moveTo>
                    <a:pt x="87883" y="0"/>
                  </a:moveTo>
                  <a:lnTo>
                    <a:pt x="809143" y="0"/>
                  </a:lnTo>
                  <a:cubicBezTo>
                    <a:pt x="832451" y="0"/>
                    <a:pt x="854804" y="9259"/>
                    <a:pt x="871286" y="25740"/>
                  </a:cubicBezTo>
                  <a:cubicBezTo>
                    <a:pt x="887767" y="42222"/>
                    <a:pt x="897026" y="64575"/>
                    <a:pt x="897026" y="87883"/>
                  </a:cubicBezTo>
                  <a:lnTo>
                    <a:pt x="897026" y="87883"/>
                  </a:lnTo>
                  <a:cubicBezTo>
                    <a:pt x="897026" y="111191"/>
                    <a:pt x="887767" y="133545"/>
                    <a:pt x="871286" y="150026"/>
                  </a:cubicBezTo>
                  <a:cubicBezTo>
                    <a:pt x="854804" y="166508"/>
                    <a:pt x="832451" y="175767"/>
                    <a:pt x="809143" y="175767"/>
                  </a:cubicBezTo>
                  <a:lnTo>
                    <a:pt x="87883" y="175767"/>
                  </a:lnTo>
                  <a:cubicBezTo>
                    <a:pt x="64575" y="175767"/>
                    <a:pt x="42222" y="166508"/>
                    <a:pt x="25740" y="150026"/>
                  </a:cubicBezTo>
                  <a:cubicBezTo>
                    <a:pt x="9259" y="133545"/>
                    <a:pt x="0" y="111191"/>
                    <a:pt x="0" y="87883"/>
                  </a:cubicBezTo>
                  <a:lnTo>
                    <a:pt x="0" y="87883"/>
                  </a:lnTo>
                  <a:cubicBezTo>
                    <a:pt x="0" y="64575"/>
                    <a:pt x="9259" y="42222"/>
                    <a:pt x="25740" y="25740"/>
                  </a:cubicBezTo>
                  <a:cubicBezTo>
                    <a:pt x="42222" y="9259"/>
                    <a:pt x="64575" y="0"/>
                    <a:pt x="87883" y="0"/>
                  </a:cubicBezTo>
                  <a:close/>
                </a:path>
              </a:pathLst>
            </a:custGeom>
            <a:solidFill>
              <a:srgbClr val="6BC4E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97026" cy="232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732643" cy="683634"/>
          </a:xfrm>
          <a:custGeom>
            <a:avLst/>
            <a:gdLst/>
            <a:ahLst/>
            <a:cxnLst/>
            <a:rect r="r" b="b" t="t" l="l"/>
            <a:pathLst>
              <a:path h="683634" w="732643">
                <a:moveTo>
                  <a:pt x="0" y="0"/>
                </a:moveTo>
                <a:lnTo>
                  <a:pt x="732643" y="0"/>
                </a:lnTo>
                <a:lnTo>
                  <a:pt x="732643" y="683634"/>
                </a:lnTo>
                <a:lnTo>
                  <a:pt x="0" y="683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8761193">
            <a:off x="14415098" y="-3066592"/>
            <a:ext cx="5404915" cy="54049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688B">
                    <a:alpha val="100000"/>
                  </a:srgbClr>
                </a:gs>
                <a:gs pos="50000">
                  <a:srgbClr val="002E53">
                    <a:alpha val="100000"/>
                  </a:srgbClr>
                </a:gs>
                <a:gs pos="100000">
                  <a:srgbClr val="00264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634861" y="846749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7"/>
                </a:lnTo>
                <a:lnTo>
                  <a:pt x="0" y="2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989774" y="-1428778"/>
            <a:ext cx="2965389" cy="2857557"/>
          </a:xfrm>
          <a:custGeom>
            <a:avLst/>
            <a:gdLst/>
            <a:ahLst/>
            <a:cxnLst/>
            <a:rect r="r" b="b" t="t" l="l"/>
            <a:pathLst>
              <a:path h="2857557" w="2965389">
                <a:moveTo>
                  <a:pt x="0" y="0"/>
                </a:moveTo>
                <a:lnTo>
                  <a:pt x="2965389" y="0"/>
                </a:lnTo>
                <a:lnTo>
                  <a:pt x="2965389" y="2857556"/>
                </a:lnTo>
                <a:lnTo>
                  <a:pt x="0" y="28575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08770" y="2403161"/>
            <a:ext cx="13870460" cy="446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6409"/>
              </a:lnSpc>
              <a:spcBef>
                <a:spcPct val="0"/>
              </a:spcBef>
            </a:pPr>
            <a:r>
              <a:rPr lang="en-US" b="true" sz="17092" spc="-871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</a:t>
            </a:r>
          </a:p>
          <a:p>
            <a:pPr algn="ctr" marL="0" indent="0" lvl="1">
              <a:lnSpc>
                <a:spcPts val="16409"/>
              </a:lnSpc>
              <a:spcBef>
                <a:spcPct val="0"/>
              </a:spcBef>
            </a:pPr>
            <a:r>
              <a:rPr lang="en-US" b="true" sz="17092" spc="-871" strike="noStrike" u="none">
                <a:solidFill>
                  <a:srgbClr val="6BC4E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 Attention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1076" y="7081167"/>
            <a:ext cx="7419757" cy="391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DRIVING INNOVATION, SHAPING THE WORLD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02804" y="8130094"/>
            <a:ext cx="3042009" cy="39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  <a:spcBef>
                <a:spcPct val="0"/>
              </a:spcBef>
            </a:pPr>
            <a:r>
              <a:rPr lang="en-US" b="true" sz="2211">
                <a:solidFill>
                  <a:srgbClr val="00274B"/>
                </a:solidFill>
                <a:latin typeface="Poppins Bold"/>
                <a:ea typeface="Poppins Bold"/>
                <a:cs typeface="Poppins Bold"/>
                <a:sym typeface="Poppins Bold"/>
              </a:rPr>
              <a:t>See You Next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DAGfYMzvOKk</dc:identifier>
  <dcterms:modified xsi:type="dcterms:W3CDTF">2011-08-01T06:04:30Z</dcterms:modified>
  <cp:revision>1</cp:revision>
  <dc:title>Blockchain Projects </dc:title>
</cp:coreProperties>
</file>