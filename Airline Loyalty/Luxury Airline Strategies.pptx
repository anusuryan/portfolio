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753600" cy="7315200"/>
  <p:notesSz cx="6858000" cy="9144000"/>
  <p:embeddedFontLst>
    <p:embeddedFont>
      <p:font typeface="Montserrat Bold" charset="1" panose="00000800000000000000"/>
      <p:regular r:id="rId15"/>
    </p:embeddedFont>
    <p:embeddedFont>
      <p:font typeface="Montserrat Ultra-Bold" charset="1" panose="00000900000000000000"/>
      <p:regular r:id="rId16"/>
    </p:embeddedFont>
    <p:embeddedFont>
      <p:font typeface="Montserrat" charset="1" panose="00000500000000000000"/>
      <p:regular r:id="rId17"/>
    </p:embeddedFont>
    <p:embeddedFont>
      <p:font typeface="Bryndan Write" charset="1" panose="02000503000000000000"/>
      <p:regular r:id="rId18"/>
    </p:embeddedFont>
    <p:embeddedFont>
      <p:font typeface="Public Sans Bold" charset="1" panose="00000000000000000000"/>
      <p:regular r:id="rId19"/>
    </p:embeddedFont>
    <p:embeddedFont>
      <p:font typeface="Public Sans" charset="1" panose="00000000000000000000"/>
      <p:regular r:id="rId20"/>
    </p:embeddedFont>
    <p:embeddedFont>
      <p:font typeface="Raleway Bold" charset="1" panose="020B0803030101060003"/>
      <p:regular r:id="rId21"/>
    </p:embeddedFont>
    <p:embeddedFont>
      <p:font typeface="Decalotype Ultra-Bold" charset="1" panose="000009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12" Target="../media/image20.png" Type="http://schemas.openxmlformats.org/officeDocument/2006/relationships/image"/><Relationship Id="rId13" Target="../media/image21.svg" Type="http://schemas.openxmlformats.org/officeDocument/2006/relationships/image"/><Relationship Id="rId2" Target="../media/image10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12" Target="../media/image20.png" Type="http://schemas.openxmlformats.org/officeDocument/2006/relationships/image"/><Relationship Id="rId13" Target="../media/image21.svg" Type="http://schemas.openxmlformats.org/officeDocument/2006/relationships/image"/><Relationship Id="rId2" Target="../media/image10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12" Target="../media/image20.png" Type="http://schemas.openxmlformats.org/officeDocument/2006/relationships/image"/><Relationship Id="rId13" Target="../media/image21.svg" Type="http://schemas.openxmlformats.org/officeDocument/2006/relationships/image"/><Relationship Id="rId2" Target="../media/image10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svg" Type="http://schemas.openxmlformats.org/officeDocument/2006/relationships/image"/><Relationship Id="rId11" Target="../media/image31.png" Type="http://schemas.openxmlformats.org/officeDocument/2006/relationships/image"/><Relationship Id="rId12" Target="../media/image32.svg" Type="http://schemas.openxmlformats.org/officeDocument/2006/relationships/image"/><Relationship Id="rId13" Target="../media/image33.png" Type="http://schemas.openxmlformats.org/officeDocument/2006/relationships/image"/><Relationship Id="rId14" Target="../media/image34.svg" Type="http://schemas.openxmlformats.org/officeDocument/2006/relationships/image"/><Relationship Id="rId15" Target="../media/image35.png" Type="http://schemas.openxmlformats.org/officeDocument/2006/relationships/image"/><Relationship Id="rId16" Target="../media/image36.png" Type="http://schemas.openxmlformats.org/officeDocument/2006/relationships/image"/><Relationship Id="rId17" Target="../media/image37.svg" Type="http://schemas.openxmlformats.org/officeDocument/2006/relationships/image"/><Relationship Id="rId18" Target="../media/image38.png" Type="http://schemas.openxmlformats.org/officeDocument/2006/relationships/image"/><Relationship Id="rId19" Target="../media/image39.svg" Type="http://schemas.openxmlformats.org/officeDocument/2006/relationships/image"/><Relationship Id="rId2" Target="../media/image22.png" Type="http://schemas.openxmlformats.org/officeDocument/2006/relationships/image"/><Relationship Id="rId20" Target="../media/image40.png" Type="http://schemas.openxmlformats.org/officeDocument/2006/relationships/image"/><Relationship Id="rId21" Target="../media/image41.png" Type="http://schemas.openxmlformats.org/officeDocument/2006/relationships/image"/><Relationship Id="rId22" Target="../media/image42.png" Type="http://schemas.openxmlformats.org/officeDocument/2006/relationships/image"/><Relationship Id="rId23" Target="../media/image43.pn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svg" Type="http://schemas.openxmlformats.org/officeDocument/2006/relationships/image"/><Relationship Id="rId11" Target="../media/image31.png" Type="http://schemas.openxmlformats.org/officeDocument/2006/relationships/image"/><Relationship Id="rId12" Target="../media/image32.svg" Type="http://schemas.openxmlformats.org/officeDocument/2006/relationships/image"/><Relationship Id="rId13" Target="../media/image33.png" Type="http://schemas.openxmlformats.org/officeDocument/2006/relationships/image"/><Relationship Id="rId14" Target="../media/image34.svg" Type="http://schemas.openxmlformats.org/officeDocument/2006/relationships/image"/><Relationship Id="rId15" Target="../media/image35.png" Type="http://schemas.openxmlformats.org/officeDocument/2006/relationships/image"/><Relationship Id="rId16" Target="../media/image36.png" Type="http://schemas.openxmlformats.org/officeDocument/2006/relationships/image"/><Relationship Id="rId17" Target="../media/image37.svg" Type="http://schemas.openxmlformats.org/officeDocument/2006/relationships/image"/><Relationship Id="rId18" Target="../media/image38.png" Type="http://schemas.openxmlformats.org/officeDocument/2006/relationships/image"/><Relationship Id="rId19" Target="../media/image39.svg" Type="http://schemas.openxmlformats.org/officeDocument/2006/relationships/image"/><Relationship Id="rId2" Target="../media/image44.png" Type="http://schemas.openxmlformats.org/officeDocument/2006/relationships/image"/><Relationship Id="rId20" Target="../media/image45.png" Type="http://schemas.openxmlformats.org/officeDocument/2006/relationships/image"/><Relationship Id="rId21" Target="../media/image46.png" Type="http://schemas.openxmlformats.org/officeDocument/2006/relationships/image"/><Relationship Id="rId22" Target="../media/image47.png" Type="http://schemas.openxmlformats.org/officeDocument/2006/relationships/image"/><Relationship Id="rId23" Target="../media/image48.pn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svg" Type="http://schemas.openxmlformats.org/officeDocument/2006/relationships/image"/><Relationship Id="rId11" Target="../media/image31.png" Type="http://schemas.openxmlformats.org/officeDocument/2006/relationships/image"/><Relationship Id="rId12" Target="../media/image32.svg" Type="http://schemas.openxmlformats.org/officeDocument/2006/relationships/image"/><Relationship Id="rId13" Target="../media/image33.png" Type="http://schemas.openxmlformats.org/officeDocument/2006/relationships/image"/><Relationship Id="rId14" Target="../media/image34.svg" Type="http://schemas.openxmlformats.org/officeDocument/2006/relationships/image"/><Relationship Id="rId15" Target="../media/image35.png" Type="http://schemas.openxmlformats.org/officeDocument/2006/relationships/image"/><Relationship Id="rId16" Target="../media/image36.png" Type="http://schemas.openxmlformats.org/officeDocument/2006/relationships/image"/><Relationship Id="rId17" Target="../media/image37.svg" Type="http://schemas.openxmlformats.org/officeDocument/2006/relationships/image"/><Relationship Id="rId18" Target="../media/image38.png" Type="http://schemas.openxmlformats.org/officeDocument/2006/relationships/image"/><Relationship Id="rId19" Target="../media/image39.svg" Type="http://schemas.openxmlformats.org/officeDocument/2006/relationships/image"/><Relationship Id="rId2" Target="../media/image22.png" Type="http://schemas.openxmlformats.org/officeDocument/2006/relationships/image"/><Relationship Id="rId20" Target="../media/image49.png" Type="http://schemas.openxmlformats.org/officeDocument/2006/relationships/image"/><Relationship Id="rId21" Target="../media/image50.png" Type="http://schemas.openxmlformats.org/officeDocument/2006/relationships/image"/><Relationship Id="rId22" Target="../media/image51.png" Type="http://schemas.openxmlformats.org/officeDocument/2006/relationships/image"/><Relationship Id="rId23" Target="../media/image52.pn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svg" Type="http://schemas.openxmlformats.org/officeDocument/2006/relationships/image"/><Relationship Id="rId11" Target="../media/image31.png" Type="http://schemas.openxmlformats.org/officeDocument/2006/relationships/image"/><Relationship Id="rId12" Target="../media/image32.svg" Type="http://schemas.openxmlformats.org/officeDocument/2006/relationships/image"/><Relationship Id="rId13" Target="../media/image33.png" Type="http://schemas.openxmlformats.org/officeDocument/2006/relationships/image"/><Relationship Id="rId14" Target="../media/image34.svg" Type="http://schemas.openxmlformats.org/officeDocument/2006/relationships/image"/><Relationship Id="rId15" Target="../media/image35.png" Type="http://schemas.openxmlformats.org/officeDocument/2006/relationships/image"/><Relationship Id="rId16" Target="../media/image36.png" Type="http://schemas.openxmlformats.org/officeDocument/2006/relationships/image"/><Relationship Id="rId17" Target="../media/image37.svg" Type="http://schemas.openxmlformats.org/officeDocument/2006/relationships/image"/><Relationship Id="rId18" Target="../media/image38.png" Type="http://schemas.openxmlformats.org/officeDocument/2006/relationships/image"/><Relationship Id="rId19" Target="../media/image39.svg" Type="http://schemas.openxmlformats.org/officeDocument/2006/relationships/image"/><Relationship Id="rId2" Target="../media/image44.png" Type="http://schemas.openxmlformats.org/officeDocument/2006/relationships/image"/><Relationship Id="rId20" Target="../media/image53.png" Type="http://schemas.openxmlformats.org/officeDocument/2006/relationships/image"/><Relationship Id="rId21" Target="../media/image54.pn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2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219200" y="-1219200"/>
            <a:ext cx="7315200" cy="9753600"/>
          </a:xfrm>
          <a:custGeom>
            <a:avLst/>
            <a:gdLst/>
            <a:ahLst/>
            <a:cxnLst/>
            <a:rect r="r" b="b" t="t" l="l"/>
            <a:pathLst>
              <a:path h="9753600" w="7315200">
                <a:moveTo>
                  <a:pt x="0" y="9753600"/>
                </a:moveTo>
                <a:lnTo>
                  <a:pt x="0" y="0"/>
                </a:lnTo>
                <a:lnTo>
                  <a:pt x="7315200" y="0"/>
                </a:lnTo>
                <a:lnTo>
                  <a:pt x="7315200" y="9753600"/>
                </a:lnTo>
                <a:lnTo>
                  <a:pt x="0" y="9753600"/>
                </a:lnTo>
                <a:close/>
              </a:path>
            </a:pathLst>
          </a:custGeom>
          <a:blipFill>
            <a:blip r:embed="rId2"/>
            <a:stretch>
              <a:fillRect l="-3249" t="0" r="-325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187615" y="452370"/>
            <a:ext cx="5686954" cy="902582"/>
            <a:chOff x="0" y="0"/>
            <a:chExt cx="2106279" cy="3342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06279" cy="334290"/>
            </a:xfrm>
            <a:custGeom>
              <a:avLst/>
              <a:gdLst/>
              <a:ahLst/>
              <a:cxnLst/>
              <a:rect r="r" b="b" t="t" l="l"/>
              <a:pathLst>
                <a:path h="334290" w="2106279">
                  <a:moveTo>
                    <a:pt x="0" y="0"/>
                  </a:moveTo>
                  <a:lnTo>
                    <a:pt x="2106279" y="0"/>
                  </a:lnTo>
                  <a:lnTo>
                    <a:pt x="2106279" y="334290"/>
                  </a:lnTo>
                  <a:lnTo>
                    <a:pt x="0" y="334290"/>
                  </a:lnTo>
                  <a:close/>
                </a:path>
              </a:pathLst>
            </a:custGeom>
            <a:solidFill>
              <a:srgbClr val="E2C3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106279" cy="362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34301" y="520734"/>
            <a:ext cx="101796" cy="108808"/>
            <a:chOff x="0" y="0"/>
            <a:chExt cx="37702" cy="402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702" cy="40299"/>
            </a:xfrm>
            <a:custGeom>
              <a:avLst/>
              <a:gdLst/>
              <a:ahLst/>
              <a:cxnLst/>
              <a:rect r="r" b="b" t="t" l="l"/>
              <a:pathLst>
                <a:path h="40299" w="37702">
                  <a:moveTo>
                    <a:pt x="0" y="0"/>
                  </a:moveTo>
                  <a:lnTo>
                    <a:pt x="37702" y="0"/>
                  </a:lnTo>
                  <a:lnTo>
                    <a:pt x="37702" y="40299"/>
                  </a:lnTo>
                  <a:lnTo>
                    <a:pt x="0" y="40299"/>
                  </a:lnTo>
                  <a:close/>
                </a:path>
              </a:pathLst>
            </a:custGeom>
            <a:solidFill>
              <a:srgbClr val="BFD7E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37702" cy="68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302632" y="520734"/>
            <a:ext cx="101796" cy="108808"/>
            <a:chOff x="0" y="0"/>
            <a:chExt cx="37702" cy="402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702" cy="40299"/>
            </a:xfrm>
            <a:custGeom>
              <a:avLst/>
              <a:gdLst/>
              <a:ahLst/>
              <a:cxnLst/>
              <a:rect r="r" b="b" t="t" l="l"/>
              <a:pathLst>
                <a:path h="40299" w="37702">
                  <a:moveTo>
                    <a:pt x="0" y="0"/>
                  </a:moveTo>
                  <a:lnTo>
                    <a:pt x="37702" y="0"/>
                  </a:lnTo>
                  <a:lnTo>
                    <a:pt x="37702" y="40299"/>
                  </a:lnTo>
                  <a:lnTo>
                    <a:pt x="0" y="40299"/>
                  </a:lnTo>
                  <a:close/>
                </a:path>
              </a:pathLst>
            </a:custGeom>
            <a:solidFill>
              <a:srgbClr val="FFE0A7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37702" cy="68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172261" y="520734"/>
            <a:ext cx="101796" cy="108808"/>
            <a:chOff x="0" y="0"/>
            <a:chExt cx="37702" cy="4029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702" cy="40299"/>
            </a:xfrm>
            <a:custGeom>
              <a:avLst/>
              <a:gdLst/>
              <a:ahLst/>
              <a:cxnLst/>
              <a:rect r="r" b="b" t="t" l="l"/>
              <a:pathLst>
                <a:path h="40299" w="37702">
                  <a:moveTo>
                    <a:pt x="0" y="0"/>
                  </a:moveTo>
                  <a:lnTo>
                    <a:pt x="37702" y="0"/>
                  </a:lnTo>
                  <a:lnTo>
                    <a:pt x="37702" y="40299"/>
                  </a:lnTo>
                  <a:lnTo>
                    <a:pt x="0" y="40299"/>
                  </a:lnTo>
                  <a:close/>
                </a:path>
              </a:pathLst>
            </a:custGeom>
            <a:solidFill>
              <a:srgbClr val="EFA997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37702" cy="68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41693" y="4327824"/>
            <a:ext cx="1712113" cy="1988861"/>
            <a:chOff x="0" y="0"/>
            <a:chExt cx="1119571" cy="13005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19571" cy="1300540"/>
            </a:xfrm>
            <a:custGeom>
              <a:avLst/>
              <a:gdLst/>
              <a:ahLst/>
              <a:cxnLst/>
              <a:rect r="r" b="b" t="t" l="l"/>
              <a:pathLst>
                <a:path h="1300540" w="1119571">
                  <a:moveTo>
                    <a:pt x="0" y="0"/>
                  </a:moveTo>
                  <a:lnTo>
                    <a:pt x="1119571" y="0"/>
                  </a:lnTo>
                  <a:lnTo>
                    <a:pt x="1119571" y="1300540"/>
                  </a:lnTo>
                  <a:lnTo>
                    <a:pt x="0" y="1300540"/>
                  </a:lnTo>
                  <a:close/>
                </a:path>
              </a:pathLst>
            </a:custGeom>
            <a:solidFill>
              <a:srgbClr val="FFF3F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119571" cy="13291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337086" y="4301306"/>
            <a:ext cx="1590111" cy="2015380"/>
            <a:chOff x="0" y="0"/>
            <a:chExt cx="1039792" cy="13178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39792" cy="1317881"/>
            </a:xfrm>
            <a:custGeom>
              <a:avLst/>
              <a:gdLst/>
              <a:ahLst/>
              <a:cxnLst/>
              <a:rect r="r" b="b" t="t" l="l"/>
              <a:pathLst>
                <a:path h="1317881" w="1039792">
                  <a:moveTo>
                    <a:pt x="0" y="0"/>
                  </a:moveTo>
                  <a:lnTo>
                    <a:pt x="1039792" y="0"/>
                  </a:lnTo>
                  <a:lnTo>
                    <a:pt x="1039792" y="1317881"/>
                  </a:lnTo>
                  <a:lnTo>
                    <a:pt x="0" y="1317881"/>
                  </a:lnTo>
                  <a:close/>
                </a:path>
              </a:pathLst>
            </a:custGeom>
            <a:solidFill>
              <a:srgbClr val="E2C3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1039792" cy="13464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369470" y="4301306"/>
            <a:ext cx="1677977" cy="2015380"/>
            <a:chOff x="0" y="0"/>
            <a:chExt cx="1097249" cy="13178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49" cy="1317881"/>
            </a:xfrm>
            <a:custGeom>
              <a:avLst/>
              <a:gdLst/>
              <a:ahLst/>
              <a:cxnLst/>
              <a:rect r="r" b="b" t="t" l="l"/>
              <a:pathLst>
                <a:path h="1317881" w="1097249">
                  <a:moveTo>
                    <a:pt x="0" y="0"/>
                  </a:moveTo>
                  <a:lnTo>
                    <a:pt x="1097249" y="0"/>
                  </a:lnTo>
                  <a:lnTo>
                    <a:pt x="1097249" y="1317881"/>
                  </a:lnTo>
                  <a:lnTo>
                    <a:pt x="0" y="1317881"/>
                  </a:lnTo>
                  <a:close/>
                </a:path>
              </a:pathLst>
            </a:custGeom>
            <a:solidFill>
              <a:srgbClr val="FFF3F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1097249" cy="13464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172261" y="4301306"/>
            <a:ext cx="1702308" cy="2015380"/>
            <a:chOff x="0" y="0"/>
            <a:chExt cx="1113159" cy="13178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13159" cy="1317881"/>
            </a:xfrm>
            <a:custGeom>
              <a:avLst/>
              <a:gdLst/>
              <a:ahLst/>
              <a:cxnLst/>
              <a:rect r="r" b="b" t="t" l="l"/>
              <a:pathLst>
                <a:path h="1317881" w="1113159">
                  <a:moveTo>
                    <a:pt x="0" y="0"/>
                  </a:moveTo>
                  <a:lnTo>
                    <a:pt x="1113159" y="0"/>
                  </a:lnTo>
                  <a:lnTo>
                    <a:pt x="1113159" y="1317881"/>
                  </a:lnTo>
                  <a:lnTo>
                    <a:pt x="0" y="1317881"/>
                  </a:lnTo>
                  <a:close/>
                </a:path>
              </a:pathLst>
            </a:custGeom>
            <a:solidFill>
              <a:srgbClr val="E2C3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1113159" cy="13464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7" id="27"/>
          <p:cNvSpPr/>
          <p:nvPr/>
        </p:nvSpPr>
        <p:spPr>
          <a:xfrm>
            <a:off x="1013309" y="1949489"/>
            <a:ext cx="7900352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V="true">
            <a:off x="4897902" y="1348151"/>
            <a:ext cx="0" cy="601338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flipV="true">
            <a:off x="1029880" y="1954252"/>
            <a:ext cx="0" cy="2380504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flipH="true" flipV="true">
            <a:off x="2997871" y="1945151"/>
            <a:ext cx="0" cy="2382674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flipV="true">
            <a:off x="4728254" y="1954252"/>
            <a:ext cx="0" cy="2380504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V="true">
            <a:off x="6613986" y="1954252"/>
            <a:ext cx="0" cy="2382674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241693" y="2768752"/>
            <a:ext cx="1543232" cy="751503"/>
            <a:chOff x="0" y="0"/>
            <a:chExt cx="1009138" cy="49141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9138" cy="491417"/>
            </a:xfrm>
            <a:custGeom>
              <a:avLst/>
              <a:gdLst/>
              <a:ahLst/>
              <a:cxnLst/>
              <a:rect r="r" b="b" t="t" l="l"/>
              <a:pathLst>
                <a:path h="491417" w="1009138">
                  <a:moveTo>
                    <a:pt x="0" y="0"/>
                  </a:moveTo>
                  <a:lnTo>
                    <a:pt x="1009138" y="0"/>
                  </a:lnTo>
                  <a:lnTo>
                    <a:pt x="1009138" y="491417"/>
                  </a:lnTo>
                  <a:lnTo>
                    <a:pt x="0" y="491417"/>
                  </a:lnTo>
                  <a:close/>
                </a:path>
              </a:pathLst>
            </a:custGeom>
            <a:solidFill>
              <a:srgbClr val="EFA997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1009138" cy="5199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953805" y="2768752"/>
            <a:ext cx="1549100" cy="751503"/>
            <a:chOff x="0" y="0"/>
            <a:chExt cx="1012975" cy="49141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12975" cy="491417"/>
            </a:xfrm>
            <a:custGeom>
              <a:avLst/>
              <a:gdLst/>
              <a:ahLst/>
              <a:cxnLst/>
              <a:rect r="r" b="b" t="t" l="l"/>
              <a:pathLst>
                <a:path h="491417" w="1012975">
                  <a:moveTo>
                    <a:pt x="0" y="0"/>
                  </a:moveTo>
                  <a:lnTo>
                    <a:pt x="1012975" y="0"/>
                  </a:lnTo>
                  <a:lnTo>
                    <a:pt x="1012975" y="491417"/>
                  </a:lnTo>
                  <a:lnTo>
                    <a:pt x="0" y="491417"/>
                  </a:lnTo>
                  <a:close/>
                </a:path>
              </a:pathLst>
            </a:custGeom>
            <a:solidFill>
              <a:srgbClr val="C6DCC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1012975" cy="5199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3731506" y="2754408"/>
            <a:ext cx="1651108" cy="751503"/>
            <a:chOff x="0" y="0"/>
            <a:chExt cx="1079679" cy="49141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79679" cy="491417"/>
            </a:xfrm>
            <a:custGeom>
              <a:avLst/>
              <a:gdLst/>
              <a:ahLst/>
              <a:cxnLst/>
              <a:rect r="r" b="b" t="t" l="l"/>
              <a:pathLst>
                <a:path h="491417" w="1079679">
                  <a:moveTo>
                    <a:pt x="0" y="0"/>
                  </a:moveTo>
                  <a:lnTo>
                    <a:pt x="1079679" y="0"/>
                  </a:lnTo>
                  <a:lnTo>
                    <a:pt x="1079679" y="491417"/>
                  </a:lnTo>
                  <a:lnTo>
                    <a:pt x="0" y="491417"/>
                  </a:lnTo>
                  <a:close/>
                </a:path>
              </a:pathLst>
            </a:custGeom>
            <a:solidFill>
              <a:srgbClr val="BFD7E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1079679" cy="5199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5746213" y="2725252"/>
            <a:ext cx="1865113" cy="780659"/>
            <a:chOff x="0" y="0"/>
            <a:chExt cx="1219619" cy="51048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19619" cy="510482"/>
            </a:xfrm>
            <a:custGeom>
              <a:avLst/>
              <a:gdLst/>
              <a:ahLst/>
              <a:cxnLst/>
              <a:rect r="r" b="b" t="t" l="l"/>
              <a:pathLst>
                <a:path h="510482" w="1219619">
                  <a:moveTo>
                    <a:pt x="0" y="0"/>
                  </a:moveTo>
                  <a:lnTo>
                    <a:pt x="1219619" y="0"/>
                  </a:lnTo>
                  <a:lnTo>
                    <a:pt x="1219619" y="510482"/>
                  </a:lnTo>
                  <a:lnTo>
                    <a:pt x="0" y="510482"/>
                  </a:lnTo>
                  <a:close/>
                </a:path>
              </a:pathLst>
            </a:custGeom>
            <a:solidFill>
              <a:srgbClr val="FFE0A7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219619" cy="548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45" id="45"/>
          <p:cNvSpPr/>
          <p:nvPr/>
        </p:nvSpPr>
        <p:spPr>
          <a:xfrm flipV="true">
            <a:off x="8913661" y="1945151"/>
            <a:ext cx="0" cy="2382674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6" id="46"/>
          <p:cNvGrpSpPr/>
          <p:nvPr/>
        </p:nvGrpSpPr>
        <p:grpSpPr>
          <a:xfrm rot="0">
            <a:off x="7839926" y="2674215"/>
            <a:ext cx="1913674" cy="831696"/>
            <a:chOff x="0" y="0"/>
            <a:chExt cx="1251374" cy="54385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251374" cy="543856"/>
            </a:xfrm>
            <a:custGeom>
              <a:avLst/>
              <a:gdLst/>
              <a:ahLst/>
              <a:cxnLst/>
              <a:rect r="r" b="b" t="t" l="l"/>
              <a:pathLst>
                <a:path h="543856" w="1251374">
                  <a:moveTo>
                    <a:pt x="0" y="0"/>
                  </a:moveTo>
                  <a:lnTo>
                    <a:pt x="1251374" y="0"/>
                  </a:lnTo>
                  <a:lnTo>
                    <a:pt x="1251374" y="543856"/>
                  </a:lnTo>
                  <a:lnTo>
                    <a:pt x="0" y="543856"/>
                  </a:lnTo>
                  <a:close/>
                </a:path>
              </a:pathLst>
            </a:custGeom>
            <a:solidFill>
              <a:srgbClr val="BAAA3E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1251374" cy="572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0"/>
                </a:lnSpc>
                <a:spcBef>
                  <a:spcPct val="0"/>
                </a:spcBef>
              </a:pPr>
              <a:r>
                <a:rPr lang="en-US" b="true" sz="130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VIP AIRPORT PICKUP &amp; DROP-OFF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104209" y="4301306"/>
            <a:ext cx="1518914" cy="2021290"/>
            <a:chOff x="0" y="0"/>
            <a:chExt cx="993236" cy="132174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93236" cy="1321746"/>
            </a:xfrm>
            <a:custGeom>
              <a:avLst/>
              <a:gdLst/>
              <a:ahLst/>
              <a:cxnLst/>
              <a:rect r="r" b="b" t="t" l="l"/>
              <a:pathLst>
                <a:path h="1321746" w="993236">
                  <a:moveTo>
                    <a:pt x="0" y="0"/>
                  </a:moveTo>
                  <a:lnTo>
                    <a:pt x="993236" y="0"/>
                  </a:lnTo>
                  <a:lnTo>
                    <a:pt x="993236" y="1321746"/>
                  </a:lnTo>
                  <a:lnTo>
                    <a:pt x="0" y="1321746"/>
                  </a:lnTo>
                  <a:close/>
                </a:path>
              </a:pathLst>
            </a:custGeom>
            <a:solidFill>
              <a:srgbClr val="FFF3F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993236" cy="13598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Offer luxury rental cars waiting at the airport gate for top-tier travelers.</a:t>
              </a:r>
            </a:p>
            <a:p>
              <a:pPr algn="ctr">
                <a:lnSpc>
                  <a:spcPts val="21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838783" y="618832"/>
            <a:ext cx="6411563" cy="512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86"/>
              </a:lnSpc>
              <a:spcBef>
                <a:spcPct val="0"/>
              </a:spcBef>
            </a:pPr>
            <a:r>
              <a:rPr lang="en-US" b="true" sz="2990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LUXURY AIRLINES TRENDS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87835" y="2928429"/>
            <a:ext cx="1650948" cy="380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52"/>
              </a:lnSpc>
            </a:pPr>
            <a:r>
              <a:rPr lang="en-US" b="true" sz="13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PRIVATE JET PARTNERSHIPS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984229" y="2855171"/>
            <a:ext cx="1488253" cy="570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52"/>
              </a:lnSpc>
            </a:pPr>
            <a:r>
              <a:rPr lang="en-US" b="true" sz="13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FIRST-CLASS CHAUFFEUR TRANSFERS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3764820" y="2904802"/>
            <a:ext cx="1617793" cy="380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52"/>
              </a:lnSpc>
            </a:pPr>
            <a:r>
              <a:rPr lang="en-US" b="true" sz="13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LUXURY LOUNGE ACCESS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412052" y="4527516"/>
            <a:ext cx="1440178" cy="1257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1"/>
              </a:lnSpc>
            </a:pPr>
            <a:r>
              <a:rPr lang="en-US" sz="1453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Offer high-end car rentals as part of premium airline tickets.</a:t>
            </a:r>
          </a:p>
          <a:p>
            <a:pPr algn="ctr" marL="0" indent="0" lvl="0">
              <a:lnSpc>
                <a:spcPts val="1671"/>
              </a:lnSpc>
            </a:pPr>
          </a:p>
        </p:txBody>
      </p:sp>
      <p:sp>
        <p:nvSpPr>
          <p:cNvPr name="TextBox 57" id="57"/>
          <p:cNvSpPr txBox="true"/>
          <p:nvPr/>
        </p:nvSpPr>
        <p:spPr>
          <a:xfrm rot="0">
            <a:off x="4468330" y="4527516"/>
            <a:ext cx="1413162" cy="1466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1"/>
              </a:lnSpc>
            </a:pPr>
            <a:r>
              <a:rPr lang="en-US" sz="1453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Provide exclusive car rental perks to first-class &amp; business-class flyers.</a:t>
            </a:r>
          </a:p>
          <a:p>
            <a:pPr algn="ctr" marL="0" indent="0" lvl="0">
              <a:lnSpc>
                <a:spcPts val="1671"/>
              </a:lnSpc>
            </a:pPr>
          </a:p>
        </p:txBody>
      </p:sp>
      <p:sp>
        <p:nvSpPr>
          <p:cNvPr name="TextBox 58" id="58"/>
          <p:cNvSpPr txBox="true"/>
          <p:nvPr/>
        </p:nvSpPr>
        <p:spPr>
          <a:xfrm rot="0">
            <a:off x="6274057" y="4527516"/>
            <a:ext cx="1439066" cy="1447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1"/>
              </a:lnSpc>
            </a:pPr>
            <a:r>
              <a:rPr lang="en-US" sz="1453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Allow frequent flyers to redeem miles for luxury car rentals</a:t>
            </a:r>
            <a:r>
              <a:rPr lang="en-US" sz="14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ctr" marL="0" indent="0" lvl="0">
              <a:lnSpc>
                <a:spcPts val="1556"/>
              </a:lnSpc>
            </a:pPr>
          </a:p>
        </p:txBody>
      </p:sp>
      <p:sp>
        <p:nvSpPr>
          <p:cNvPr name="TextBox 59" id="59"/>
          <p:cNvSpPr txBox="true"/>
          <p:nvPr/>
        </p:nvSpPr>
        <p:spPr>
          <a:xfrm rot="0">
            <a:off x="333026" y="4517991"/>
            <a:ext cx="1558252" cy="1288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1"/>
              </a:lnSpc>
            </a:pPr>
            <a:r>
              <a:rPr lang="en-US" sz="153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Collaborate with private jet companies for seamless luxury travel.</a:t>
            </a:r>
          </a:p>
          <a:p>
            <a:pPr algn="ctr" marL="0" indent="0" lvl="0">
              <a:lnSpc>
                <a:spcPts val="1442"/>
              </a:lnSpc>
            </a:pPr>
          </a:p>
        </p:txBody>
      </p:sp>
      <p:sp>
        <p:nvSpPr>
          <p:cNvPr name="TextBox 60" id="60"/>
          <p:cNvSpPr txBox="true"/>
          <p:nvPr/>
        </p:nvSpPr>
        <p:spPr>
          <a:xfrm rot="0">
            <a:off x="5833513" y="2886533"/>
            <a:ext cx="1777813" cy="380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52"/>
              </a:lnSpc>
            </a:pPr>
            <a:r>
              <a:rPr lang="en-US" b="true" sz="13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ELITE MILEAGE REWARDS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C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48978" y="1559663"/>
            <a:ext cx="3510070" cy="4195875"/>
          </a:xfrm>
          <a:custGeom>
            <a:avLst/>
            <a:gdLst/>
            <a:ahLst/>
            <a:cxnLst/>
            <a:rect r="r" b="b" t="t" l="l"/>
            <a:pathLst>
              <a:path h="4195875" w="3510070">
                <a:moveTo>
                  <a:pt x="0" y="0"/>
                </a:moveTo>
                <a:lnTo>
                  <a:pt x="3510070" y="0"/>
                </a:lnTo>
                <a:lnTo>
                  <a:pt x="3510070" y="4195874"/>
                </a:lnTo>
                <a:lnTo>
                  <a:pt x="0" y="41958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859965">
            <a:off x="-972098" y="5107771"/>
            <a:ext cx="3334143" cy="3659804"/>
          </a:xfrm>
          <a:custGeom>
            <a:avLst/>
            <a:gdLst/>
            <a:ahLst/>
            <a:cxnLst/>
            <a:rect r="r" b="b" t="t" l="l"/>
            <a:pathLst>
              <a:path h="3659804" w="3334143">
                <a:moveTo>
                  <a:pt x="0" y="0"/>
                </a:moveTo>
                <a:lnTo>
                  <a:pt x="3334143" y="0"/>
                </a:lnTo>
                <a:lnTo>
                  <a:pt x="3334143" y="3659804"/>
                </a:lnTo>
                <a:lnTo>
                  <a:pt x="0" y="3659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64166">
            <a:off x="8019525" y="1543835"/>
            <a:ext cx="4784199" cy="4726209"/>
          </a:xfrm>
          <a:custGeom>
            <a:avLst/>
            <a:gdLst/>
            <a:ahLst/>
            <a:cxnLst/>
            <a:rect r="r" b="b" t="t" l="l"/>
            <a:pathLst>
              <a:path h="4726209" w="4784199">
                <a:moveTo>
                  <a:pt x="0" y="0"/>
                </a:moveTo>
                <a:lnTo>
                  <a:pt x="4784199" y="0"/>
                </a:lnTo>
                <a:lnTo>
                  <a:pt x="4784199" y="4726209"/>
                </a:lnTo>
                <a:lnTo>
                  <a:pt x="0" y="47262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21339" y="233563"/>
            <a:ext cx="7110922" cy="1241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75"/>
              </a:lnSpc>
              <a:spcBef>
                <a:spcPct val="0"/>
              </a:spcBef>
            </a:pPr>
            <a:r>
              <a:rPr lang="en-US" b="true" sz="362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LUXURY CAR RENTALS &amp; AIRLINES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1037763">
            <a:off x="-449188" y="725575"/>
            <a:ext cx="1991487" cy="2622059"/>
          </a:xfrm>
          <a:custGeom>
            <a:avLst/>
            <a:gdLst/>
            <a:ahLst/>
            <a:cxnLst/>
            <a:rect r="r" b="b" t="t" l="l"/>
            <a:pathLst>
              <a:path h="2622059" w="1991487">
                <a:moveTo>
                  <a:pt x="0" y="0"/>
                </a:moveTo>
                <a:lnTo>
                  <a:pt x="1991487" y="0"/>
                </a:lnTo>
                <a:lnTo>
                  <a:pt x="1991487" y="2622058"/>
                </a:lnTo>
                <a:lnTo>
                  <a:pt x="0" y="26220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93951" y="2276923"/>
            <a:ext cx="2562417" cy="281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  <a:spcBef>
                <a:spcPct val="0"/>
              </a:spcBef>
            </a:pPr>
            <a:r>
              <a:rPr lang="en-US" b="true" sz="1650">
                <a:solidFill>
                  <a:srgbClr val="7B569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Jet &amp; Drive Packages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93951" y="4191040"/>
            <a:ext cx="2882849" cy="281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  <a:spcBef>
                <a:spcPct val="0"/>
              </a:spcBef>
            </a:pPr>
            <a:r>
              <a:rPr lang="en-US" b="true" sz="1650">
                <a:solidFill>
                  <a:srgbClr val="7B569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In-Flight Car Concierge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50778" y="2276923"/>
            <a:ext cx="2630821" cy="281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  <a:spcBef>
                <a:spcPct val="0"/>
              </a:spcBef>
            </a:pPr>
            <a:r>
              <a:rPr lang="en-US" b="true" sz="1650">
                <a:solidFill>
                  <a:srgbClr val="7B569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Exclusive Car Brands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250778" y="4149765"/>
            <a:ext cx="2670367" cy="281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  <a:spcBef>
                <a:spcPct val="0"/>
              </a:spcBef>
            </a:pPr>
            <a:r>
              <a:rPr lang="en-US" b="true" sz="1650">
                <a:solidFill>
                  <a:srgbClr val="7B569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Hotel &amp; Airline Synergy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93951" y="2601449"/>
            <a:ext cx="2670367" cy="98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6"/>
              </a:lnSpc>
            </a:pPr>
            <a:r>
              <a:rPr lang="en-US" sz="1426">
                <a:solidFill>
                  <a:srgbClr val="7B569F"/>
                </a:solidFill>
                <a:latin typeface="Montserrat"/>
                <a:ea typeface="Montserrat"/>
                <a:cs typeface="Montserrat"/>
                <a:sym typeface="Montserrat"/>
              </a:rPr>
              <a:t>Book a luxury car along with a first-class flight at a bundled rate.</a:t>
            </a:r>
          </a:p>
          <a:p>
            <a:pPr algn="l">
              <a:lnSpc>
                <a:spcPts val="1996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993951" y="4511072"/>
            <a:ext cx="2670367" cy="98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6"/>
              </a:lnSpc>
              <a:spcBef>
                <a:spcPct val="0"/>
              </a:spcBef>
            </a:pPr>
            <a:r>
              <a:rPr lang="en-US" sz="1426">
                <a:solidFill>
                  <a:srgbClr val="7B569F"/>
                </a:solidFill>
                <a:latin typeface="Montserrat"/>
                <a:ea typeface="Montserrat"/>
                <a:cs typeface="Montserrat"/>
                <a:sym typeface="Montserrat"/>
              </a:rPr>
              <a:t>Let premium airline passengers pre-book their luxury car mid-flight.</a:t>
            </a:r>
          </a:p>
          <a:p>
            <a:pPr algn="l">
              <a:lnSpc>
                <a:spcPts val="1996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5250778" y="4444397"/>
            <a:ext cx="2670367" cy="98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6"/>
              </a:lnSpc>
            </a:pPr>
            <a:r>
              <a:rPr lang="en-US" sz="1426">
                <a:solidFill>
                  <a:srgbClr val="7B569F"/>
                </a:solidFill>
                <a:latin typeface="Montserrat"/>
                <a:ea typeface="Montserrat"/>
                <a:cs typeface="Montserrat"/>
                <a:sym typeface="Montserrat"/>
              </a:rPr>
              <a:t>Partner with 5-star hotels to offer seamless transport in a high-end car.</a:t>
            </a:r>
          </a:p>
          <a:p>
            <a:pPr algn="l">
              <a:lnSpc>
                <a:spcPts val="1996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5290324" y="2601449"/>
            <a:ext cx="2591275" cy="98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6"/>
              </a:lnSpc>
              <a:spcBef>
                <a:spcPct val="0"/>
              </a:spcBef>
            </a:pPr>
            <a:r>
              <a:rPr lang="en-US" sz="1426">
                <a:solidFill>
                  <a:srgbClr val="7B569F"/>
                </a:solidFill>
                <a:latin typeface="Montserrat"/>
                <a:ea typeface="Montserrat"/>
                <a:cs typeface="Montserrat"/>
                <a:sym typeface="Montserrat"/>
              </a:rPr>
              <a:t>Provide exotic brands (Bentley, Rolls-Royce, Aston Martin) as an upgrade for business travelers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17071" y="5806437"/>
            <a:ext cx="2859729" cy="567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  <a:spcBef>
                <a:spcPct val="0"/>
              </a:spcBef>
            </a:pPr>
            <a:r>
              <a:rPr lang="en-US" b="true" sz="1650">
                <a:solidFill>
                  <a:srgbClr val="7B569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Luxury Experience Packages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17071" y="6357070"/>
            <a:ext cx="2859729" cy="98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6"/>
              </a:lnSpc>
              <a:spcBef>
                <a:spcPct val="0"/>
              </a:spcBef>
            </a:pPr>
            <a:r>
              <a:rPr lang="en-US" sz="1426">
                <a:solidFill>
                  <a:srgbClr val="7B569F"/>
                </a:solidFill>
                <a:latin typeface="Montserrat"/>
                <a:ea typeface="Montserrat"/>
                <a:cs typeface="Montserrat"/>
                <a:sym typeface="Montserrat"/>
              </a:rPr>
              <a:t>Combine flights + luxury car rentals + VIP access to events (F1 races, golf resorts, fashion weeks).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557134" y="1283152"/>
            <a:ext cx="4011370" cy="4011370"/>
          </a:xfrm>
          <a:custGeom>
            <a:avLst/>
            <a:gdLst/>
            <a:ahLst/>
            <a:cxnLst/>
            <a:rect r="r" b="b" t="t" l="l"/>
            <a:pathLst>
              <a:path h="4011370" w="4011370">
                <a:moveTo>
                  <a:pt x="0" y="0"/>
                </a:moveTo>
                <a:lnTo>
                  <a:pt x="4011370" y="0"/>
                </a:lnTo>
                <a:lnTo>
                  <a:pt x="4011370" y="4011370"/>
                </a:lnTo>
                <a:lnTo>
                  <a:pt x="0" y="40113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918735" y="1064172"/>
            <a:ext cx="2117033" cy="777819"/>
            <a:chOff x="0" y="0"/>
            <a:chExt cx="991282" cy="36420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91282" cy="364207"/>
            </a:xfrm>
            <a:custGeom>
              <a:avLst/>
              <a:gdLst/>
              <a:ahLst/>
              <a:cxnLst/>
              <a:rect r="r" b="b" t="t" l="l"/>
              <a:pathLst>
                <a:path h="364207" w="991282">
                  <a:moveTo>
                    <a:pt x="80453" y="0"/>
                  </a:moveTo>
                  <a:lnTo>
                    <a:pt x="910828" y="0"/>
                  </a:lnTo>
                  <a:cubicBezTo>
                    <a:pt x="932166" y="0"/>
                    <a:pt x="952630" y="8476"/>
                    <a:pt x="967717" y="23564"/>
                  </a:cubicBezTo>
                  <a:cubicBezTo>
                    <a:pt x="982805" y="38652"/>
                    <a:pt x="991282" y="59116"/>
                    <a:pt x="991282" y="80453"/>
                  </a:cubicBezTo>
                  <a:lnTo>
                    <a:pt x="991282" y="283754"/>
                  </a:lnTo>
                  <a:cubicBezTo>
                    <a:pt x="991282" y="305091"/>
                    <a:pt x="982805" y="325555"/>
                    <a:pt x="967717" y="340643"/>
                  </a:cubicBezTo>
                  <a:cubicBezTo>
                    <a:pt x="952630" y="355731"/>
                    <a:pt x="932166" y="364207"/>
                    <a:pt x="910828" y="364207"/>
                  </a:cubicBezTo>
                  <a:lnTo>
                    <a:pt x="80453" y="364207"/>
                  </a:lnTo>
                  <a:cubicBezTo>
                    <a:pt x="59116" y="364207"/>
                    <a:pt x="38652" y="355731"/>
                    <a:pt x="23564" y="340643"/>
                  </a:cubicBezTo>
                  <a:cubicBezTo>
                    <a:pt x="8476" y="325555"/>
                    <a:pt x="0" y="305091"/>
                    <a:pt x="0" y="283754"/>
                  </a:cubicBezTo>
                  <a:lnTo>
                    <a:pt x="0" y="80453"/>
                  </a:lnTo>
                  <a:cubicBezTo>
                    <a:pt x="0" y="59116"/>
                    <a:pt x="8476" y="38652"/>
                    <a:pt x="23564" y="23564"/>
                  </a:cubicBezTo>
                  <a:cubicBezTo>
                    <a:pt x="38652" y="8476"/>
                    <a:pt x="59116" y="0"/>
                    <a:pt x="80453" y="0"/>
                  </a:cubicBezTo>
                  <a:close/>
                </a:path>
              </a:pathLst>
            </a:custGeom>
            <a:solidFill>
              <a:srgbClr val="85A1C4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991282" cy="383257"/>
            </a:xfrm>
            <a:prstGeom prst="rect">
              <a:avLst/>
            </a:prstGeom>
          </p:spPr>
          <p:txBody>
            <a:bodyPr anchor="ctr" rtlCol="false" tIns="29897" lIns="29897" bIns="29897" rIns="29897"/>
            <a:lstStyle/>
            <a:p>
              <a:pPr algn="ctr" marL="0" indent="0" lvl="0">
                <a:lnSpc>
                  <a:spcPts val="156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911081" y="2170482"/>
            <a:ext cx="2117033" cy="829063"/>
            <a:chOff x="0" y="0"/>
            <a:chExt cx="991282" cy="3882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91282" cy="388201"/>
            </a:xfrm>
            <a:custGeom>
              <a:avLst/>
              <a:gdLst/>
              <a:ahLst/>
              <a:cxnLst/>
              <a:rect r="r" b="b" t="t" l="l"/>
              <a:pathLst>
                <a:path h="388201" w="991282">
                  <a:moveTo>
                    <a:pt x="80453" y="0"/>
                  </a:moveTo>
                  <a:lnTo>
                    <a:pt x="910828" y="0"/>
                  </a:lnTo>
                  <a:cubicBezTo>
                    <a:pt x="932166" y="0"/>
                    <a:pt x="952630" y="8476"/>
                    <a:pt x="967717" y="23564"/>
                  </a:cubicBezTo>
                  <a:cubicBezTo>
                    <a:pt x="982805" y="38652"/>
                    <a:pt x="991282" y="59116"/>
                    <a:pt x="991282" y="80453"/>
                  </a:cubicBezTo>
                  <a:lnTo>
                    <a:pt x="991282" y="307748"/>
                  </a:lnTo>
                  <a:cubicBezTo>
                    <a:pt x="991282" y="329085"/>
                    <a:pt x="982805" y="349549"/>
                    <a:pt x="967717" y="364637"/>
                  </a:cubicBezTo>
                  <a:cubicBezTo>
                    <a:pt x="952630" y="379725"/>
                    <a:pt x="932166" y="388201"/>
                    <a:pt x="910828" y="388201"/>
                  </a:cubicBezTo>
                  <a:lnTo>
                    <a:pt x="80453" y="388201"/>
                  </a:lnTo>
                  <a:cubicBezTo>
                    <a:pt x="59116" y="388201"/>
                    <a:pt x="38652" y="379725"/>
                    <a:pt x="23564" y="364637"/>
                  </a:cubicBezTo>
                  <a:cubicBezTo>
                    <a:pt x="8476" y="349549"/>
                    <a:pt x="0" y="329085"/>
                    <a:pt x="0" y="307748"/>
                  </a:cubicBezTo>
                  <a:lnTo>
                    <a:pt x="0" y="80453"/>
                  </a:lnTo>
                  <a:cubicBezTo>
                    <a:pt x="0" y="59116"/>
                    <a:pt x="8476" y="38652"/>
                    <a:pt x="23564" y="23564"/>
                  </a:cubicBezTo>
                  <a:cubicBezTo>
                    <a:pt x="38652" y="8476"/>
                    <a:pt x="59116" y="0"/>
                    <a:pt x="80453" y="0"/>
                  </a:cubicBezTo>
                  <a:close/>
                </a:path>
              </a:pathLst>
            </a:custGeom>
            <a:solidFill>
              <a:srgbClr val="BBC8E1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991282" cy="407251"/>
            </a:xfrm>
            <a:prstGeom prst="rect">
              <a:avLst/>
            </a:prstGeom>
          </p:spPr>
          <p:txBody>
            <a:bodyPr anchor="ctr" rtlCol="false" tIns="29897" lIns="29897" bIns="29897" rIns="29897"/>
            <a:lstStyle/>
            <a:p>
              <a:pPr algn="ctr" marL="0" indent="0" lvl="0">
                <a:lnSpc>
                  <a:spcPts val="156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911081" y="4009195"/>
            <a:ext cx="2117033" cy="891985"/>
            <a:chOff x="0" y="0"/>
            <a:chExt cx="991282" cy="4176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91282" cy="417664"/>
            </a:xfrm>
            <a:custGeom>
              <a:avLst/>
              <a:gdLst/>
              <a:ahLst/>
              <a:cxnLst/>
              <a:rect r="r" b="b" t="t" l="l"/>
              <a:pathLst>
                <a:path h="417664" w="991282">
                  <a:moveTo>
                    <a:pt x="80453" y="0"/>
                  </a:moveTo>
                  <a:lnTo>
                    <a:pt x="910828" y="0"/>
                  </a:lnTo>
                  <a:cubicBezTo>
                    <a:pt x="932166" y="0"/>
                    <a:pt x="952630" y="8476"/>
                    <a:pt x="967717" y="23564"/>
                  </a:cubicBezTo>
                  <a:cubicBezTo>
                    <a:pt x="982805" y="38652"/>
                    <a:pt x="991282" y="59116"/>
                    <a:pt x="991282" y="80453"/>
                  </a:cubicBezTo>
                  <a:lnTo>
                    <a:pt x="991282" y="337211"/>
                  </a:lnTo>
                  <a:cubicBezTo>
                    <a:pt x="991282" y="358548"/>
                    <a:pt x="982805" y="379012"/>
                    <a:pt x="967717" y="394100"/>
                  </a:cubicBezTo>
                  <a:cubicBezTo>
                    <a:pt x="952630" y="409188"/>
                    <a:pt x="932166" y="417664"/>
                    <a:pt x="910828" y="417664"/>
                  </a:cubicBezTo>
                  <a:lnTo>
                    <a:pt x="80453" y="417664"/>
                  </a:lnTo>
                  <a:cubicBezTo>
                    <a:pt x="59116" y="417664"/>
                    <a:pt x="38652" y="409188"/>
                    <a:pt x="23564" y="394100"/>
                  </a:cubicBezTo>
                  <a:cubicBezTo>
                    <a:pt x="8476" y="379012"/>
                    <a:pt x="0" y="358548"/>
                    <a:pt x="0" y="337211"/>
                  </a:cubicBezTo>
                  <a:lnTo>
                    <a:pt x="0" y="80453"/>
                  </a:lnTo>
                  <a:cubicBezTo>
                    <a:pt x="0" y="59116"/>
                    <a:pt x="8476" y="38652"/>
                    <a:pt x="23564" y="23564"/>
                  </a:cubicBezTo>
                  <a:cubicBezTo>
                    <a:pt x="38652" y="8476"/>
                    <a:pt x="59116" y="0"/>
                    <a:pt x="80453" y="0"/>
                  </a:cubicBezTo>
                  <a:close/>
                </a:path>
              </a:pathLst>
            </a:custGeom>
            <a:solidFill>
              <a:srgbClr val="CCC4E0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991282" cy="436714"/>
            </a:xfrm>
            <a:prstGeom prst="rect">
              <a:avLst/>
            </a:prstGeom>
          </p:spPr>
          <p:txBody>
            <a:bodyPr anchor="ctr" rtlCol="false" tIns="29897" lIns="29897" bIns="29897" rIns="29897"/>
            <a:lstStyle/>
            <a:p>
              <a:pPr algn="ctr" marL="0" indent="0" lvl="0">
                <a:lnSpc>
                  <a:spcPts val="156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160283" y="4066278"/>
            <a:ext cx="3861797" cy="777819"/>
            <a:chOff x="0" y="0"/>
            <a:chExt cx="1642825" cy="3308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42825" cy="330888"/>
            </a:xfrm>
            <a:custGeom>
              <a:avLst/>
              <a:gdLst/>
              <a:ahLst/>
              <a:cxnLst/>
              <a:rect r="r" b="b" t="t" l="l"/>
              <a:pathLst>
                <a:path h="330888" w="1642825">
                  <a:moveTo>
                    <a:pt x="44104" y="0"/>
                  </a:moveTo>
                  <a:lnTo>
                    <a:pt x="1598721" y="0"/>
                  </a:lnTo>
                  <a:cubicBezTo>
                    <a:pt x="1610418" y="0"/>
                    <a:pt x="1621636" y="4647"/>
                    <a:pt x="1629908" y="12918"/>
                  </a:cubicBezTo>
                  <a:cubicBezTo>
                    <a:pt x="1638179" y="21189"/>
                    <a:pt x="1642825" y="32407"/>
                    <a:pt x="1642825" y="44104"/>
                  </a:cubicBezTo>
                  <a:lnTo>
                    <a:pt x="1642825" y="286783"/>
                  </a:lnTo>
                  <a:cubicBezTo>
                    <a:pt x="1642825" y="298481"/>
                    <a:pt x="1638179" y="309699"/>
                    <a:pt x="1629908" y="317970"/>
                  </a:cubicBezTo>
                  <a:cubicBezTo>
                    <a:pt x="1621636" y="326241"/>
                    <a:pt x="1610418" y="330888"/>
                    <a:pt x="1598721" y="330888"/>
                  </a:cubicBezTo>
                  <a:lnTo>
                    <a:pt x="44104" y="330888"/>
                  </a:lnTo>
                  <a:cubicBezTo>
                    <a:pt x="19746" y="330888"/>
                    <a:pt x="0" y="311142"/>
                    <a:pt x="0" y="286783"/>
                  </a:cubicBezTo>
                  <a:lnTo>
                    <a:pt x="0" y="44104"/>
                  </a:lnTo>
                  <a:cubicBezTo>
                    <a:pt x="0" y="32407"/>
                    <a:pt x="4647" y="21189"/>
                    <a:pt x="12918" y="12918"/>
                  </a:cubicBezTo>
                  <a:cubicBezTo>
                    <a:pt x="21189" y="4647"/>
                    <a:pt x="32407" y="0"/>
                    <a:pt x="44104" y="0"/>
                  </a:cubicBezTo>
                  <a:close/>
                </a:path>
              </a:pathLst>
            </a:custGeom>
            <a:solidFill>
              <a:srgbClr val="F9F4F9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642825" cy="349938"/>
            </a:xfrm>
            <a:prstGeom prst="rect">
              <a:avLst/>
            </a:prstGeom>
          </p:spPr>
          <p:txBody>
            <a:bodyPr anchor="ctr" rtlCol="false" tIns="29897" lIns="29897" bIns="29897" rIns="29897"/>
            <a:lstStyle/>
            <a:p>
              <a:pPr algn="ctr" marL="0" indent="0" lvl="0">
                <a:lnSpc>
                  <a:spcPts val="156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160283" y="2170482"/>
            <a:ext cx="3861797" cy="777819"/>
            <a:chOff x="0" y="0"/>
            <a:chExt cx="1642825" cy="3308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42825" cy="330888"/>
            </a:xfrm>
            <a:custGeom>
              <a:avLst/>
              <a:gdLst/>
              <a:ahLst/>
              <a:cxnLst/>
              <a:rect r="r" b="b" t="t" l="l"/>
              <a:pathLst>
                <a:path h="330888" w="1642825">
                  <a:moveTo>
                    <a:pt x="44104" y="0"/>
                  </a:moveTo>
                  <a:lnTo>
                    <a:pt x="1598721" y="0"/>
                  </a:lnTo>
                  <a:cubicBezTo>
                    <a:pt x="1610418" y="0"/>
                    <a:pt x="1621636" y="4647"/>
                    <a:pt x="1629908" y="12918"/>
                  </a:cubicBezTo>
                  <a:cubicBezTo>
                    <a:pt x="1638179" y="21189"/>
                    <a:pt x="1642825" y="32407"/>
                    <a:pt x="1642825" y="44104"/>
                  </a:cubicBezTo>
                  <a:lnTo>
                    <a:pt x="1642825" y="286783"/>
                  </a:lnTo>
                  <a:cubicBezTo>
                    <a:pt x="1642825" y="298481"/>
                    <a:pt x="1638179" y="309699"/>
                    <a:pt x="1629908" y="317970"/>
                  </a:cubicBezTo>
                  <a:cubicBezTo>
                    <a:pt x="1621636" y="326241"/>
                    <a:pt x="1610418" y="330888"/>
                    <a:pt x="1598721" y="330888"/>
                  </a:cubicBezTo>
                  <a:lnTo>
                    <a:pt x="44104" y="330888"/>
                  </a:lnTo>
                  <a:cubicBezTo>
                    <a:pt x="19746" y="330888"/>
                    <a:pt x="0" y="311142"/>
                    <a:pt x="0" y="286783"/>
                  </a:cubicBezTo>
                  <a:lnTo>
                    <a:pt x="0" y="44104"/>
                  </a:lnTo>
                  <a:cubicBezTo>
                    <a:pt x="0" y="32407"/>
                    <a:pt x="4647" y="21189"/>
                    <a:pt x="12918" y="12918"/>
                  </a:cubicBezTo>
                  <a:cubicBezTo>
                    <a:pt x="21189" y="4647"/>
                    <a:pt x="32407" y="0"/>
                    <a:pt x="44104" y="0"/>
                  </a:cubicBezTo>
                  <a:close/>
                </a:path>
              </a:pathLst>
            </a:custGeom>
            <a:solidFill>
              <a:srgbClr val="ECDDE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642825" cy="349938"/>
            </a:xfrm>
            <a:prstGeom prst="rect">
              <a:avLst/>
            </a:prstGeom>
          </p:spPr>
          <p:txBody>
            <a:bodyPr anchor="ctr" rtlCol="false" tIns="29897" lIns="29897" bIns="29897" rIns="29897"/>
            <a:lstStyle/>
            <a:p>
              <a:pPr algn="ctr" marL="0" indent="0" lvl="0">
                <a:lnSpc>
                  <a:spcPts val="156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160283" y="1064172"/>
            <a:ext cx="3861797" cy="777819"/>
            <a:chOff x="0" y="0"/>
            <a:chExt cx="1642825" cy="33088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42825" cy="330888"/>
            </a:xfrm>
            <a:custGeom>
              <a:avLst/>
              <a:gdLst/>
              <a:ahLst/>
              <a:cxnLst/>
              <a:rect r="r" b="b" t="t" l="l"/>
              <a:pathLst>
                <a:path h="330888" w="1642825">
                  <a:moveTo>
                    <a:pt x="44104" y="0"/>
                  </a:moveTo>
                  <a:lnTo>
                    <a:pt x="1598721" y="0"/>
                  </a:lnTo>
                  <a:cubicBezTo>
                    <a:pt x="1610418" y="0"/>
                    <a:pt x="1621636" y="4647"/>
                    <a:pt x="1629908" y="12918"/>
                  </a:cubicBezTo>
                  <a:cubicBezTo>
                    <a:pt x="1638179" y="21189"/>
                    <a:pt x="1642825" y="32407"/>
                    <a:pt x="1642825" y="44104"/>
                  </a:cubicBezTo>
                  <a:lnTo>
                    <a:pt x="1642825" y="286783"/>
                  </a:lnTo>
                  <a:cubicBezTo>
                    <a:pt x="1642825" y="298481"/>
                    <a:pt x="1638179" y="309699"/>
                    <a:pt x="1629908" y="317970"/>
                  </a:cubicBezTo>
                  <a:cubicBezTo>
                    <a:pt x="1621636" y="326241"/>
                    <a:pt x="1610418" y="330888"/>
                    <a:pt x="1598721" y="330888"/>
                  </a:cubicBezTo>
                  <a:lnTo>
                    <a:pt x="44104" y="330888"/>
                  </a:lnTo>
                  <a:cubicBezTo>
                    <a:pt x="19746" y="330888"/>
                    <a:pt x="0" y="311142"/>
                    <a:pt x="0" y="286783"/>
                  </a:cubicBezTo>
                  <a:lnTo>
                    <a:pt x="0" y="44104"/>
                  </a:lnTo>
                  <a:cubicBezTo>
                    <a:pt x="0" y="32407"/>
                    <a:pt x="4647" y="21189"/>
                    <a:pt x="12918" y="12918"/>
                  </a:cubicBezTo>
                  <a:cubicBezTo>
                    <a:pt x="21189" y="4647"/>
                    <a:pt x="32407" y="0"/>
                    <a:pt x="44104" y="0"/>
                  </a:cubicBezTo>
                  <a:close/>
                </a:path>
              </a:pathLst>
            </a:custGeom>
            <a:solidFill>
              <a:srgbClr val="DCE3F1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642825" cy="349938"/>
            </a:xfrm>
            <a:prstGeom prst="rect">
              <a:avLst/>
            </a:prstGeom>
          </p:spPr>
          <p:txBody>
            <a:bodyPr anchor="ctr" rtlCol="false" tIns="29897" lIns="29897" bIns="29897" rIns="29897"/>
            <a:lstStyle/>
            <a:p>
              <a:pPr algn="ctr" marL="0" indent="0" lvl="0">
                <a:lnSpc>
                  <a:spcPts val="156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160283" y="5473209"/>
            <a:ext cx="3861797" cy="777819"/>
            <a:chOff x="0" y="0"/>
            <a:chExt cx="1642825" cy="33088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42825" cy="330888"/>
            </a:xfrm>
            <a:custGeom>
              <a:avLst/>
              <a:gdLst/>
              <a:ahLst/>
              <a:cxnLst/>
              <a:rect r="r" b="b" t="t" l="l"/>
              <a:pathLst>
                <a:path h="330888" w="1642825">
                  <a:moveTo>
                    <a:pt x="44104" y="0"/>
                  </a:moveTo>
                  <a:lnTo>
                    <a:pt x="1598721" y="0"/>
                  </a:lnTo>
                  <a:cubicBezTo>
                    <a:pt x="1610418" y="0"/>
                    <a:pt x="1621636" y="4647"/>
                    <a:pt x="1629908" y="12918"/>
                  </a:cubicBezTo>
                  <a:cubicBezTo>
                    <a:pt x="1638179" y="21189"/>
                    <a:pt x="1642825" y="32407"/>
                    <a:pt x="1642825" y="44104"/>
                  </a:cubicBezTo>
                  <a:lnTo>
                    <a:pt x="1642825" y="286783"/>
                  </a:lnTo>
                  <a:cubicBezTo>
                    <a:pt x="1642825" y="298481"/>
                    <a:pt x="1638179" y="309699"/>
                    <a:pt x="1629908" y="317970"/>
                  </a:cubicBezTo>
                  <a:cubicBezTo>
                    <a:pt x="1621636" y="326241"/>
                    <a:pt x="1610418" y="330888"/>
                    <a:pt x="1598721" y="330888"/>
                  </a:cubicBezTo>
                  <a:lnTo>
                    <a:pt x="44104" y="330888"/>
                  </a:lnTo>
                  <a:cubicBezTo>
                    <a:pt x="19746" y="330888"/>
                    <a:pt x="0" y="311142"/>
                    <a:pt x="0" y="286783"/>
                  </a:cubicBezTo>
                  <a:lnTo>
                    <a:pt x="0" y="44104"/>
                  </a:lnTo>
                  <a:cubicBezTo>
                    <a:pt x="0" y="32407"/>
                    <a:pt x="4647" y="21189"/>
                    <a:pt x="12918" y="12918"/>
                  </a:cubicBezTo>
                  <a:cubicBezTo>
                    <a:pt x="21189" y="4647"/>
                    <a:pt x="32407" y="0"/>
                    <a:pt x="44104" y="0"/>
                  </a:cubicBezTo>
                  <a:close/>
                </a:path>
              </a:pathLst>
            </a:custGeom>
            <a:solidFill>
              <a:srgbClr val="F5F5F5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642825" cy="349938"/>
            </a:xfrm>
            <a:prstGeom prst="rect">
              <a:avLst/>
            </a:prstGeom>
          </p:spPr>
          <p:txBody>
            <a:bodyPr anchor="ctr" rtlCol="false" tIns="29897" lIns="29897" bIns="29897" rIns="29897"/>
            <a:lstStyle/>
            <a:p>
              <a:pPr algn="ctr" marL="0" indent="0" lvl="0">
                <a:lnSpc>
                  <a:spcPts val="1565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4220203" y="366394"/>
            <a:ext cx="1880162" cy="365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STRATEGIES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109188" y="1363010"/>
            <a:ext cx="1736127" cy="38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39"/>
              </a:lnSpc>
              <a:spcBef>
                <a:spcPct val="0"/>
              </a:spcBef>
            </a:pPr>
            <a:r>
              <a:rPr lang="en-US" b="true" sz="10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Tailored Email Campaigns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444888" y="1226124"/>
            <a:ext cx="3292587" cy="56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1"/>
              </a:lnSpc>
            </a:pPr>
            <a:r>
              <a:rPr lang="en-US" sz="843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Create personalized offers for frequent travelers based on their travel habits. Use segmentation to target high-net-worth individuals with luxury packages.</a:t>
            </a:r>
          </a:p>
          <a:p>
            <a:pPr algn="l" marL="0" indent="0" lvl="0">
              <a:lnSpc>
                <a:spcPts val="1181"/>
              </a:lnSpc>
              <a:spcBef>
                <a:spcPct val="0"/>
              </a:spcBef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5444888" y="2332435"/>
            <a:ext cx="3292587" cy="42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81"/>
              </a:lnSpc>
              <a:spcBef>
                <a:spcPct val="0"/>
              </a:spcBef>
            </a:pPr>
            <a:r>
              <a:rPr lang="en-US" sz="843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Collaborate with luxury lifestyle influencers who cater to affluent audiences. Document the seamless travel experience from private jet to luxury car in a series of Instagram stories or YouTube vlogs.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444888" y="4228230"/>
            <a:ext cx="3292587" cy="42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81"/>
              </a:lnSpc>
              <a:spcBef>
                <a:spcPct val="0"/>
              </a:spcBef>
            </a:pPr>
            <a:r>
              <a:rPr lang="en-US" sz="843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Offer a VIP program where members receive early access to promotions on private jets and high-end rentals. A loyalty points system could also encourage repeat business.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339214" y="5552077"/>
            <a:ext cx="3292587" cy="71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1"/>
              </a:lnSpc>
            </a:pPr>
            <a:r>
              <a:rPr lang="en-US" sz="843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Place ads or featured content in high-end travel and lifestyle publications like Condé Nast Traveler, Robb Report, or The Financial Times. Focus on showcasing exclusive experiences, such as the "Jet &amp; Drive" packages.</a:t>
            </a:r>
          </a:p>
          <a:p>
            <a:pPr algn="l" marL="0" indent="0" lvl="0">
              <a:lnSpc>
                <a:spcPts val="1181"/>
              </a:lnSpc>
              <a:spcBef>
                <a:spcPct val="0"/>
              </a:spcBef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3109188" y="2372067"/>
            <a:ext cx="1736127" cy="38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39"/>
              </a:lnSpc>
              <a:spcBef>
                <a:spcPct val="0"/>
              </a:spcBef>
            </a:pPr>
            <a:r>
              <a:rPr lang="en-US" b="true" sz="10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Social Media Influencer Partnerships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109188" y="4267862"/>
            <a:ext cx="1736127" cy="38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39"/>
              </a:lnSpc>
              <a:spcBef>
                <a:spcPct val="0"/>
              </a:spcBef>
            </a:pPr>
            <a:r>
              <a:rPr lang="en-US" b="true" sz="10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Exclusive Membership Programs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2314900" y="832464"/>
            <a:ext cx="794288" cy="596944"/>
            <a:chOff x="0" y="0"/>
            <a:chExt cx="1059050" cy="79592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45721" y="0"/>
              <a:ext cx="845050" cy="795926"/>
            </a:xfrm>
            <a:custGeom>
              <a:avLst/>
              <a:gdLst/>
              <a:ahLst/>
              <a:cxnLst/>
              <a:rect r="r" b="b" t="t" l="l"/>
              <a:pathLst>
                <a:path h="795926" w="845050">
                  <a:moveTo>
                    <a:pt x="0" y="0"/>
                  </a:moveTo>
                  <a:lnTo>
                    <a:pt x="845050" y="0"/>
                  </a:lnTo>
                  <a:lnTo>
                    <a:pt x="845050" y="795926"/>
                  </a:lnTo>
                  <a:lnTo>
                    <a:pt x="0" y="795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137834"/>
              <a:ext cx="1059050" cy="520258"/>
            </a:xfrm>
            <a:custGeom>
              <a:avLst/>
              <a:gdLst/>
              <a:ahLst/>
              <a:cxnLst/>
              <a:rect r="r" b="b" t="t" l="l"/>
              <a:pathLst>
                <a:path h="520258" w="1059050">
                  <a:moveTo>
                    <a:pt x="0" y="0"/>
                  </a:moveTo>
                  <a:lnTo>
                    <a:pt x="1059050" y="0"/>
                  </a:lnTo>
                  <a:lnTo>
                    <a:pt x="1059050" y="520258"/>
                  </a:lnTo>
                  <a:lnTo>
                    <a:pt x="0" y="5202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 rot="0">
              <a:off x="99835" y="194949"/>
              <a:ext cx="859380" cy="3351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1888"/>
                </a:lnSpc>
                <a:spcBef>
                  <a:spcPct val="0"/>
                </a:spcBef>
              </a:pPr>
              <a:r>
                <a:rPr lang="en-US" b="true" sz="1671" u="none">
                  <a:solidFill>
                    <a:srgbClr val="30303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01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314900" y="2037524"/>
            <a:ext cx="794288" cy="596944"/>
            <a:chOff x="0" y="0"/>
            <a:chExt cx="1059050" cy="79592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07000" y="0"/>
              <a:ext cx="845050" cy="795926"/>
            </a:xfrm>
            <a:custGeom>
              <a:avLst/>
              <a:gdLst/>
              <a:ahLst/>
              <a:cxnLst/>
              <a:rect r="r" b="b" t="t" l="l"/>
              <a:pathLst>
                <a:path h="795926" w="845050">
                  <a:moveTo>
                    <a:pt x="0" y="0"/>
                  </a:moveTo>
                  <a:lnTo>
                    <a:pt x="845050" y="0"/>
                  </a:lnTo>
                  <a:lnTo>
                    <a:pt x="845050" y="795926"/>
                  </a:lnTo>
                  <a:lnTo>
                    <a:pt x="0" y="795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129086"/>
              <a:ext cx="1059050" cy="520258"/>
            </a:xfrm>
            <a:custGeom>
              <a:avLst/>
              <a:gdLst/>
              <a:ahLst/>
              <a:cxnLst/>
              <a:rect r="r" b="b" t="t" l="l"/>
              <a:pathLst>
                <a:path h="520258" w="1059050">
                  <a:moveTo>
                    <a:pt x="0" y="0"/>
                  </a:moveTo>
                  <a:lnTo>
                    <a:pt x="1059050" y="0"/>
                  </a:lnTo>
                  <a:lnTo>
                    <a:pt x="1059050" y="520258"/>
                  </a:lnTo>
                  <a:lnTo>
                    <a:pt x="0" y="5202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 rot="0">
              <a:off x="99835" y="186202"/>
              <a:ext cx="859380" cy="3351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1888"/>
                </a:lnSpc>
                <a:spcBef>
                  <a:spcPct val="0"/>
                </a:spcBef>
              </a:pPr>
              <a:r>
                <a:rPr lang="en-US" b="true" sz="1671">
                  <a:solidFill>
                    <a:srgbClr val="30303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02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314900" y="3890396"/>
            <a:ext cx="794288" cy="596944"/>
            <a:chOff x="0" y="0"/>
            <a:chExt cx="1059050" cy="79592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14165" y="0"/>
              <a:ext cx="845050" cy="795926"/>
            </a:xfrm>
            <a:custGeom>
              <a:avLst/>
              <a:gdLst/>
              <a:ahLst/>
              <a:cxnLst/>
              <a:rect r="r" b="b" t="t" l="l"/>
              <a:pathLst>
                <a:path h="795926" w="845050">
                  <a:moveTo>
                    <a:pt x="0" y="0"/>
                  </a:moveTo>
                  <a:lnTo>
                    <a:pt x="845050" y="0"/>
                  </a:lnTo>
                  <a:lnTo>
                    <a:pt x="845050" y="795926"/>
                  </a:lnTo>
                  <a:lnTo>
                    <a:pt x="0" y="795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129214"/>
              <a:ext cx="1059050" cy="520258"/>
            </a:xfrm>
            <a:custGeom>
              <a:avLst/>
              <a:gdLst/>
              <a:ahLst/>
              <a:cxnLst/>
              <a:rect r="r" b="b" t="t" l="l"/>
              <a:pathLst>
                <a:path h="520258" w="1059050">
                  <a:moveTo>
                    <a:pt x="0" y="0"/>
                  </a:moveTo>
                  <a:lnTo>
                    <a:pt x="1059050" y="0"/>
                  </a:lnTo>
                  <a:lnTo>
                    <a:pt x="1059050" y="520258"/>
                  </a:lnTo>
                  <a:lnTo>
                    <a:pt x="0" y="5202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 rot="0">
              <a:off x="99835" y="186329"/>
              <a:ext cx="859380" cy="3351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1888"/>
                </a:lnSpc>
                <a:spcBef>
                  <a:spcPct val="0"/>
                </a:spcBef>
              </a:pPr>
              <a:r>
                <a:rPr lang="en-US" b="true" sz="1671">
                  <a:solidFill>
                    <a:srgbClr val="30303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03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2911081" y="5359043"/>
            <a:ext cx="2117033" cy="891985"/>
            <a:chOff x="0" y="0"/>
            <a:chExt cx="991282" cy="41766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91282" cy="417664"/>
            </a:xfrm>
            <a:custGeom>
              <a:avLst/>
              <a:gdLst/>
              <a:ahLst/>
              <a:cxnLst/>
              <a:rect r="r" b="b" t="t" l="l"/>
              <a:pathLst>
                <a:path h="417664" w="991282">
                  <a:moveTo>
                    <a:pt x="80453" y="0"/>
                  </a:moveTo>
                  <a:lnTo>
                    <a:pt x="910828" y="0"/>
                  </a:lnTo>
                  <a:cubicBezTo>
                    <a:pt x="932166" y="0"/>
                    <a:pt x="952630" y="8476"/>
                    <a:pt x="967717" y="23564"/>
                  </a:cubicBezTo>
                  <a:cubicBezTo>
                    <a:pt x="982805" y="38652"/>
                    <a:pt x="991282" y="59116"/>
                    <a:pt x="991282" y="80453"/>
                  </a:cubicBezTo>
                  <a:lnTo>
                    <a:pt x="991282" y="337211"/>
                  </a:lnTo>
                  <a:cubicBezTo>
                    <a:pt x="991282" y="358548"/>
                    <a:pt x="982805" y="379012"/>
                    <a:pt x="967717" y="394100"/>
                  </a:cubicBezTo>
                  <a:cubicBezTo>
                    <a:pt x="952630" y="409188"/>
                    <a:pt x="932166" y="417664"/>
                    <a:pt x="910828" y="417664"/>
                  </a:cubicBezTo>
                  <a:lnTo>
                    <a:pt x="80453" y="417664"/>
                  </a:lnTo>
                  <a:cubicBezTo>
                    <a:pt x="59116" y="417664"/>
                    <a:pt x="38652" y="409188"/>
                    <a:pt x="23564" y="394100"/>
                  </a:cubicBezTo>
                  <a:cubicBezTo>
                    <a:pt x="8476" y="379012"/>
                    <a:pt x="0" y="358548"/>
                    <a:pt x="0" y="337211"/>
                  </a:cubicBezTo>
                  <a:lnTo>
                    <a:pt x="0" y="80453"/>
                  </a:lnTo>
                  <a:cubicBezTo>
                    <a:pt x="0" y="59116"/>
                    <a:pt x="8476" y="38652"/>
                    <a:pt x="23564" y="23564"/>
                  </a:cubicBezTo>
                  <a:cubicBezTo>
                    <a:pt x="38652" y="8476"/>
                    <a:pt x="59116" y="0"/>
                    <a:pt x="80453" y="0"/>
                  </a:cubicBezTo>
                  <a:close/>
                </a:path>
              </a:pathLst>
            </a:custGeom>
            <a:solidFill>
              <a:srgbClr val="C6DCC3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991282" cy="436714"/>
            </a:xfrm>
            <a:prstGeom prst="rect">
              <a:avLst/>
            </a:prstGeom>
          </p:spPr>
          <p:txBody>
            <a:bodyPr anchor="ctr" rtlCol="false" tIns="29897" lIns="29897" bIns="29897" rIns="29897"/>
            <a:lstStyle/>
            <a:p>
              <a:pPr algn="ctr" marL="0" indent="0" lvl="0">
                <a:lnSpc>
                  <a:spcPts val="156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2314900" y="5272655"/>
            <a:ext cx="794288" cy="596944"/>
            <a:chOff x="0" y="0"/>
            <a:chExt cx="1059050" cy="79592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14165" y="0"/>
              <a:ext cx="845050" cy="795926"/>
            </a:xfrm>
            <a:custGeom>
              <a:avLst/>
              <a:gdLst/>
              <a:ahLst/>
              <a:cxnLst/>
              <a:rect r="r" b="b" t="t" l="l"/>
              <a:pathLst>
                <a:path h="795926" w="845050">
                  <a:moveTo>
                    <a:pt x="0" y="0"/>
                  </a:moveTo>
                  <a:lnTo>
                    <a:pt x="845050" y="0"/>
                  </a:lnTo>
                  <a:lnTo>
                    <a:pt x="845050" y="795926"/>
                  </a:lnTo>
                  <a:lnTo>
                    <a:pt x="0" y="795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129214"/>
              <a:ext cx="1059050" cy="520258"/>
            </a:xfrm>
            <a:custGeom>
              <a:avLst/>
              <a:gdLst/>
              <a:ahLst/>
              <a:cxnLst/>
              <a:rect r="r" b="b" t="t" l="l"/>
              <a:pathLst>
                <a:path h="520258" w="1059050">
                  <a:moveTo>
                    <a:pt x="0" y="0"/>
                  </a:moveTo>
                  <a:lnTo>
                    <a:pt x="1059050" y="0"/>
                  </a:lnTo>
                  <a:lnTo>
                    <a:pt x="1059050" y="520258"/>
                  </a:lnTo>
                  <a:lnTo>
                    <a:pt x="0" y="5202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 rot="0">
              <a:off x="99835" y="186329"/>
              <a:ext cx="859380" cy="3351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1888"/>
                </a:lnSpc>
                <a:spcBef>
                  <a:spcPct val="0"/>
                </a:spcBef>
              </a:pPr>
              <a:r>
                <a:rPr lang="en-US" b="true" sz="1671">
                  <a:solidFill>
                    <a:srgbClr val="30303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04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3101534" y="5618372"/>
            <a:ext cx="1736127" cy="38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39"/>
              </a:lnSpc>
              <a:spcBef>
                <a:spcPct val="0"/>
              </a:spcBef>
            </a:pPr>
            <a:r>
              <a:rPr lang="en-US" b="true" sz="10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Luxury Lifestyle Magazines &amp; Websites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08470" y="3111037"/>
            <a:ext cx="1880162" cy="365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MARKETING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557134" y="1283152"/>
            <a:ext cx="4011370" cy="4011370"/>
          </a:xfrm>
          <a:custGeom>
            <a:avLst/>
            <a:gdLst/>
            <a:ahLst/>
            <a:cxnLst/>
            <a:rect r="r" b="b" t="t" l="l"/>
            <a:pathLst>
              <a:path h="4011370" w="4011370">
                <a:moveTo>
                  <a:pt x="0" y="0"/>
                </a:moveTo>
                <a:lnTo>
                  <a:pt x="4011370" y="0"/>
                </a:lnTo>
                <a:lnTo>
                  <a:pt x="4011370" y="4011370"/>
                </a:lnTo>
                <a:lnTo>
                  <a:pt x="0" y="40113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918735" y="1064172"/>
            <a:ext cx="2117033" cy="777819"/>
            <a:chOff x="0" y="0"/>
            <a:chExt cx="991282" cy="36420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91282" cy="364207"/>
            </a:xfrm>
            <a:custGeom>
              <a:avLst/>
              <a:gdLst/>
              <a:ahLst/>
              <a:cxnLst/>
              <a:rect r="r" b="b" t="t" l="l"/>
              <a:pathLst>
                <a:path h="364207" w="991282">
                  <a:moveTo>
                    <a:pt x="80453" y="0"/>
                  </a:moveTo>
                  <a:lnTo>
                    <a:pt x="910828" y="0"/>
                  </a:lnTo>
                  <a:cubicBezTo>
                    <a:pt x="932166" y="0"/>
                    <a:pt x="952630" y="8476"/>
                    <a:pt x="967717" y="23564"/>
                  </a:cubicBezTo>
                  <a:cubicBezTo>
                    <a:pt x="982805" y="38652"/>
                    <a:pt x="991282" y="59116"/>
                    <a:pt x="991282" y="80453"/>
                  </a:cubicBezTo>
                  <a:lnTo>
                    <a:pt x="991282" y="283754"/>
                  </a:lnTo>
                  <a:cubicBezTo>
                    <a:pt x="991282" y="305091"/>
                    <a:pt x="982805" y="325555"/>
                    <a:pt x="967717" y="340643"/>
                  </a:cubicBezTo>
                  <a:cubicBezTo>
                    <a:pt x="952630" y="355731"/>
                    <a:pt x="932166" y="364207"/>
                    <a:pt x="910828" y="364207"/>
                  </a:cubicBezTo>
                  <a:lnTo>
                    <a:pt x="80453" y="364207"/>
                  </a:lnTo>
                  <a:cubicBezTo>
                    <a:pt x="59116" y="364207"/>
                    <a:pt x="38652" y="355731"/>
                    <a:pt x="23564" y="340643"/>
                  </a:cubicBezTo>
                  <a:cubicBezTo>
                    <a:pt x="8476" y="325555"/>
                    <a:pt x="0" y="305091"/>
                    <a:pt x="0" y="283754"/>
                  </a:cubicBezTo>
                  <a:lnTo>
                    <a:pt x="0" y="80453"/>
                  </a:lnTo>
                  <a:cubicBezTo>
                    <a:pt x="0" y="59116"/>
                    <a:pt x="8476" y="38652"/>
                    <a:pt x="23564" y="23564"/>
                  </a:cubicBezTo>
                  <a:cubicBezTo>
                    <a:pt x="38652" y="8476"/>
                    <a:pt x="59116" y="0"/>
                    <a:pt x="80453" y="0"/>
                  </a:cubicBezTo>
                  <a:close/>
                </a:path>
              </a:pathLst>
            </a:custGeom>
            <a:solidFill>
              <a:srgbClr val="85A1C4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991282" cy="383257"/>
            </a:xfrm>
            <a:prstGeom prst="rect">
              <a:avLst/>
            </a:prstGeom>
          </p:spPr>
          <p:txBody>
            <a:bodyPr anchor="ctr" rtlCol="false" tIns="29897" lIns="29897" bIns="29897" rIns="29897"/>
            <a:lstStyle/>
            <a:p>
              <a:pPr algn="ctr" marL="0" indent="0" lvl="0">
                <a:lnSpc>
                  <a:spcPts val="156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911081" y="2170482"/>
            <a:ext cx="2117033" cy="829063"/>
            <a:chOff x="0" y="0"/>
            <a:chExt cx="991282" cy="3882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91282" cy="388201"/>
            </a:xfrm>
            <a:custGeom>
              <a:avLst/>
              <a:gdLst/>
              <a:ahLst/>
              <a:cxnLst/>
              <a:rect r="r" b="b" t="t" l="l"/>
              <a:pathLst>
                <a:path h="388201" w="991282">
                  <a:moveTo>
                    <a:pt x="80453" y="0"/>
                  </a:moveTo>
                  <a:lnTo>
                    <a:pt x="910828" y="0"/>
                  </a:lnTo>
                  <a:cubicBezTo>
                    <a:pt x="932166" y="0"/>
                    <a:pt x="952630" y="8476"/>
                    <a:pt x="967717" y="23564"/>
                  </a:cubicBezTo>
                  <a:cubicBezTo>
                    <a:pt x="982805" y="38652"/>
                    <a:pt x="991282" y="59116"/>
                    <a:pt x="991282" y="80453"/>
                  </a:cubicBezTo>
                  <a:lnTo>
                    <a:pt x="991282" y="307748"/>
                  </a:lnTo>
                  <a:cubicBezTo>
                    <a:pt x="991282" y="329085"/>
                    <a:pt x="982805" y="349549"/>
                    <a:pt x="967717" y="364637"/>
                  </a:cubicBezTo>
                  <a:cubicBezTo>
                    <a:pt x="952630" y="379725"/>
                    <a:pt x="932166" y="388201"/>
                    <a:pt x="910828" y="388201"/>
                  </a:cubicBezTo>
                  <a:lnTo>
                    <a:pt x="80453" y="388201"/>
                  </a:lnTo>
                  <a:cubicBezTo>
                    <a:pt x="59116" y="388201"/>
                    <a:pt x="38652" y="379725"/>
                    <a:pt x="23564" y="364637"/>
                  </a:cubicBezTo>
                  <a:cubicBezTo>
                    <a:pt x="8476" y="349549"/>
                    <a:pt x="0" y="329085"/>
                    <a:pt x="0" y="307748"/>
                  </a:cubicBezTo>
                  <a:lnTo>
                    <a:pt x="0" y="80453"/>
                  </a:lnTo>
                  <a:cubicBezTo>
                    <a:pt x="0" y="59116"/>
                    <a:pt x="8476" y="38652"/>
                    <a:pt x="23564" y="23564"/>
                  </a:cubicBezTo>
                  <a:cubicBezTo>
                    <a:pt x="38652" y="8476"/>
                    <a:pt x="59116" y="0"/>
                    <a:pt x="80453" y="0"/>
                  </a:cubicBezTo>
                  <a:close/>
                </a:path>
              </a:pathLst>
            </a:custGeom>
            <a:solidFill>
              <a:srgbClr val="BBC8E1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991282" cy="407251"/>
            </a:xfrm>
            <a:prstGeom prst="rect">
              <a:avLst/>
            </a:prstGeom>
          </p:spPr>
          <p:txBody>
            <a:bodyPr anchor="ctr" rtlCol="false" tIns="29897" lIns="29897" bIns="29897" rIns="29897"/>
            <a:lstStyle/>
            <a:p>
              <a:pPr algn="ctr" marL="0" indent="0" lvl="0">
                <a:lnSpc>
                  <a:spcPts val="156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911081" y="4009195"/>
            <a:ext cx="2117033" cy="891985"/>
            <a:chOff x="0" y="0"/>
            <a:chExt cx="991282" cy="4176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91282" cy="417664"/>
            </a:xfrm>
            <a:custGeom>
              <a:avLst/>
              <a:gdLst/>
              <a:ahLst/>
              <a:cxnLst/>
              <a:rect r="r" b="b" t="t" l="l"/>
              <a:pathLst>
                <a:path h="417664" w="991282">
                  <a:moveTo>
                    <a:pt x="80453" y="0"/>
                  </a:moveTo>
                  <a:lnTo>
                    <a:pt x="910828" y="0"/>
                  </a:lnTo>
                  <a:cubicBezTo>
                    <a:pt x="932166" y="0"/>
                    <a:pt x="952630" y="8476"/>
                    <a:pt x="967717" y="23564"/>
                  </a:cubicBezTo>
                  <a:cubicBezTo>
                    <a:pt x="982805" y="38652"/>
                    <a:pt x="991282" y="59116"/>
                    <a:pt x="991282" y="80453"/>
                  </a:cubicBezTo>
                  <a:lnTo>
                    <a:pt x="991282" y="337211"/>
                  </a:lnTo>
                  <a:cubicBezTo>
                    <a:pt x="991282" y="358548"/>
                    <a:pt x="982805" y="379012"/>
                    <a:pt x="967717" y="394100"/>
                  </a:cubicBezTo>
                  <a:cubicBezTo>
                    <a:pt x="952630" y="409188"/>
                    <a:pt x="932166" y="417664"/>
                    <a:pt x="910828" y="417664"/>
                  </a:cubicBezTo>
                  <a:lnTo>
                    <a:pt x="80453" y="417664"/>
                  </a:lnTo>
                  <a:cubicBezTo>
                    <a:pt x="59116" y="417664"/>
                    <a:pt x="38652" y="409188"/>
                    <a:pt x="23564" y="394100"/>
                  </a:cubicBezTo>
                  <a:cubicBezTo>
                    <a:pt x="8476" y="379012"/>
                    <a:pt x="0" y="358548"/>
                    <a:pt x="0" y="337211"/>
                  </a:cubicBezTo>
                  <a:lnTo>
                    <a:pt x="0" y="80453"/>
                  </a:lnTo>
                  <a:cubicBezTo>
                    <a:pt x="0" y="59116"/>
                    <a:pt x="8476" y="38652"/>
                    <a:pt x="23564" y="23564"/>
                  </a:cubicBezTo>
                  <a:cubicBezTo>
                    <a:pt x="38652" y="8476"/>
                    <a:pt x="59116" y="0"/>
                    <a:pt x="80453" y="0"/>
                  </a:cubicBezTo>
                  <a:close/>
                </a:path>
              </a:pathLst>
            </a:custGeom>
            <a:solidFill>
              <a:srgbClr val="CCC4E0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991282" cy="436714"/>
            </a:xfrm>
            <a:prstGeom prst="rect">
              <a:avLst/>
            </a:prstGeom>
          </p:spPr>
          <p:txBody>
            <a:bodyPr anchor="ctr" rtlCol="false" tIns="29897" lIns="29897" bIns="29897" rIns="29897"/>
            <a:lstStyle/>
            <a:p>
              <a:pPr algn="ctr" marL="0" indent="0" lvl="0">
                <a:lnSpc>
                  <a:spcPts val="156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160283" y="4066278"/>
            <a:ext cx="3861797" cy="777819"/>
            <a:chOff x="0" y="0"/>
            <a:chExt cx="1642825" cy="3308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42825" cy="330888"/>
            </a:xfrm>
            <a:custGeom>
              <a:avLst/>
              <a:gdLst/>
              <a:ahLst/>
              <a:cxnLst/>
              <a:rect r="r" b="b" t="t" l="l"/>
              <a:pathLst>
                <a:path h="330888" w="1642825">
                  <a:moveTo>
                    <a:pt x="44104" y="0"/>
                  </a:moveTo>
                  <a:lnTo>
                    <a:pt x="1598721" y="0"/>
                  </a:lnTo>
                  <a:cubicBezTo>
                    <a:pt x="1610418" y="0"/>
                    <a:pt x="1621636" y="4647"/>
                    <a:pt x="1629908" y="12918"/>
                  </a:cubicBezTo>
                  <a:cubicBezTo>
                    <a:pt x="1638179" y="21189"/>
                    <a:pt x="1642825" y="32407"/>
                    <a:pt x="1642825" y="44104"/>
                  </a:cubicBezTo>
                  <a:lnTo>
                    <a:pt x="1642825" y="286783"/>
                  </a:lnTo>
                  <a:cubicBezTo>
                    <a:pt x="1642825" y="298481"/>
                    <a:pt x="1638179" y="309699"/>
                    <a:pt x="1629908" y="317970"/>
                  </a:cubicBezTo>
                  <a:cubicBezTo>
                    <a:pt x="1621636" y="326241"/>
                    <a:pt x="1610418" y="330888"/>
                    <a:pt x="1598721" y="330888"/>
                  </a:cubicBezTo>
                  <a:lnTo>
                    <a:pt x="44104" y="330888"/>
                  </a:lnTo>
                  <a:cubicBezTo>
                    <a:pt x="19746" y="330888"/>
                    <a:pt x="0" y="311142"/>
                    <a:pt x="0" y="286783"/>
                  </a:cubicBezTo>
                  <a:lnTo>
                    <a:pt x="0" y="44104"/>
                  </a:lnTo>
                  <a:cubicBezTo>
                    <a:pt x="0" y="32407"/>
                    <a:pt x="4647" y="21189"/>
                    <a:pt x="12918" y="12918"/>
                  </a:cubicBezTo>
                  <a:cubicBezTo>
                    <a:pt x="21189" y="4647"/>
                    <a:pt x="32407" y="0"/>
                    <a:pt x="44104" y="0"/>
                  </a:cubicBezTo>
                  <a:close/>
                </a:path>
              </a:pathLst>
            </a:custGeom>
            <a:solidFill>
              <a:srgbClr val="F9F4F9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642825" cy="349938"/>
            </a:xfrm>
            <a:prstGeom prst="rect">
              <a:avLst/>
            </a:prstGeom>
          </p:spPr>
          <p:txBody>
            <a:bodyPr anchor="ctr" rtlCol="false" tIns="29897" lIns="29897" bIns="29897" rIns="29897"/>
            <a:lstStyle/>
            <a:p>
              <a:pPr algn="ctr" marL="0" indent="0" lvl="0">
                <a:lnSpc>
                  <a:spcPts val="156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160283" y="2170482"/>
            <a:ext cx="3861797" cy="777819"/>
            <a:chOff x="0" y="0"/>
            <a:chExt cx="1642825" cy="3308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42825" cy="330888"/>
            </a:xfrm>
            <a:custGeom>
              <a:avLst/>
              <a:gdLst/>
              <a:ahLst/>
              <a:cxnLst/>
              <a:rect r="r" b="b" t="t" l="l"/>
              <a:pathLst>
                <a:path h="330888" w="1642825">
                  <a:moveTo>
                    <a:pt x="44104" y="0"/>
                  </a:moveTo>
                  <a:lnTo>
                    <a:pt x="1598721" y="0"/>
                  </a:lnTo>
                  <a:cubicBezTo>
                    <a:pt x="1610418" y="0"/>
                    <a:pt x="1621636" y="4647"/>
                    <a:pt x="1629908" y="12918"/>
                  </a:cubicBezTo>
                  <a:cubicBezTo>
                    <a:pt x="1638179" y="21189"/>
                    <a:pt x="1642825" y="32407"/>
                    <a:pt x="1642825" y="44104"/>
                  </a:cubicBezTo>
                  <a:lnTo>
                    <a:pt x="1642825" y="286783"/>
                  </a:lnTo>
                  <a:cubicBezTo>
                    <a:pt x="1642825" y="298481"/>
                    <a:pt x="1638179" y="309699"/>
                    <a:pt x="1629908" y="317970"/>
                  </a:cubicBezTo>
                  <a:cubicBezTo>
                    <a:pt x="1621636" y="326241"/>
                    <a:pt x="1610418" y="330888"/>
                    <a:pt x="1598721" y="330888"/>
                  </a:cubicBezTo>
                  <a:lnTo>
                    <a:pt x="44104" y="330888"/>
                  </a:lnTo>
                  <a:cubicBezTo>
                    <a:pt x="19746" y="330888"/>
                    <a:pt x="0" y="311142"/>
                    <a:pt x="0" y="286783"/>
                  </a:cubicBezTo>
                  <a:lnTo>
                    <a:pt x="0" y="44104"/>
                  </a:lnTo>
                  <a:cubicBezTo>
                    <a:pt x="0" y="32407"/>
                    <a:pt x="4647" y="21189"/>
                    <a:pt x="12918" y="12918"/>
                  </a:cubicBezTo>
                  <a:cubicBezTo>
                    <a:pt x="21189" y="4647"/>
                    <a:pt x="32407" y="0"/>
                    <a:pt x="44104" y="0"/>
                  </a:cubicBezTo>
                  <a:close/>
                </a:path>
              </a:pathLst>
            </a:custGeom>
            <a:solidFill>
              <a:srgbClr val="ECDDE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642825" cy="349938"/>
            </a:xfrm>
            <a:prstGeom prst="rect">
              <a:avLst/>
            </a:prstGeom>
          </p:spPr>
          <p:txBody>
            <a:bodyPr anchor="ctr" rtlCol="false" tIns="29897" lIns="29897" bIns="29897" rIns="29897"/>
            <a:lstStyle/>
            <a:p>
              <a:pPr algn="ctr" marL="0" indent="0" lvl="0">
                <a:lnSpc>
                  <a:spcPts val="156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160283" y="1064172"/>
            <a:ext cx="3861797" cy="777819"/>
            <a:chOff x="0" y="0"/>
            <a:chExt cx="1642825" cy="33088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42825" cy="330888"/>
            </a:xfrm>
            <a:custGeom>
              <a:avLst/>
              <a:gdLst/>
              <a:ahLst/>
              <a:cxnLst/>
              <a:rect r="r" b="b" t="t" l="l"/>
              <a:pathLst>
                <a:path h="330888" w="1642825">
                  <a:moveTo>
                    <a:pt x="44104" y="0"/>
                  </a:moveTo>
                  <a:lnTo>
                    <a:pt x="1598721" y="0"/>
                  </a:lnTo>
                  <a:cubicBezTo>
                    <a:pt x="1610418" y="0"/>
                    <a:pt x="1621636" y="4647"/>
                    <a:pt x="1629908" y="12918"/>
                  </a:cubicBezTo>
                  <a:cubicBezTo>
                    <a:pt x="1638179" y="21189"/>
                    <a:pt x="1642825" y="32407"/>
                    <a:pt x="1642825" y="44104"/>
                  </a:cubicBezTo>
                  <a:lnTo>
                    <a:pt x="1642825" y="286783"/>
                  </a:lnTo>
                  <a:cubicBezTo>
                    <a:pt x="1642825" y="298481"/>
                    <a:pt x="1638179" y="309699"/>
                    <a:pt x="1629908" y="317970"/>
                  </a:cubicBezTo>
                  <a:cubicBezTo>
                    <a:pt x="1621636" y="326241"/>
                    <a:pt x="1610418" y="330888"/>
                    <a:pt x="1598721" y="330888"/>
                  </a:cubicBezTo>
                  <a:lnTo>
                    <a:pt x="44104" y="330888"/>
                  </a:lnTo>
                  <a:cubicBezTo>
                    <a:pt x="19746" y="330888"/>
                    <a:pt x="0" y="311142"/>
                    <a:pt x="0" y="286783"/>
                  </a:cubicBezTo>
                  <a:lnTo>
                    <a:pt x="0" y="44104"/>
                  </a:lnTo>
                  <a:cubicBezTo>
                    <a:pt x="0" y="32407"/>
                    <a:pt x="4647" y="21189"/>
                    <a:pt x="12918" y="12918"/>
                  </a:cubicBezTo>
                  <a:cubicBezTo>
                    <a:pt x="21189" y="4647"/>
                    <a:pt x="32407" y="0"/>
                    <a:pt x="44104" y="0"/>
                  </a:cubicBezTo>
                  <a:close/>
                </a:path>
              </a:pathLst>
            </a:custGeom>
            <a:solidFill>
              <a:srgbClr val="DCE3F1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642825" cy="349938"/>
            </a:xfrm>
            <a:prstGeom prst="rect">
              <a:avLst/>
            </a:prstGeom>
          </p:spPr>
          <p:txBody>
            <a:bodyPr anchor="ctr" rtlCol="false" tIns="29897" lIns="29897" bIns="29897" rIns="29897"/>
            <a:lstStyle/>
            <a:p>
              <a:pPr algn="ctr" marL="0" indent="0" lvl="0">
                <a:lnSpc>
                  <a:spcPts val="156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160283" y="5473209"/>
            <a:ext cx="3861797" cy="777819"/>
            <a:chOff x="0" y="0"/>
            <a:chExt cx="1642825" cy="33088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42825" cy="330888"/>
            </a:xfrm>
            <a:custGeom>
              <a:avLst/>
              <a:gdLst/>
              <a:ahLst/>
              <a:cxnLst/>
              <a:rect r="r" b="b" t="t" l="l"/>
              <a:pathLst>
                <a:path h="330888" w="1642825">
                  <a:moveTo>
                    <a:pt x="44104" y="0"/>
                  </a:moveTo>
                  <a:lnTo>
                    <a:pt x="1598721" y="0"/>
                  </a:lnTo>
                  <a:cubicBezTo>
                    <a:pt x="1610418" y="0"/>
                    <a:pt x="1621636" y="4647"/>
                    <a:pt x="1629908" y="12918"/>
                  </a:cubicBezTo>
                  <a:cubicBezTo>
                    <a:pt x="1638179" y="21189"/>
                    <a:pt x="1642825" y="32407"/>
                    <a:pt x="1642825" y="44104"/>
                  </a:cubicBezTo>
                  <a:lnTo>
                    <a:pt x="1642825" y="286783"/>
                  </a:lnTo>
                  <a:cubicBezTo>
                    <a:pt x="1642825" y="298481"/>
                    <a:pt x="1638179" y="309699"/>
                    <a:pt x="1629908" y="317970"/>
                  </a:cubicBezTo>
                  <a:cubicBezTo>
                    <a:pt x="1621636" y="326241"/>
                    <a:pt x="1610418" y="330888"/>
                    <a:pt x="1598721" y="330888"/>
                  </a:cubicBezTo>
                  <a:lnTo>
                    <a:pt x="44104" y="330888"/>
                  </a:lnTo>
                  <a:cubicBezTo>
                    <a:pt x="19746" y="330888"/>
                    <a:pt x="0" y="311142"/>
                    <a:pt x="0" y="286783"/>
                  </a:cubicBezTo>
                  <a:lnTo>
                    <a:pt x="0" y="44104"/>
                  </a:lnTo>
                  <a:cubicBezTo>
                    <a:pt x="0" y="32407"/>
                    <a:pt x="4647" y="21189"/>
                    <a:pt x="12918" y="12918"/>
                  </a:cubicBezTo>
                  <a:cubicBezTo>
                    <a:pt x="21189" y="4647"/>
                    <a:pt x="32407" y="0"/>
                    <a:pt x="44104" y="0"/>
                  </a:cubicBezTo>
                  <a:close/>
                </a:path>
              </a:pathLst>
            </a:custGeom>
            <a:solidFill>
              <a:srgbClr val="F5F5F5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642825" cy="349938"/>
            </a:xfrm>
            <a:prstGeom prst="rect">
              <a:avLst/>
            </a:prstGeom>
          </p:spPr>
          <p:txBody>
            <a:bodyPr anchor="ctr" rtlCol="false" tIns="29897" lIns="29897" bIns="29897" rIns="29897"/>
            <a:lstStyle/>
            <a:p>
              <a:pPr algn="ctr" marL="0" indent="0" lvl="0">
                <a:lnSpc>
                  <a:spcPts val="1565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4220203" y="366394"/>
            <a:ext cx="1880162" cy="365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STRATEGIES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109188" y="1363010"/>
            <a:ext cx="1736127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39"/>
              </a:lnSpc>
              <a:spcBef>
                <a:spcPct val="0"/>
              </a:spcBef>
            </a:pPr>
            <a:r>
              <a:rPr lang="en-US" b="true" sz="10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Private Jet Companies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444888" y="1130022"/>
            <a:ext cx="3292587" cy="71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1"/>
              </a:lnSpc>
            </a:pPr>
            <a:r>
              <a:rPr lang="en-US" sz="843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Partner with elite private jet services like NetJets or VistaJet to offer bundled deals that include car rentals, exclusive airport lounges, and concierge services. You could cross-promote each other’s services in brochures and on digital platforms.</a:t>
            </a:r>
          </a:p>
          <a:p>
            <a:pPr algn="l" marL="0" indent="0" lvl="0">
              <a:lnSpc>
                <a:spcPts val="1181"/>
              </a:lnSpc>
              <a:spcBef>
                <a:spcPct val="0"/>
              </a:spcBef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5444888" y="2269127"/>
            <a:ext cx="3292587" cy="56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81"/>
              </a:lnSpc>
              <a:spcBef>
                <a:spcPct val="0"/>
              </a:spcBef>
            </a:pPr>
            <a:r>
              <a:rPr lang="en-US" sz="843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Partner with luxury hotels such as the Four Seasons or Ritz-Carlton to offer bundled deals, where guests receive a luxury car rental along with their room booking, or even a VIP airport transfer directly to the hotel.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444888" y="4121831"/>
            <a:ext cx="3292587" cy="71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1"/>
              </a:lnSpc>
            </a:pPr>
            <a:r>
              <a:rPr lang="en-US" sz="843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Connect with luxury event organizers like the Formula 1 or the Oscars to offer exclusive access to their events as part of the package. Customers could receive VIP tickets, private parking, and luxury transport.</a:t>
            </a:r>
          </a:p>
          <a:p>
            <a:pPr algn="l" marL="0" indent="0" lvl="0">
              <a:lnSpc>
                <a:spcPts val="1181"/>
              </a:lnSpc>
              <a:spcBef>
                <a:spcPct val="0"/>
              </a:spcBef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5444888" y="5552077"/>
            <a:ext cx="3292587" cy="71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1"/>
              </a:lnSpc>
            </a:pPr>
            <a:r>
              <a:rPr lang="en-US" sz="843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Develop partnerships with brands like Bentley, Rolls-Royce, or Aston Martin for limited-time car rental offers exclusively for premium passengers, and use these partnerships as marketing tools to attract high-end customers</a:t>
            </a:r>
          </a:p>
          <a:p>
            <a:pPr algn="l" marL="0" indent="0" lvl="0">
              <a:lnSpc>
                <a:spcPts val="1181"/>
              </a:lnSpc>
              <a:spcBef>
                <a:spcPct val="0"/>
              </a:spcBef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3109188" y="2372067"/>
            <a:ext cx="1736127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39"/>
              </a:lnSpc>
              <a:spcBef>
                <a:spcPct val="0"/>
              </a:spcBef>
            </a:pPr>
            <a:r>
              <a:rPr lang="en-US" b="true" sz="10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Luxury Hotel Chains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109188" y="4267862"/>
            <a:ext cx="1736127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39"/>
              </a:lnSpc>
              <a:spcBef>
                <a:spcPct val="0"/>
              </a:spcBef>
            </a:pPr>
            <a:r>
              <a:rPr lang="en-US" b="true" sz="10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VIP Event Partnerships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2314900" y="832464"/>
            <a:ext cx="794288" cy="596944"/>
            <a:chOff x="0" y="0"/>
            <a:chExt cx="1059050" cy="79592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45721" y="0"/>
              <a:ext cx="845050" cy="795926"/>
            </a:xfrm>
            <a:custGeom>
              <a:avLst/>
              <a:gdLst/>
              <a:ahLst/>
              <a:cxnLst/>
              <a:rect r="r" b="b" t="t" l="l"/>
              <a:pathLst>
                <a:path h="795926" w="845050">
                  <a:moveTo>
                    <a:pt x="0" y="0"/>
                  </a:moveTo>
                  <a:lnTo>
                    <a:pt x="845050" y="0"/>
                  </a:lnTo>
                  <a:lnTo>
                    <a:pt x="845050" y="795926"/>
                  </a:lnTo>
                  <a:lnTo>
                    <a:pt x="0" y="795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137834"/>
              <a:ext cx="1059050" cy="520258"/>
            </a:xfrm>
            <a:custGeom>
              <a:avLst/>
              <a:gdLst/>
              <a:ahLst/>
              <a:cxnLst/>
              <a:rect r="r" b="b" t="t" l="l"/>
              <a:pathLst>
                <a:path h="520258" w="1059050">
                  <a:moveTo>
                    <a:pt x="0" y="0"/>
                  </a:moveTo>
                  <a:lnTo>
                    <a:pt x="1059050" y="0"/>
                  </a:lnTo>
                  <a:lnTo>
                    <a:pt x="1059050" y="520258"/>
                  </a:lnTo>
                  <a:lnTo>
                    <a:pt x="0" y="5202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 rot="0">
              <a:off x="99835" y="194949"/>
              <a:ext cx="859380" cy="3351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1888"/>
                </a:lnSpc>
                <a:spcBef>
                  <a:spcPct val="0"/>
                </a:spcBef>
              </a:pPr>
              <a:r>
                <a:rPr lang="en-US" b="true" sz="1671" u="none">
                  <a:solidFill>
                    <a:srgbClr val="30303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01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314900" y="2037524"/>
            <a:ext cx="794288" cy="596944"/>
            <a:chOff x="0" y="0"/>
            <a:chExt cx="1059050" cy="79592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07000" y="0"/>
              <a:ext cx="845050" cy="795926"/>
            </a:xfrm>
            <a:custGeom>
              <a:avLst/>
              <a:gdLst/>
              <a:ahLst/>
              <a:cxnLst/>
              <a:rect r="r" b="b" t="t" l="l"/>
              <a:pathLst>
                <a:path h="795926" w="845050">
                  <a:moveTo>
                    <a:pt x="0" y="0"/>
                  </a:moveTo>
                  <a:lnTo>
                    <a:pt x="845050" y="0"/>
                  </a:lnTo>
                  <a:lnTo>
                    <a:pt x="845050" y="795926"/>
                  </a:lnTo>
                  <a:lnTo>
                    <a:pt x="0" y="795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129086"/>
              <a:ext cx="1059050" cy="520258"/>
            </a:xfrm>
            <a:custGeom>
              <a:avLst/>
              <a:gdLst/>
              <a:ahLst/>
              <a:cxnLst/>
              <a:rect r="r" b="b" t="t" l="l"/>
              <a:pathLst>
                <a:path h="520258" w="1059050">
                  <a:moveTo>
                    <a:pt x="0" y="0"/>
                  </a:moveTo>
                  <a:lnTo>
                    <a:pt x="1059050" y="0"/>
                  </a:lnTo>
                  <a:lnTo>
                    <a:pt x="1059050" y="520258"/>
                  </a:lnTo>
                  <a:lnTo>
                    <a:pt x="0" y="5202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 rot="0">
              <a:off x="99835" y="186202"/>
              <a:ext cx="859380" cy="3351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1888"/>
                </a:lnSpc>
                <a:spcBef>
                  <a:spcPct val="0"/>
                </a:spcBef>
              </a:pPr>
              <a:r>
                <a:rPr lang="en-US" b="true" sz="1671">
                  <a:solidFill>
                    <a:srgbClr val="30303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02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314900" y="3890396"/>
            <a:ext cx="794288" cy="596944"/>
            <a:chOff x="0" y="0"/>
            <a:chExt cx="1059050" cy="79592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14165" y="0"/>
              <a:ext cx="845050" cy="795926"/>
            </a:xfrm>
            <a:custGeom>
              <a:avLst/>
              <a:gdLst/>
              <a:ahLst/>
              <a:cxnLst/>
              <a:rect r="r" b="b" t="t" l="l"/>
              <a:pathLst>
                <a:path h="795926" w="845050">
                  <a:moveTo>
                    <a:pt x="0" y="0"/>
                  </a:moveTo>
                  <a:lnTo>
                    <a:pt x="845050" y="0"/>
                  </a:lnTo>
                  <a:lnTo>
                    <a:pt x="845050" y="795926"/>
                  </a:lnTo>
                  <a:lnTo>
                    <a:pt x="0" y="795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129214"/>
              <a:ext cx="1059050" cy="520258"/>
            </a:xfrm>
            <a:custGeom>
              <a:avLst/>
              <a:gdLst/>
              <a:ahLst/>
              <a:cxnLst/>
              <a:rect r="r" b="b" t="t" l="l"/>
              <a:pathLst>
                <a:path h="520258" w="1059050">
                  <a:moveTo>
                    <a:pt x="0" y="0"/>
                  </a:moveTo>
                  <a:lnTo>
                    <a:pt x="1059050" y="0"/>
                  </a:lnTo>
                  <a:lnTo>
                    <a:pt x="1059050" y="520258"/>
                  </a:lnTo>
                  <a:lnTo>
                    <a:pt x="0" y="5202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 rot="0">
              <a:off x="99835" y="186329"/>
              <a:ext cx="859380" cy="3351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1888"/>
                </a:lnSpc>
                <a:spcBef>
                  <a:spcPct val="0"/>
                </a:spcBef>
              </a:pPr>
              <a:r>
                <a:rPr lang="en-US" b="true" sz="1671">
                  <a:solidFill>
                    <a:srgbClr val="30303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03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2911081" y="5359043"/>
            <a:ext cx="2117033" cy="891985"/>
            <a:chOff x="0" y="0"/>
            <a:chExt cx="991282" cy="41766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91282" cy="417664"/>
            </a:xfrm>
            <a:custGeom>
              <a:avLst/>
              <a:gdLst/>
              <a:ahLst/>
              <a:cxnLst/>
              <a:rect r="r" b="b" t="t" l="l"/>
              <a:pathLst>
                <a:path h="417664" w="991282">
                  <a:moveTo>
                    <a:pt x="80453" y="0"/>
                  </a:moveTo>
                  <a:lnTo>
                    <a:pt x="910828" y="0"/>
                  </a:lnTo>
                  <a:cubicBezTo>
                    <a:pt x="932166" y="0"/>
                    <a:pt x="952630" y="8476"/>
                    <a:pt x="967717" y="23564"/>
                  </a:cubicBezTo>
                  <a:cubicBezTo>
                    <a:pt x="982805" y="38652"/>
                    <a:pt x="991282" y="59116"/>
                    <a:pt x="991282" y="80453"/>
                  </a:cubicBezTo>
                  <a:lnTo>
                    <a:pt x="991282" y="337211"/>
                  </a:lnTo>
                  <a:cubicBezTo>
                    <a:pt x="991282" y="358548"/>
                    <a:pt x="982805" y="379012"/>
                    <a:pt x="967717" y="394100"/>
                  </a:cubicBezTo>
                  <a:cubicBezTo>
                    <a:pt x="952630" y="409188"/>
                    <a:pt x="932166" y="417664"/>
                    <a:pt x="910828" y="417664"/>
                  </a:cubicBezTo>
                  <a:lnTo>
                    <a:pt x="80453" y="417664"/>
                  </a:lnTo>
                  <a:cubicBezTo>
                    <a:pt x="59116" y="417664"/>
                    <a:pt x="38652" y="409188"/>
                    <a:pt x="23564" y="394100"/>
                  </a:cubicBezTo>
                  <a:cubicBezTo>
                    <a:pt x="8476" y="379012"/>
                    <a:pt x="0" y="358548"/>
                    <a:pt x="0" y="337211"/>
                  </a:cubicBezTo>
                  <a:lnTo>
                    <a:pt x="0" y="80453"/>
                  </a:lnTo>
                  <a:cubicBezTo>
                    <a:pt x="0" y="59116"/>
                    <a:pt x="8476" y="38652"/>
                    <a:pt x="23564" y="23564"/>
                  </a:cubicBezTo>
                  <a:cubicBezTo>
                    <a:pt x="38652" y="8476"/>
                    <a:pt x="59116" y="0"/>
                    <a:pt x="80453" y="0"/>
                  </a:cubicBezTo>
                  <a:close/>
                </a:path>
              </a:pathLst>
            </a:custGeom>
            <a:solidFill>
              <a:srgbClr val="C6DCC3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991282" cy="436714"/>
            </a:xfrm>
            <a:prstGeom prst="rect">
              <a:avLst/>
            </a:prstGeom>
          </p:spPr>
          <p:txBody>
            <a:bodyPr anchor="ctr" rtlCol="false" tIns="29897" lIns="29897" bIns="29897" rIns="29897"/>
            <a:lstStyle/>
            <a:p>
              <a:pPr algn="ctr" marL="0" indent="0" lvl="0">
                <a:lnSpc>
                  <a:spcPts val="156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2314900" y="5272655"/>
            <a:ext cx="794288" cy="596944"/>
            <a:chOff x="0" y="0"/>
            <a:chExt cx="1059050" cy="79592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14165" y="0"/>
              <a:ext cx="845050" cy="795926"/>
            </a:xfrm>
            <a:custGeom>
              <a:avLst/>
              <a:gdLst/>
              <a:ahLst/>
              <a:cxnLst/>
              <a:rect r="r" b="b" t="t" l="l"/>
              <a:pathLst>
                <a:path h="795926" w="845050">
                  <a:moveTo>
                    <a:pt x="0" y="0"/>
                  </a:moveTo>
                  <a:lnTo>
                    <a:pt x="845050" y="0"/>
                  </a:lnTo>
                  <a:lnTo>
                    <a:pt x="845050" y="795926"/>
                  </a:lnTo>
                  <a:lnTo>
                    <a:pt x="0" y="795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129214"/>
              <a:ext cx="1059050" cy="520258"/>
            </a:xfrm>
            <a:custGeom>
              <a:avLst/>
              <a:gdLst/>
              <a:ahLst/>
              <a:cxnLst/>
              <a:rect r="r" b="b" t="t" l="l"/>
              <a:pathLst>
                <a:path h="520258" w="1059050">
                  <a:moveTo>
                    <a:pt x="0" y="0"/>
                  </a:moveTo>
                  <a:lnTo>
                    <a:pt x="1059050" y="0"/>
                  </a:lnTo>
                  <a:lnTo>
                    <a:pt x="1059050" y="520258"/>
                  </a:lnTo>
                  <a:lnTo>
                    <a:pt x="0" y="5202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 rot="0">
              <a:off x="99835" y="186329"/>
              <a:ext cx="859380" cy="3351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1888"/>
                </a:lnSpc>
                <a:spcBef>
                  <a:spcPct val="0"/>
                </a:spcBef>
              </a:pPr>
              <a:r>
                <a:rPr lang="en-US" b="true" sz="1671">
                  <a:solidFill>
                    <a:srgbClr val="30303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04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3101534" y="5618372"/>
            <a:ext cx="1736127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39"/>
              </a:lnSpc>
              <a:spcBef>
                <a:spcPct val="0"/>
              </a:spcBef>
            </a:pPr>
            <a:r>
              <a:rPr lang="en-US" b="true" sz="10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Exotic Car Brands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08470" y="3111037"/>
            <a:ext cx="1880162" cy="365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PARTNERSHIP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557134" y="1283152"/>
            <a:ext cx="4011370" cy="4011370"/>
          </a:xfrm>
          <a:custGeom>
            <a:avLst/>
            <a:gdLst/>
            <a:ahLst/>
            <a:cxnLst/>
            <a:rect r="r" b="b" t="t" l="l"/>
            <a:pathLst>
              <a:path h="4011370" w="4011370">
                <a:moveTo>
                  <a:pt x="0" y="0"/>
                </a:moveTo>
                <a:lnTo>
                  <a:pt x="4011370" y="0"/>
                </a:lnTo>
                <a:lnTo>
                  <a:pt x="4011370" y="4011370"/>
                </a:lnTo>
                <a:lnTo>
                  <a:pt x="0" y="40113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918735" y="1064172"/>
            <a:ext cx="2117033" cy="777819"/>
            <a:chOff x="0" y="0"/>
            <a:chExt cx="991282" cy="36420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91282" cy="364207"/>
            </a:xfrm>
            <a:custGeom>
              <a:avLst/>
              <a:gdLst/>
              <a:ahLst/>
              <a:cxnLst/>
              <a:rect r="r" b="b" t="t" l="l"/>
              <a:pathLst>
                <a:path h="364207" w="991282">
                  <a:moveTo>
                    <a:pt x="80453" y="0"/>
                  </a:moveTo>
                  <a:lnTo>
                    <a:pt x="910828" y="0"/>
                  </a:lnTo>
                  <a:cubicBezTo>
                    <a:pt x="932166" y="0"/>
                    <a:pt x="952630" y="8476"/>
                    <a:pt x="967717" y="23564"/>
                  </a:cubicBezTo>
                  <a:cubicBezTo>
                    <a:pt x="982805" y="38652"/>
                    <a:pt x="991282" y="59116"/>
                    <a:pt x="991282" y="80453"/>
                  </a:cubicBezTo>
                  <a:lnTo>
                    <a:pt x="991282" y="283754"/>
                  </a:lnTo>
                  <a:cubicBezTo>
                    <a:pt x="991282" y="305091"/>
                    <a:pt x="982805" y="325555"/>
                    <a:pt x="967717" y="340643"/>
                  </a:cubicBezTo>
                  <a:cubicBezTo>
                    <a:pt x="952630" y="355731"/>
                    <a:pt x="932166" y="364207"/>
                    <a:pt x="910828" y="364207"/>
                  </a:cubicBezTo>
                  <a:lnTo>
                    <a:pt x="80453" y="364207"/>
                  </a:lnTo>
                  <a:cubicBezTo>
                    <a:pt x="59116" y="364207"/>
                    <a:pt x="38652" y="355731"/>
                    <a:pt x="23564" y="340643"/>
                  </a:cubicBezTo>
                  <a:cubicBezTo>
                    <a:pt x="8476" y="325555"/>
                    <a:pt x="0" y="305091"/>
                    <a:pt x="0" y="283754"/>
                  </a:cubicBezTo>
                  <a:lnTo>
                    <a:pt x="0" y="80453"/>
                  </a:lnTo>
                  <a:cubicBezTo>
                    <a:pt x="0" y="59116"/>
                    <a:pt x="8476" y="38652"/>
                    <a:pt x="23564" y="23564"/>
                  </a:cubicBezTo>
                  <a:cubicBezTo>
                    <a:pt x="38652" y="8476"/>
                    <a:pt x="59116" y="0"/>
                    <a:pt x="80453" y="0"/>
                  </a:cubicBezTo>
                  <a:close/>
                </a:path>
              </a:pathLst>
            </a:custGeom>
            <a:solidFill>
              <a:srgbClr val="85A1C4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991282" cy="383257"/>
            </a:xfrm>
            <a:prstGeom prst="rect">
              <a:avLst/>
            </a:prstGeom>
          </p:spPr>
          <p:txBody>
            <a:bodyPr anchor="ctr" rtlCol="false" tIns="29897" lIns="29897" bIns="29897" rIns="29897"/>
            <a:lstStyle/>
            <a:p>
              <a:pPr algn="ctr" marL="0" indent="0" lvl="0">
                <a:lnSpc>
                  <a:spcPts val="156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911081" y="2170482"/>
            <a:ext cx="2117033" cy="829063"/>
            <a:chOff x="0" y="0"/>
            <a:chExt cx="991282" cy="3882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91282" cy="388201"/>
            </a:xfrm>
            <a:custGeom>
              <a:avLst/>
              <a:gdLst/>
              <a:ahLst/>
              <a:cxnLst/>
              <a:rect r="r" b="b" t="t" l="l"/>
              <a:pathLst>
                <a:path h="388201" w="991282">
                  <a:moveTo>
                    <a:pt x="80453" y="0"/>
                  </a:moveTo>
                  <a:lnTo>
                    <a:pt x="910828" y="0"/>
                  </a:lnTo>
                  <a:cubicBezTo>
                    <a:pt x="932166" y="0"/>
                    <a:pt x="952630" y="8476"/>
                    <a:pt x="967717" y="23564"/>
                  </a:cubicBezTo>
                  <a:cubicBezTo>
                    <a:pt x="982805" y="38652"/>
                    <a:pt x="991282" y="59116"/>
                    <a:pt x="991282" y="80453"/>
                  </a:cubicBezTo>
                  <a:lnTo>
                    <a:pt x="991282" y="307748"/>
                  </a:lnTo>
                  <a:cubicBezTo>
                    <a:pt x="991282" y="329085"/>
                    <a:pt x="982805" y="349549"/>
                    <a:pt x="967717" y="364637"/>
                  </a:cubicBezTo>
                  <a:cubicBezTo>
                    <a:pt x="952630" y="379725"/>
                    <a:pt x="932166" y="388201"/>
                    <a:pt x="910828" y="388201"/>
                  </a:cubicBezTo>
                  <a:lnTo>
                    <a:pt x="80453" y="388201"/>
                  </a:lnTo>
                  <a:cubicBezTo>
                    <a:pt x="59116" y="388201"/>
                    <a:pt x="38652" y="379725"/>
                    <a:pt x="23564" y="364637"/>
                  </a:cubicBezTo>
                  <a:cubicBezTo>
                    <a:pt x="8476" y="349549"/>
                    <a:pt x="0" y="329085"/>
                    <a:pt x="0" y="307748"/>
                  </a:cubicBezTo>
                  <a:lnTo>
                    <a:pt x="0" y="80453"/>
                  </a:lnTo>
                  <a:cubicBezTo>
                    <a:pt x="0" y="59116"/>
                    <a:pt x="8476" y="38652"/>
                    <a:pt x="23564" y="23564"/>
                  </a:cubicBezTo>
                  <a:cubicBezTo>
                    <a:pt x="38652" y="8476"/>
                    <a:pt x="59116" y="0"/>
                    <a:pt x="80453" y="0"/>
                  </a:cubicBezTo>
                  <a:close/>
                </a:path>
              </a:pathLst>
            </a:custGeom>
            <a:solidFill>
              <a:srgbClr val="BBC8E1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991282" cy="407251"/>
            </a:xfrm>
            <a:prstGeom prst="rect">
              <a:avLst/>
            </a:prstGeom>
          </p:spPr>
          <p:txBody>
            <a:bodyPr anchor="ctr" rtlCol="false" tIns="29897" lIns="29897" bIns="29897" rIns="29897"/>
            <a:lstStyle/>
            <a:p>
              <a:pPr algn="ctr" marL="0" indent="0" lvl="0">
                <a:lnSpc>
                  <a:spcPts val="156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911081" y="4009195"/>
            <a:ext cx="2117033" cy="891985"/>
            <a:chOff x="0" y="0"/>
            <a:chExt cx="991282" cy="4176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91282" cy="417664"/>
            </a:xfrm>
            <a:custGeom>
              <a:avLst/>
              <a:gdLst/>
              <a:ahLst/>
              <a:cxnLst/>
              <a:rect r="r" b="b" t="t" l="l"/>
              <a:pathLst>
                <a:path h="417664" w="991282">
                  <a:moveTo>
                    <a:pt x="80453" y="0"/>
                  </a:moveTo>
                  <a:lnTo>
                    <a:pt x="910828" y="0"/>
                  </a:lnTo>
                  <a:cubicBezTo>
                    <a:pt x="932166" y="0"/>
                    <a:pt x="952630" y="8476"/>
                    <a:pt x="967717" y="23564"/>
                  </a:cubicBezTo>
                  <a:cubicBezTo>
                    <a:pt x="982805" y="38652"/>
                    <a:pt x="991282" y="59116"/>
                    <a:pt x="991282" y="80453"/>
                  </a:cubicBezTo>
                  <a:lnTo>
                    <a:pt x="991282" y="337211"/>
                  </a:lnTo>
                  <a:cubicBezTo>
                    <a:pt x="991282" y="358548"/>
                    <a:pt x="982805" y="379012"/>
                    <a:pt x="967717" y="394100"/>
                  </a:cubicBezTo>
                  <a:cubicBezTo>
                    <a:pt x="952630" y="409188"/>
                    <a:pt x="932166" y="417664"/>
                    <a:pt x="910828" y="417664"/>
                  </a:cubicBezTo>
                  <a:lnTo>
                    <a:pt x="80453" y="417664"/>
                  </a:lnTo>
                  <a:cubicBezTo>
                    <a:pt x="59116" y="417664"/>
                    <a:pt x="38652" y="409188"/>
                    <a:pt x="23564" y="394100"/>
                  </a:cubicBezTo>
                  <a:cubicBezTo>
                    <a:pt x="8476" y="379012"/>
                    <a:pt x="0" y="358548"/>
                    <a:pt x="0" y="337211"/>
                  </a:cubicBezTo>
                  <a:lnTo>
                    <a:pt x="0" y="80453"/>
                  </a:lnTo>
                  <a:cubicBezTo>
                    <a:pt x="0" y="59116"/>
                    <a:pt x="8476" y="38652"/>
                    <a:pt x="23564" y="23564"/>
                  </a:cubicBezTo>
                  <a:cubicBezTo>
                    <a:pt x="38652" y="8476"/>
                    <a:pt x="59116" y="0"/>
                    <a:pt x="80453" y="0"/>
                  </a:cubicBezTo>
                  <a:close/>
                </a:path>
              </a:pathLst>
            </a:custGeom>
            <a:solidFill>
              <a:srgbClr val="CCC4E0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991282" cy="436714"/>
            </a:xfrm>
            <a:prstGeom prst="rect">
              <a:avLst/>
            </a:prstGeom>
          </p:spPr>
          <p:txBody>
            <a:bodyPr anchor="ctr" rtlCol="false" tIns="29897" lIns="29897" bIns="29897" rIns="29897"/>
            <a:lstStyle/>
            <a:p>
              <a:pPr algn="ctr" marL="0" indent="0" lvl="0">
                <a:lnSpc>
                  <a:spcPts val="156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160283" y="4066278"/>
            <a:ext cx="3861797" cy="777819"/>
            <a:chOff x="0" y="0"/>
            <a:chExt cx="1642825" cy="3308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42825" cy="330888"/>
            </a:xfrm>
            <a:custGeom>
              <a:avLst/>
              <a:gdLst/>
              <a:ahLst/>
              <a:cxnLst/>
              <a:rect r="r" b="b" t="t" l="l"/>
              <a:pathLst>
                <a:path h="330888" w="1642825">
                  <a:moveTo>
                    <a:pt x="44104" y="0"/>
                  </a:moveTo>
                  <a:lnTo>
                    <a:pt x="1598721" y="0"/>
                  </a:lnTo>
                  <a:cubicBezTo>
                    <a:pt x="1610418" y="0"/>
                    <a:pt x="1621636" y="4647"/>
                    <a:pt x="1629908" y="12918"/>
                  </a:cubicBezTo>
                  <a:cubicBezTo>
                    <a:pt x="1638179" y="21189"/>
                    <a:pt x="1642825" y="32407"/>
                    <a:pt x="1642825" y="44104"/>
                  </a:cubicBezTo>
                  <a:lnTo>
                    <a:pt x="1642825" y="286783"/>
                  </a:lnTo>
                  <a:cubicBezTo>
                    <a:pt x="1642825" y="298481"/>
                    <a:pt x="1638179" y="309699"/>
                    <a:pt x="1629908" y="317970"/>
                  </a:cubicBezTo>
                  <a:cubicBezTo>
                    <a:pt x="1621636" y="326241"/>
                    <a:pt x="1610418" y="330888"/>
                    <a:pt x="1598721" y="330888"/>
                  </a:cubicBezTo>
                  <a:lnTo>
                    <a:pt x="44104" y="330888"/>
                  </a:lnTo>
                  <a:cubicBezTo>
                    <a:pt x="19746" y="330888"/>
                    <a:pt x="0" y="311142"/>
                    <a:pt x="0" y="286783"/>
                  </a:cubicBezTo>
                  <a:lnTo>
                    <a:pt x="0" y="44104"/>
                  </a:lnTo>
                  <a:cubicBezTo>
                    <a:pt x="0" y="32407"/>
                    <a:pt x="4647" y="21189"/>
                    <a:pt x="12918" y="12918"/>
                  </a:cubicBezTo>
                  <a:cubicBezTo>
                    <a:pt x="21189" y="4647"/>
                    <a:pt x="32407" y="0"/>
                    <a:pt x="44104" y="0"/>
                  </a:cubicBezTo>
                  <a:close/>
                </a:path>
              </a:pathLst>
            </a:custGeom>
            <a:solidFill>
              <a:srgbClr val="F9F4F9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642825" cy="349938"/>
            </a:xfrm>
            <a:prstGeom prst="rect">
              <a:avLst/>
            </a:prstGeom>
          </p:spPr>
          <p:txBody>
            <a:bodyPr anchor="ctr" rtlCol="false" tIns="29897" lIns="29897" bIns="29897" rIns="29897"/>
            <a:lstStyle/>
            <a:p>
              <a:pPr algn="ctr" marL="0" indent="0" lvl="0">
                <a:lnSpc>
                  <a:spcPts val="156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160283" y="2170482"/>
            <a:ext cx="3861797" cy="777819"/>
            <a:chOff x="0" y="0"/>
            <a:chExt cx="1642825" cy="3308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42825" cy="330888"/>
            </a:xfrm>
            <a:custGeom>
              <a:avLst/>
              <a:gdLst/>
              <a:ahLst/>
              <a:cxnLst/>
              <a:rect r="r" b="b" t="t" l="l"/>
              <a:pathLst>
                <a:path h="330888" w="1642825">
                  <a:moveTo>
                    <a:pt x="44104" y="0"/>
                  </a:moveTo>
                  <a:lnTo>
                    <a:pt x="1598721" y="0"/>
                  </a:lnTo>
                  <a:cubicBezTo>
                    <a:pt x="1610418" y="0"/>
                    <a:pt x="1621636" y="4647"/>
                    <a:pt x="1629908" y="12918"/>
                  </a:cubicBezTo>
                  <a:cubicBezTo>
                    <a:pt x="1638179" y="21189"/>
                    <a:pt x="1642825" y="32407"/>
                    <a:pt x="1642825" y="44104"/>
                  </a:cubicBezTo>
                  <a:lnTo>
                    <a:pt x="1642825" y="286783"/>
                  </a:lnTo>
                  <a:cubicBezTo>
                    <a:pt x="1642825" y="298481"/>
                    <a:pt x="1638179" y="309699"/>
                    <a:pt x="1629908" y="317970"/>
                  </a:cubicBezTo>
                  <a:cubicBezTo>
                    <a:pt x="1621636" y="326241"/>
                    <a:pt x="1610418" y="330888"/>
                    <a:pt x="1598721" y="330888"/>
                  </a:cubicBezTo>
                  <a:lnTo>
                    <a:pt x="44104" y="330888"/>
                  </a:lnTo>
                  <a:cubicBezTo>
                    <a:pt x="19746" y="330888"/>
                    <a:pt x="0" y="311142"/>
                    <a:pt x="0" y="286783"/>
                  </a:cubicBezTo>
                  <a:lnTo>
                    <a:pt x="0" y="44104"/>
                  </a:lnTo>
                  <a:cubicBezTo>
                    <a:pt x="0" y="32407"/>
                    <a:pt x="4647" y="21189"/>
                    <a:pt x="12918" y="12918"/>
                  </a:cubicBezTo>
                  <a:cubicBezTo>
                    <a:pt x="21189" y="4647"/>
                    <a:pt x="32407" y="0"/>
                    <a:pt x="44104" y="0"/>
                  </a:cubicBezTo>
                  <a:close/>
                </a:path>
              </a:pathLst>
            </a:custGeom>
            <a:solidFill>
              <a:srgbClr val="ECDDE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642825" cy="349938"/>
            </a:xfrm>
            <a:prstGeom prst="rect">
              <a:avLst/>
            </a:prstGeom>
          </p:spPr>
          <p:txBody>
            <a:bodyPr anchor="ctr" rtlCol="false" tIns="29897" lIns="29897" bIns="29897" rIns="29897"/>
            <a:lstStyle/>
            <a:p>
              <a:pPr algn="ctr" marL="0" indent="0" lvl="0">
                <a:lnSpc>
                  <a:spcPts val="156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160283" y="1064172"/>
            <a:ext cx="3861797" cy="777819"/>
            <a:chOff x="0" y="0"/>
            <a:chExt cx="1642825" cy="33088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42825" cy="330888"/>
            </a:xfrm>
            <a:custGeom>
              <a:avLst/>
              <a:gdLst/>
              <a:ahLst/>
              <a:cxnLst/>
              <a:rect r="r" b="b" t="t" l="l"/>
              <a:pathLst>
                <a:path h="330888" w="1642825">
                  <a:moveTo>
                    <a:pt x="44104" y="0"/>
                  </a:moveTo>
                  <a:lnTo>
                    <a:pt x="1598721" y="0"/>
                  </a:lnTo>
                  <a:cubicBezTo>
                    <a:pt x="1610418" y="0"/>
                    <a:pt x="1621636" y="4647"/>
                    <a:pt x="1629908" y="12918"/>
                  </a:cubicBezTo>
                  <a:cubicBezTo>
                    <a:pt x="1638179" y="21189"/>
                    <a:pt x="1642825" y="32407"/>
                    <a:pt x="1642825" y="44104"/>
                  </a:cubicBezTo>
                  <a:lnTo>
                    <a:pt x="1642825" y="286783"/>
                  </a:lnTo>
                  <a:cubicBezTo>
                    <a:pt x="1642825" y="298481"/>
                    <a:pt x="1638179" y="309699"/>
                    <a:pt x="1629908" y="317970"/>
                  </a:cubicBezTo>
                  <a:cubicBezTo>
                    <a:pt x="1621636" y="326241"/>
                    <a:pt x="1610418" y="330888"/>
                    <a:pt x="1598721" y="330888"/>
                  </a:cubicBezTo>
                  <a:lnTo>
                    <a:pt x="44104" y="330888"/>
                  </a:lnTo>
                  <a:cubicBezTo>
                    <a:pt x="19746" y="330888"/>
                    <a:pt x="0" y="311142"/>
                    <a:pt x="0" y="286783"/>
                  </a:cubicBezTo>
                  <a:lnTo>
                    <a:pt x="0" y="44104"/>
                  </a:lnTo>
                  <a:cubicBezTo>
                    <a:pt x="0" y="32407"/>
                    <a:pt x="4647" y="21189"/>
                    <a:pt x="12918" y="12918"/>
                  </a:cubicBezTo>
                  <a:cubicBezTo>
                    <a:pt x="21189" y="4647"/>
                    <a:pt x="32407" y="0"/>
                    <a:pt x="44104" y="0"/>
                  </a:cubicBezTo>
                  <a:close/>
                </a:path>
              </a:pathLst>
            </a:custGeom>
            <a:solidFill>
              <a:srgbClr val="DCE3F1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642825" cy="349938"/>
            </a:xfrm>
            <a:prstGeom prst="rect">
              <a:avLst/>
            </a:prstGeom>
          </p:spPr>
          <p:txBody>
            <a:bodyPr anchor="ctr" rtlCol="false" tIns="29897" lIns="29897" bIns="29897" rIns="29897"/>
            <a:lstStyle/>
            <a:p>
              <a:pPr algn="ctr" marL="0" indent="0" lvl="0">
                <a:lnSpc>
                  <a:spcPts val="156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160283" y="5473209"/>
            <a:ext cx="3861797" cy="777819"/>
            <a:chOff x="0" y="0"/>
            <a:chExt cx="1642825" cy="33088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42825" cy="330888"/>
            </a:xfrm>
            <a:custGeom>
              <a:avLst/>
              <a:gdLst/>
              <a:ahLst/>
              <a:cxnLst/>
              <a:rect r="r" b="b" t="t" l="l"/>
              <a:pathLst>
                <a:path h="330888" w="1642825">
                  <a:moveTo>
                    <a:pt x="44104" y="0"/>
                  </a:moveTo>
                  <a:lnTo>
                    <a:pt x="1598721" y="0"/>
                  </a:lnTo>
                  <a:cubicBezTo>
                    <a:pt x="1610418" y="0"/>
                    <a:pt x="1621636" y="4647"/>
                    <a:pt x="1629908" y="12918"/>
                  </a:cubicBezTo>
                  <a:cubicBezTo>
                    <a:pt x="1638179" y="21189"/>
                    <a:pt x="1642825" y="32407"/>
                    <a:pt x="1642825" y="44104"/>
                  </a:cubicBezTo>
                  <a:lnTo>
                    <a:pt x="1642825" y="286783"/>
                  </a:lnTo>
                  <a:cubicBezTo>
                    <a:pt x="1642825" y="298481"/>
                    <a:pt x="1638179" y="309699"/>
                    <a:pt x="1629908" y="317970"/>
                  </a:cubicBezTo>
                  <a:cubicBezTo>
                    <a:pt x="1621636" y="326241"/>
                    <a:pt x="1610418" y="330888"/>
                    <a:pt x="1598721" y="330888"/>
                  </a:cubicBezTo>
                  <a:lnTo>
                    <a:pt x="44104" y="330888"/>
                  </a:lnTo>
                  <a:cubicBezTo>
                    <a:pt x="19746" y="330888"/>
                    <a:pt x="0" y="311142"/>
                    <a:pt x="0" y="286783"/>
                  </a:cubicBezTo>
                  <a:lnTo>
                    <a:pt x="0" y="44104"/>
                  </a:lnTo>
                  <a:cubicBezTo>
                    <a:pt x="0" y="32407"/>
                    <a:pt x="4647" y="21189"/>
                    <a:pt x="12918" y="12918"/>
                  </a:cubicBezTo>
                  <a:cubicBezTo>
                    <a:pt x="21189" y="4647"/>
                    <a:pt x="32407" y="0"/>
                    <a:pt x="44104" y="0"/>
                  </a:cubicBezTo>
                  <a:close/>
                </a:path>
              </a:pathLst>
            </a:custGeom>
            <a:solidFill>
              <a:srgbClr val="F5F5F5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642825" cy="349938"/>
            </a:xfrm>
            <a:prstGeom prst="rect">
              <a:avLst/>
            </a:prstGeom>
          </p:spPr>
          <p:txBody>
            <a:bodyPr anchor="ctr" rtlCol="false" tIns="29897" lIns="29897" bIns="29897" rIns="29897"/>
            <a:lstStyle/>
            <a:p>
              <a:pPr algn="ctr" marL="0" indent="0" lvl="0">
                <a:lnSpc>
                  <a:spcPts val="1565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4220203" y="366394"/>
            <a:ext cx="1880162" cy="365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STRATEGIES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101534" y="1343227"/>
            <a:ext cx="1736127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39"/>
              </a:lnSpc>
              <a:spcBef>
                <a:spcPct val="0"/>
              </a:spcBef>
            </a:pPr>
            <a:r>
              <a:rPr lang="en-US" b="true" sz="10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In-App Concierge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444888" y="1130022"/>
            <a:ext cx="3292587" cy="85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1"/>
              </a:lnSpc>
            </a:pPr>
            <a:r>
              <a:rPr lang="en-US" sz="843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Provide an app for customers to book their luxury car rentals, request chauffeur services, or even book hotel rooms mid-flight or during their trip. This could integrate with their flight details to give them a seamless luxury experience.</a:t>
            </a:r>
          </a:p>
          <a:p>
            <a:pPr algn="l">
              <a:lnSpc>
                <a:spcPts val="1181"/>
              </a:lnSpc>
            </a:pPr>
          </a:p>
          <a:p>
            <a:pPr algn="l" marL="0" indent="0" lvl="0">
              <a:lnSpc>
                <a:spcPts val="1181"/>
              </a:lnSpc>
              <a:spcBef>
                <a:spcPct val="0"/>
              </a:spcBef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5444888" y="2269127"/>
            <a:ext cx="3292587" cy="71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1"/>
              </a:lnSpc>
            </a:pPr>
            <a:r>
              <a:rPr lang="en-US" sz="843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Create personalized experience packages based on customer preferences—allowing travelers to choose their flight, hotel, car, and exclusive events from one platform. VIP clients could have a dedicated concierge to assist with bespoke requests.</a:t>
            </a:r>
          </a:p>
          <a:p>
            <a:pPr algn="l" marL="0" indent="0" lvl="0">
              <a:lnSpc>
                <a:spcPts val="1181"/>
              </a:lnSpc>
              <a:spcBef>
                <a:spcPct val="0"/>
              </a:spcBef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5444888" y="4121831"/>
            <a:ext cx="3292587" cy="85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1"/>
              </a:lnSpc>
            </a:pPr>
            <a:r>
              <a:rPr lang="en-US" sz="843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For frequent flyers, offer exclusive perks for hitting milestones, such as complimentary upgrades to Rolls-Royce for special occasions or access to ultra-exclusive events like private yacht parties or gala dinners.</a:t>
            </a:r>
          </a:p>
          <a:p>
            <a:pPr algn="l">
              <a:lnSpc>
                <a:spcPts val="1181"/>
              </a:lnSpc>
            </a:pPr>
          </a:p>
          <a:p>
            <a:pPr algn="l" marL="0" indent="0" lvl="0">
              <a:lnSpc>
                <a:spcPts val="1181"/>
              </a:lnSpc>
              <a:spcBef>
                <a:spcPct val="0"/>
              </a:spcBef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5444888" y="5552077"/>
            <a:ext cx="3292587" cy="56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81"/>
              </a:lnSpc>
              <a:spcBef>
                <a:spcPct val="0"/>
              </a:spcBef>
            </a:pPr>
            <a:r>
              <a:rPr lang="en-US" sz="843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Develop an elite loyalty program where frequent customers can redeem points or miles not only for flights but also for luxury car rentals, first-class experiences, or upgrades to private jet services.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140673" y="2470641"/>
            <a:ext cx="1736127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39"/>
              </a:lnSpc>
              <a:spcBef>
                <a:spcPct val="0"/>
              </a:spcBef>
            </a:pPr>
            <a:r>
              <a:rPr lang="en-US" b="true" sz="10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Tailored VIP Packages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101534" y="4296205"/>
            <a:ext cx="1918926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39"/>
              </a:lnSpc>
              <a:spcBef>
                <a:spcPct val="0"/>
              </a:spcBef>
            </a:pPr>
            <a:r>
              <a:rPr lang="en-US" b="true" sz="10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Custom Milestone Rewards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2314900" y="832464"/>
            <a:ext cx="794288" cy="596944"/>
            <a:chOff x="0" y="0"/>
            <a:chExt cx="1059050" cy="79592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45721" y="0"/>
              <a:ext cx="845050" cy="795926"/>
            </a:xfrm>
            <a:custGeom>
              <a:avLst/>
              <a:gdLst/>
              <a:ahLst/>
              <a:cxnLst/>
              <a:rect r="r" b="b" t="t" l="l"/>
              <a:pathLst>
                <a:path h="795926" w="845050">
                  <a:moveTo>
                    <a:pt x="0" y="0"/>
                  </a:moveTo>
                  <a:lnTo>
                    <a:pt x="845050" y="0"/>
                  </a:lnTo>
                  <a:lnTo>
                    <a:pt x="845050" y="795926"/>
                  </a:lnTo>
                  <a:lnTo>
                    <a:pt x="0" y="795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137834"/>
              <a:ext cx="1059050" cy="520258"/>
            </a:xfrm>
            <a:custGeom>
              <a:avLst/>
              <a:gdLst/>
              <a:ahLst/>
              <a:cxnLst/>
              <a:rect r="r" b="b" t="t" l="l"/>
              <a:pathLst>
                <a:path h="520258" w="1059050">
                  <a:moveTo>
                    <a:pt x="0" y="0"/>
                  </a:moveTo>
                  <a:lnTo>
                    <a:pt x="1059050" y="0"/>
                  </a:lnTo>
                  <a:lnTo>
                    <a:pt x="1059050" y="520258"/>
                  </a:lnTo>
                  <a:lnTo>
                    <a:pt x="0" y="5202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 rot="0">
              <a:off x="99835" y="194949"/>
              <a:ext cx="859380" cy="3351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1888"/>
                </a:lnSpc>
                <a:spcBef>
                  <a:spcPct val="0"/>
                </a:spcBef>
              </a:pPr>
              <a:r>
                <a:rPr lang="en-US" b="true" sz="1671" u="none">
                  <a:solidFill>
                    <a:srgbClr val="30303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01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314900" y="2037524"/>
            <a:ext cx="794288" cy="596944"/>
            <a:chOff x="0" y="0"/>
            <a:chExt cx="1059050" cy="79592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07000" y="0"/>
              <a:ext cx="845050" cy="795926"/>
            </a:xfrm>
            <a:custGeom>
              <a:avLst/>
              <a:gdLst/>
              <a:ahLst/>
              <a:cxnLst/>
              <a:rect r="r" b="b" t="t" l="l"/>
              <a:pathLst>
                <a:path h="795926" w="845050">
                  <a:moveTo>
                    <a:pt x="0" y="0"/>
                  </a:moveTo>
                  <a:lnTo>
                    <a:pt x="845050" y="0"/>
                  </a:lnTo>
                  <a:lnTo>
                    <a:pt x="845050" y="795926"/>
                  </a:lnTo>
                  <a:lnTo>
                    <a:pt x="0" y="795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129086"/>
              <a:ext cx="1059050" cy="520258"/>
            </a:xfrm>
            <a:custGeom>
              <a:avLst/>
              <a:gdLst/>
              <a:ahLst/>
              <a:cxnLst/>
              <a:rect r="r" b="b" t="t" l="l"/>
              <a:pathLst>
                <a:path h="520258" w="1059050">
                  <a:moveTo>
                    <a:pt x="0" y="0"/>
                  </a:moveTo>
                  <a:lnTo>
                    <a:pt x="1059050" y="0"/>
                  </a:lnTo>
                  <a:lnTo>
                    <a:pt x="1059050" y="520258"/>
                  </a:lnTo>
                  <a:lnTo>
                    <a:pt x="0" y="5202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 rot="0">
              <a:off x="99835" y="186202"/>
              <a:ext cx="859380" cy="3351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1888"/>
                </a:lnSpc>
                <a:spcBef>
                  <a:spcPct val="0"/>
                </a:spcBef>
              </a:pPr>
              <a:r>
                <a:rPr lang="en-US" b="true" sz="1671">
                  <a:solidFill>
                    <a:srgbClr val="30303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02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314900" y="3890396"/>
            <a:ext cx="794288" cy="596944"/>
            <a:chOff x="0" y="0"/>
            <a:chExt cx="1059050" cy="79592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14165" y="0"/>
              <a:ext cx="845050" cy="795926"/>
            </a:xfrm>
            <a:custGeom>
              <a:avLst/>
              <a:gdLst/>
              <a:ahLst/>
              <a:cxnLst/>
              <a:rect r="r" b="b" t="t" l="l"/>
              <a:pathLst>
                <a:path h="795926" w="845050">
                  <a:moveTo>
                    <a:pt x="0" y="0"/>
                  </a:moveTo>
                  <a:lnTo>
                    <a:pt x="845050" y="0"/>
                  </a:lnTo>
                  <a:lnTo>
                    <a:pt x="845050" y="795926"/>
                  </a:lnTo>
                  <a:lnTo>
                    <a:pt x="0" y="795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129214"/>
              <a:ext cx="1059050" cy="520258"/>
            </a:xfrm>
            <a:custGeom>
              <a:avLst/>
              <a:gdLst/>
              <a:ahLst/>
              <a:cxnLst/>
              <a:rect r="r" b="b" t="t" l="l"/>
              <a:pathLst>
                <a:path h="520258" w="1059050">
                  <a:moveTo>
                    <a:pt x="0" y="0"/>
                  </a:moveTo>
                  <a:lnTo>
                    <a:pt x="1059050" y="0"/>
                  </a:lnTo>
                  <a:lnTo>
                    <a:pt x="1059050" y="520258"/>
                  </a:lnTo>
                  <a:lnTo>
                    <a:pt x="0" y="5202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 rot="0">
              <a:off x="99835" y="186329"/>
              <a:ext cx="859380" cy="3351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1888"/>
                </a:lnSpc>
                <a:spcBef>
                  <a:spcPct val="0"/>
                </a:spcBef>
              </a:pPr>
              <a:r>
                <a:rPr lang="en-US" b="true" sz="1671">
                  <a:solidFill>
                    <a:srgbClr val="30303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03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2911081" y="5359043"/>
            <a:ext cx="2117033" cy="891985"/>
            <a:chOff x="0" y="0"/>
            <a:chExt cx="991282" cy="41766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91282" cy="417664"/>
            </a:xfrm>
            <a:custGeom>
              <a:avLst/>
              <a:gdLst/>
              <a:ahLst/>
              <a:cxnLst/>
              <a:rect r="r" b="b" t="t" l="l"/>
              <a:pathLst>
                <a:path h="417664" w="991282">
                  <a:moveTo>
                    <a:pt x="80453" y="0"/>
                  </a:moveTo>
                  <a:lnTo>
                    <a:pt x="910828" y="0"/>
                  </a:lnTo>
                  <a:cubicBezTo>
                    <a:pt x="932166" y="0"/>
                    <a:pt x="952630" y="8476"/>
                    <a:pt x="967717" y="23564"/>
                  </a:cubicBezTo>
                  <a:cubicBezTo>
                    <a:pt x="982805" y="38652"/>
                    <a:pt x="991282" y="59116"/>
                    <a:pt x="991282" y="80453"/>
                  </a:cubicBezTo>
                  <a:lnTo>
                    <a:pt x="991282" y="337211"/>
                  </a:lnTo>
                  <a:cubicBezTo>
                    <a:pt x="991282" y="358548"/>
                    <a:pt x="982805" y="379012"/>
                    <a:pt x="967717" y="394100"/>
                  </a:cubicBezTo>
                  <a:cubicBezTo>
                    <a:pt x="952630" y="409188"/>
                    <a:pt x="932166" y="417664"/>
                    <a:pt x="910828" y="417664"/>
                  </a:cubicBezTo>
                  <a:lnTo>
                    <a:pt x="80453" y="417664"/>
                  </a:lnTo>
                  <a:cubicBezTo>
                    <a:pt x="59116" y="417664"/>
                    <a:pt x="38652" y="409188"/>
                    <a:pt x="23564" y="394100"/>
                  </a:cubicBezTo>
                  <a:cubicBezTo>
                    <a:pt x="8476" y="379012"/>
                    <a:pt x="0" y="358548"/>
                    <a:pt x="0" y="337211"/>
                  </a:cubicBezTo>
                  <a:lnTo>
                    <a:pt x="0" y="80453"/>
                  </a:lnTo>
                  <a:cubicBezTo>
                    <a:pt x="0" y="59116"/>
                    <a:pt x="8476" y="38652"/>
                    <a:pt x="23564" y="23564"/>
                  </a:cubicBezTo>
                  <a:cubicBezTo>
                    <a:pt x="38652" y="8476"/>
                    <a:pt x="59116" y="0"/>
                    <a:pt x="80453" y="0"/>
                  </a:cubicBezTo>
                  <a:close/>
                </a:path>
              </a:pathLst>
            </a:custGeom>
            <a:solidFill>
              <a:srgbClr val="C6DCC3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991282" cy="436714"/>
            </a:xfrm>
            <a:prstGeom prst="rect">
              <a:avLst/>
            </a:prstGeom>
          </p:spPr>
          <p:txBody>
            <a:bodyPr anchor="ctr" rtlCol="false" tIns="29897" lIns="29897" bIns="29897" rIns="29897"/>
            <a:lstStyle/>
            <a:p>
              <a:pPr algn="ctr" marL="0" indent="0" lvl="0">
                <a:lnSpc>
                  <a:spcPts val="156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2314900" y="5272655"/>
            <a:ext cx="794288" cy="596944"/>
            <a:chOff x="0" y="0"/>
            <a:chExt cx="1059050" cy="79592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14165" y="0"/>
              <a:ext cx="845050" cy="795926"/>
            </a:xfrm>
            <a:custGeom>
              <a:avLst/>
              <a:gdLst/>
              <a:ahLst/>
              <a:cxnLst/>
              <a:rect r="r" b="b" t="t" l="l"/>
              <a:pathLst>
                <a:path h="795926" w="845050">
                  <a:moveTo>
                    <a:pt x="0" y="0"/>
                  </a:moveTo>
                  <a:lnTo>
                    <a:pt x="845050" y="0"/>
                  </a:lnTo>
                  <a:lnTo>
                    <a:pt x="845050" y="795926"/>
                  </a:lnTo>
                  <a:lnTo>
                    <a:pt x="0" y="795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129214"/>
              <a:ext cx="1059050" cy="520258"/>
            </a:xfrm>
            <a:custGeom>
              <a:avLst/>
              <a:gdLst/>
              <a:ahLst/>
              <a:cxnLst/>
              <a:rect r="r" b="b" t="t" l="l"/>
              <a:pathLst>
                <a:path h="520258" w="1059050">
                  <a:moveTo>
                    <a:pt x="0" y="0"/>
                  </a:moveTo>
                  <a:lnTo>
                    <a:pt x="1059050" y="0"/>
                  </a:lnTo>
                  <a:lnTo>
                    <a:pt x="1059050" y="520258"/>
                  </a:lnTo>
                  <a:lnTo>
                    <a:pt x="0" y="5202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 rot="0">
              <a:off x="99835" y="186329"/>
              <a:ext cx="859380" cy="3351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1888"/>
                </a:lnSpc>
                <a:spcBef>
                  <a:spcPct val="0"/>
                </a:spcBef>
              </a:pPr>
              <a:r>
                <a:rPr lang="en-US" b="true" sz="1671">
                  <a:solidFill>
                    <a:srgbClr val="30303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04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3101534" y="5618372"/>
            <a:ext cx="1736127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39"/>
              </a:lnSpc>
              <a:spcBef>
                <a:spcPct val="0"/>
              </a:spcBef>
            </a:pPr>
            <a:r>
              <a:rPr lang="en-US" b="true" sz="10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Loyalty Programs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08470" y="3111037"/>
            <a:ext cx="1985837" cy="688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CUSTOMER ENGAGEMENT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617" r="0" b="-1071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555516" y="6051950"/>
            <a:ext cx="2645642" cy="1573084"/>
          </a:xfrm>
          <a:custGeom>
            <a:avLst/>
            <a:gdLst/>
            <a:ahLst/>
            <a:cxnLst/>
            <a:rect r="r" b="b" t="t" l="l"/>
            <a:pathLst>
              <a:path h="1573084" w="2645642">
                <a:moveTo>
                  <a:pt x="0" y="0"/>
                </a:moveTo>
                <a:lnTo>
                  <a:pt x="2645641" y="0"/>
                </a:lnTo>
                <a:lnTo>
                  <a:pt x="2645641" y="1573084"/>
                </a:lnTo>
                <a:lnTo>
                  <a:pt x="0" y="15730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1579083">
            <a:off x="7703983" y="1207838"/>
            <a:ext cx="4417944" cy="907297"/>
          </a:xfrm>
          <a:custGeom>
            <a:avLst/>
            <a:gdLst/>
            <a:ahLst/>
            <a:cxnLst/>
            <a:rect r="r" b="b" t="t" l="l"/>
            <a:pathLst>
              <a:path h="907297" w="4417944">
                <a:moveTo>
                  <a:pt x="0" y="0"/>
                </a:moveTo>
                <a:lnTo>
                  <a:pt x="4417944" y="0"/>
                </a:lnTo>
                <a:lnTo>
                  <a:pt x="4417944" y="907297"/>
                </a:lnTo>
                <a:lnTo>
                  <a:pt x="0" y="907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498664">
            <a:off x="74402" y="-583421"/>
            <a:ext cx="1351347" cy="2629881"/>
          </a:xfrm>
          <a:custGeom>
            <a:avLst/>
            <a:gdLst/>
            <a:ahLst/>
            <a:cxnLst/>
            <a:rect r="r" b="b" t="t" l="l"/>
            <a:pathLst>
              <a:path h="2629881" w="1351347">
                <a:moveTo>
                  <a:pt x="0" y="0"/>
                </a:moveTo>
                <a:lnTo>
                  <a:pt x="1351346" y="0"/>
                </a:lnTo>
                <a:lnTo>
                  <a:pt x="1351346" y="2629882"/>
                </a:lnTo>
                <a:lnTo>
                  <a:pt x="0" y="262988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1049134">
            <a:off x="6410" y="5393313"/>
            <a:ext cx="1269218" cy="1912601"/>
          </a:xfrm>
          <a:custGeom>
            <a:avLst/>
            <a:gdLst/>
            <a:ahLst/>
            <a:cxnLst/>
            <a:rect r="r" b="b" t="t" l="l"/>
            <a:pathLst>
              <a:path h="1912601" w="1269218">
                <a:moveTo>
                  <a:pt x="0" y="0"/>
                </a:moveTo>
                <a:lnTo>
                  <a:pt x="1269218" y="0"/>
                </a:lnTo>
                <a:lnTo>
                  <a:pt x="1269218" y="1912601"/>
                </a:lnTo>
                <a:lnTo>
                  <a:pt x="0" y="191260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9022080" y="5028622"/>
            <a:ext cx="1380401" cy="1131455"/>
          </a:xfrm>
          <a:custGeom>
            <a:avLst/>
            <a:gdLst/>
            <a:ahLst/>
            <a:cxnLst/>
            <a:rect r="r" b="b" t="t" l="l"/>
            <a:pathLst>
              <a:path h="1131455" w="1380401">
                <a:moveTo>
                  <a:pt x="0" y="0"/>
                </a:moveTo>
                <a:lnTo>
                  <a:pt x="1380401" y="0"/>
                </a:lnTo>
                <a:lnTo>
                  <a:pt x="1380401" y="1131455"/>
                </a:lnTo>
                <a:lnTo>
                  <a:pt x="0" y="113145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-2088720">
            <a:off x="758810" y="6547339"/>
            <a:ext cx="2309723" cy="1136748"/>
          </a:xfrm>
          <a:custGeom>
            <a:avLst/>
            <a:gdLst/>
            <a:ahLst/>
            <a:cxnLst/>
            <a:rect r="r" b="b" t="t" l="l"/>
            <a:pathLst>
              <a:path h="1136748" w="2309723">
                <a:moveTo>
                  <a:pt x="0" y="0"/>
                </a:moveTo>
                <a:lnTo>
                  <a:pt x="2309723" y="0"/>
                </a:lnTo>
                <a:lnTo>
                  <a:pt x="2309723" y="1136748"/>
                </a:lnTo>
                <a:lnTo>
                  <a:pt x="0" y="113674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305092" y="-565727"/>
            <a:ext cx="1380401" cy="1131455"/>
          </a:xfrm>
          <a:custGeom>
            <a:avLst/>
            <a:gdLst/>
            <a:ahLst/>
            <a:cxnLst/>
            <a:rect r="r" b="b" t="t" l="l"/>
            <a:pathLst>
              <a:path h="1131455" w="1380401">
                <a:moveTo>
                  <a:pt x="0" y="0"/>
                </a:moveTo>
                <a:lnTo>
                  <a:pt x="1380401" y="0"/>
                </a:lnTo>
                <a:lnTo>
                  <a:pt x="1380401" y="1131454"/>
                </a:lnTo>
                <a:lnTo>
                  <a:pt x="0" y="113145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-2764753">
            <a:off x="-1018438" y="4865599"/>
            <a:ext cx="1380401" cy="1131455"/>
          </a:xfrm>
          <a:custGeom>
            <a:avLst/>
            <a:gdLst/>
            <a:ahLst/>
            <a:cxnLst/>
            <a:rect r="r" b="b" t="t" l="l"/>
            <a:pathLst>
              <a:path h="1131455" w="1380401">
                <a:moveTo>
                  <a:pt x="0" y="0"/>
                </a:moveTo>
                <a:lnTo>
                  <a:pt x="1380401" y="0"/>
                </a:lnTo>
                <a:lnTo>
                  <a:pt x="1380401" y="1131455"/>
                </a:lnTo>
                <a:lnTo>
                  <a:pt x="0" y="113145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8017816" y="-745751"/>
            <a:ext cx="1380401" cy="1131455"/>
          </a:xfrm>
          <a:custGeom>
            <a:avLst/>
            <a:gdLst/>
            <a:ahLst/>
            <a:cxnLst/>
            <a:rect r="r" b="b" t="t" l="l"/>
            <a:pathLst>
              <a:path h="1131455" w="1380401">
                <a:moveTo>
                  <a:pt x="0" y="0"/>
                </a:moveTo>
                <a:lnTo>
                  <a:pt x="1380401" y="0"/>
                </a:lnTo>
                <a:lnTo>
                  <a:pt x="1380401" y="1131455"/>
                </a:lnTo>
                <a:lnTo>
                  <a:pt x="0" y="113145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731520" y="248636"/>
            <a:ext cx="2757660" cy="6734471"/>
          </a:xfrm>
          <a:custGeom>
            <a:avLst/>
            <a:gdLst/>
            <a:ahLst/>
            <a:cxnLst/>
            <a:rect r="r" b="b" t="t" l="l"/>
            <a:pathLst>
              <a:path h="6734471" w="2757660">
                <a:moveTo>
                  <a:pt x="0" y="0"/>
                </a:moveTo>
                <a:lnTo>
                  <a:pt x="2757660" y="0"/>
                </a:lnTo>
                <a:lnTo>
                  <a:pt x="2757660" y="6734471"/>
                </a:lnTo>
                <a:lnTo>
                  <a:pt x="0" y="673447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124130" t="-5294" r="-12413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279922" y="248636"/>
            <a:ext cx="2742158" cy="6734471"/>
          </a:xfrm>
          <a:custGeom>
            <a:avLst/>
            <a:gdLst/>
            <a:ahLst/>
            <a:cxnLst/>
            <a:rect r="r" b="b" t="t" l="l"/>
            <a:pathLst>
              <a:path h="6734471" w="2742158">
                <a:moveTo>
                  <a:pt x="0" y="0"/>
                </a:moveTo>
                <a:lnTo>
                  <a:pt x="2742158" y="0"/>
                </a:lnTo>
                <a:lnTo>
                  <a:pt x="2742158" y="6734471"/>
                </a:lnTo>
                <a:lnTo>
                  <a:pt x="0" y="673447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125109" t="0" r="-107508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434486" y="1438031"/>
            <a:ext cx="697147" cy="1503651"/>
          </a:xfrm>
          <a:custGeom>
            <a:avLst/>
            <a:gdLst/>
            <a:ahLst/>
            <a:cxnLst/>
            <a:rect r="r" b="b" t="t" l="l"/>
            <a:pathLst>
              <a:path h="1503651" w="697147">
                <a:moveTo>
                  <a:pt x="0" y="0"/>
                </a:moveTo>
                <a:lnTo>
                  <a:pt x="697148" y="0"/>
                </a:lnTo>
                <a:lnTo>
                  <a:pt x="697148" y="1503651"/>
                </a:lnTo>
                <a:lnTo>
                  <a:pt x="0" y="150365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true" rot="0">
            <a:off x="5434486" y="4486116"/>
            <a:ext cx="697147" cy="1503651"/>
          </a:xfrm>
          <a:custGeom>
            <a:avLst/>
            <a:gdLst/>
            <a:ahLst/>
            <a:cxnLst/>
            <a:rect r="r" b="b" t="t" l="l"/>
            <a:pathLst>
              <a:path h="1503651" w="697147">
                <a:moveTo>
                  <a:pt x="0" y="1503652"/>
                </a:moveTo>
                <a:lnTo>
                  <a:pt x="697148" y="1503652"/>
                </a:lnTo>
                <a:lnTo>
                  <a:pt x="697148" y="0"/>
                </a:lnTo>
                <a:lnTo>
                  <a:pt x="0" y="0"/>
                </a:lnTo>
                <a:lnTo>
                  <a:pt x="0" y="1503652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5478371" y="3536090"/>
            <a:ext cx="849922" cy="294381"/>
          </a:xfrm>
          <a:custGeom>
            <a:avLst/>
            <a:gdLst/>
            <a:ahLst/>
            <a:cxnLst/>
            <a:rect r="r" b="b" t="t" l="l"/>
            <a:pathLst>
              <a:path h="294381" w="849922">
                <a:moveTo>
                  <a:pt x="0" y="0"/>
                </a:moveTo>
                <a:lnTo>
                  <a:pt x="849922" y="0"/>
                </a:lnTo>
                <a:lnTo>
                  <a:pt x="849922" y="294381"/>
                </a:lnTo>
                <a:lnTo>
                  <a:pt x="0" y="29438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-129517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-10800000">
            <a:off x="3547608" y="4542811"/>
            <a:ext cx="697147" cy="1503651"/>
          </a:xfrm>
          <a:custGeom>
            <a:avLst/>
            <a:gdLst/>
            <a:ahLst/>
            <a:cxnLst/>
            <a:rect r="r" b="b" t="t" l="l"/>
            <a:pathLst>
              <a:path h="1503651" w="697147">
                <a:moveTo>
                  <a:pt x="0" y="0"/>
                </a:moveTo>
                <a:lnTo>
                  <a:pt x="697148" y="0"/>
                </a:lnTo>
                <a:lnTo>
                  <a:pt x="697148" y="1503651"/>
                </a:lnTo>
                <a:lnTo>
                  <a:pt x="0" y="150365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true" rot="-10800000">
            <a:off x="3547608" y="1494726"/>
            <a:ext cx="697147" cy="1503651"/>
          </a:xfrm>
          <a:custGeom>
            <a:avLst/>
            <a:gdLst/>
            <a:ahLst/>
            <a:cxnLst/>
            <a:rect r="r" b="b" t="t" l="l"/>
            <a:pathLst>
              <a:path h="1503651" w="697147">
                <a:moveTo>
                  <a:pt x="0" y="1503651"/>
                </a:moveTo>
                <a:lnTo>
                  <a:pt x="697148" y="1503651"/>
                </a:lnTo>
                <a:lnTo>
                  <a:pt x="697148" y="0"/>
                </a:lnTo>
                <a:lnTo>
                  <a:pt x="0" y="0"/>
                </a:lnTo>
                <a:lnTo>
                  <a:pt x="0" y="1503651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-10800000">
            <a:off x="3350949" y="3654022"/>
            <a:ext cx="849922" cy="294381"/>
          </a:xfrm>
          <a:custGeom>
            <a:avLst/>
            <a:gdLst/>
            <a:ahLst/>
            <a:cxnLst/>
            <a:rect r="r" b="b" t="t" l="l"/>
            <a:pathLst>
              <a:path h="294381" w="849922">
                <a:moveTo>
                  <a:pt x="0" y="0"/>
                </a:moveTo>
                <a:lnTo>
                  <a:pt x="849922" y="0"/>
                </a:lnTo>
                <a:lnTo>
                  <a:pt x="849922" y="294381"/>
                </a:lnTo>
                <a:lnTo>
                  <a:pt x="0" y="29438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-129517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1100572" y="1537372"/>
            <a:ext cx="1869835" cy="470728"/>
          </a:xfrm>
          <a:custGeom>
            <a:avLst/>
            <a:gdLst/>
            <a:ahLst/>
            <a:cxnLst/>
            <a:rect r="r" b="b" t="t" l="l"/>
            <a:pathLst>
              <a:path h="470728" w="1869835">
                <a:moveTo>
                  <a:pt x="0" y="0"/>
                </a:moveTo>
                <a:lnTo>
                  <a:pt x="1869836" y="0"/>
                </a:lnTo>
                <a:lnTo>
                  <a:pt x="1869836" y="470728"/>
                </a:lnTo>
                <a:lnTo>
                  <a:pt x="0" y="47072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97488" y="4141652"/>
            <a:ext cx="1710655" cy="411041"/>
          </a:xfrm>
          <a:custGeom>
            <a:avLst/>
            <a:gdLst/>
            <a:ahLst/>
            <a:cxnLst/>
            <a:rect r="r" b="b" t="t" l="l"/>
            <a:pathLst>
              <a:path h="411041" w="1710655">
                <a:moveTo>
                  <a:pt x="0" y="0"/>
                </a:moveTo>
                <a:lnTo>
                  <a:pt x="1710655" y="0"/>
                </a:lnTo>
                <a:lnTo>
                  <a:pt x="1710655" y="411041"/>
                </a:lnTo>
                <a:lnTo>
                  <a:pt x="0" y="41104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693609" y="2083082"/>
            <a:ext cx="1536637" cy="1168158"/>
          </a:xfrm>
          <a:custGeom>
            <a:avLst/>
            <a:gdLst/>
            <a:ahLst/>
            <a:cxnLst/>
            <a:rect r="r" b="b" t="t" l="l"/>
            <a:pathLst>
              <a:path h="1168158" w="1536637">
                <a:moveTo>
                  <a:pt x="0" y="0"/>
                </a:moveTo>
                <a:lnTo>
                  <a:pt x="1536637" y="0"/>
                </a:lnTo>
                <a:lnTo>
                  <a:pt x="1536637" y="1168157"/>
                </a:lnTo>
                <a:lnTo>
                  <a:pt x="0" y="1168157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693609" y="4720858"/>
            <a:ext cx="1630583" cy="710468"/>
          </a:xfrm>
          <a:custGeom>
            <a:avLst/>
            <a:gdLst/>
            <a:ahLst/>
            <a:cxnLst/>
            <a:rect r="r" b="b" t="t" l="l"/>
            <a:pathLst>
              <a:path h="710468" w="1630583">
                <a:moveTo>
                  <a:pt x="0" y="0"/>
                </a:moveTo>
                <a:lnTo>
                  <a:pt x="1630582" y="0"/>
                </a:lnTo>
                <a:lnTo>
                  <a:pt x="1630582" y="710468"/>
                </a:lnTo>
                <a:lnTo>
                  <a:pt x="0" y="710468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892722" y="910130"/>
            <a:ext cx="2285536" cy="584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93"/>
              </a:lnSpc>
              <a:spcBef>
                <a:spcPct val="0"/>
              </a:spcBef>
            </a:pPr>
            <a:r>
              <a:rPr lang="en-US" b="true" sz="1709">
                <a:solidFill>
                  <a:srgbClr val="000000"/>
                </a:solidFill>
                <a:latin typeface="Decalotype Ultra-Bold"/>
                <a:ea typeface="Decalotype Ultra-Bold"/>
                <a:cs typeface="Decalotype Ultra-Bold"/>
                <a:sym typeface="Decalotype Ultra-Bold"/>
              </a:rPr>
              <a:t>Private Jet Partnerships &amp; Luxury Travel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57291" y="2054507"/>
            <a:ext cx="2029033" cy="1993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5"/>
              </a:lnSpc>
            </a:pPr>
            <a:r>
              <a:rPr lang="en-US" sz="1025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VistaJet is a prominent private jet provider that partners with luxury hotels and offers a seamless travel experience for high-net-worth individuals. They offer bespoke services, including private flight bookings and luxury car rentals.</a:t>
            </a:r>
          </a:p>
          <a:p>
            <a:pPr algn="l">
              <a:lnSpc>
                <a:spcPts val="1435"/>
              </a:lnSpc>
            </a:pPr>
          </a:p>
          <a:p>
            <a:pPr algn="l">
              <a:lnSpc>
                <a:spcPts val="1435"/>
              </a:lnSpc>
              <a:spcBef>
                <a:spcPct val="0"/>
              </a:spcBef>
            </a:pPr>
            <a:r>
              <a:rPr lang="en-US" b="true" sz="102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503109" y="1136950"/>
            <a:ext cx="1958760" cy="871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3"/>
              </a:lnSpc>
              <a:spcBef>
                <a:spcPct val="0"/>
              </a:spcBef>
            </a:pPr>
            <a:r>
              <a:rPr lang="en-US" b="true" sz="1702">
                <a:solidFill>
                  <a:srgbClr val="000000"/>
                </a:solidFill>
                <a:latin typeface="Decalotype Ultra-Bold"/>
                <a:ea typeface="Decalotype Ultra-Bold"/>
                <a:cs typeface="Decalotype Ultra-Bold"/>
                <a:sym typeface="Decalotype Ultra-Bold"/>
              </a:rPr>
              <a:t>First-Class Chauffeur Transfers &amp; Luxury Lounge Access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766443" y="3311796"/>
            <a:ext cx="1660444" cy="1631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4"/>
              </a:lnSpc>
            </a:pPr>
            <a:r>
              <a:rPr lang="en-US" sz="1031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Known for offering premium services like chauffeur-driven transfers and access to exclusive airport lounges for business and first-class passengers.</a:t>
            </a:r>
          </a:p>
          <a:p>
            <a:pPr algn="ctr">
              <a:lnSpc>
                <a:spcPts val="1444"/>
              </a:lnSpc>
              <a:spcBef>
                <a:spcPct val="0"/>
              </a:spcBef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231623" y="4523761"/>
            <a:ext cx="1754011" cy="1440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9"/>
              </a:lnSpc>
              <a:spcBef>
                <a:spcPct val="0"/>
              </a:spcBef>
            </a:pPr>
            <a:r>
              <a:rPr lang="en-US" b="true" sz="105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NetJets, part of Berkshire Hathaway, offers fractional jet ownership and private jet services, allowing customers to book seamless flights and luxury transportation.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682081" y="5405376"/>
            <a:ext cx="1937840" cy="1088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4"/>
              </a:lnSpc>
            </a:pPr>
            <a:r>
              <a:rPr lang="en-US" sz="1031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Offers exclusive limousine transfers and access to their luxurious first-class lounges for high-tier passengers</a:t>
            </a:r>
          </a:p>
          <a:p>
            <a:pPr algn="ctr">
              <a:lnSpc>
                <a:spcPts val="144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617" r="0" b="-1071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555516" y="6051950"/>
            <a:ext cx="2645642" cy="1573084"/>
          </a:xfrm>
          <a:custGeom>
            <a:avLst/>
            <a:gdLst/>
            <a:ahLst/>
            <a:cxnLst/>
            <a:rect r="r" b="b" t="t" l="l"/>
            <a:pathLst>
              <a:path h="1573084" w="2645642">
                <a:moveTo>
                  <a:pt x="0" y="0"/>
                </a:moveTo>
                <a:lnTo>
                  <a:pt x="2645641" y="0"/>
                </a:lnTo>
                <a:lnTo>
                  <a:pt x="2645641" y="1573084"/>
                </a:lnTo>
                <a:lnTo>
                  <a:pt x="0" y="15730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1579083">
            <a:off x="7703983" y="1207838"/>
            <a:ext cx="4417944" cy="907297"/>
          </a:xfrm>
          <a:custGeom>
            <a:avLst/>
            <a:gdLst/>
            <a:ahLst/>
            <a:cxnLst/>
            <a:rect r="r" b="b" t="t" l="l"/>
            <a:pathLst>
              <a:path h="907297" w="4417944">
                <a:moveTo>
                  <a:pt x="0" y="0"/>
                </a:moveTo>
                <a:lnTo>
                  <a:pt x="4417944" y="0"/>
                </a:lnTo>
                <a:lnTo>
                  <a:pt x="4417944" y="907297"/>
                </a:lnTo>
                <a:lnTo>
                  <a:pt x="0" y="907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498664">
            <a:off x="74402" y="-583421"/>
            <a:ext cx="1351347" cy="2629881"/>
          </a:xfrm>
          <a:custGeom>
            <a:avLst/>
            <a:gdLst/>
            <a:ahLst/>
            <a:cxnLst/>
            <a:rect r="r" b="b" t="t" l="l"/>
            <a:pathLst>
              <a:path h="2629881" w="1351347">
                <a:moveTo>
                  <a:pt x="0" y="0"/>
                </a:moveTo>
                <a:lnTo>
                  <a:pt x="1351346" y="0"/>
                </a:lnTo>
                <a:lnTo>
                  <a:pt x="1351346" y="2629882"/>
                </a:lnTo>
                <a:lnTo>
                  <a:pt x="0" y="262988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1049134">
            <a:off x="6410" y="5393313"/>
            <a:ext cx="1269218" cy="1912601"/>
          </a:xfrm>
          <a:custGeom>
            <a:avLst/>
            <a:gdLst/>
            <a:ahLst/>
            <a:cxnLst/>
            <a:rect r="r" b="b" t="t" l="l"/>
            <a:pathLst>
              <a:path h="1912601" w="1269218">
                <a:moveTo>
                  <a:pt x="0" y="0"/>
                </a:moveTo>
                <a:lnTo>
                  <a:pt x="1269218" y="0"/>
                </a:lnTo>
                <a:lnTo>
                  <a:pt x="1269218" y="1912601"/>
                </a:lnTo>
                <a:lnTo>
                  <a:pt x="0" y="191260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9022080" y="5028622"/>
            <a:ext cx="1380401" cy="1131455"/>
          </a:xfrm>
          <a:custGeom>
            <a:avLst/>
            <a:gdLst/>
            <a:ahLst/>
            <a:cxnLst/>
            <a:rect r="r" b="b" t="t" l="l"/>
            <a:pathLst>
              <a:path h="1131455" w="1380401">
                <a:moveTo>
                  <a:pt x="0" y="0"/>
                </a:moveTo>
                <a:lnTo>
                  <a:pt x="1380401" y="0"/>
                </a:lnTo>
                <a:lnTo>
                  <a:pt x="1380401" y="1131455"/>
                </a:lnTo>
                <a:lnTo>
                  <a:pt x="0" y="113145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-2088720">
            <a:off x="758810" y="6547339"/>
            <a:ext cx="2309723" cy="1136748"/>
          </a:xfrm>
          <a:custGeom>
            <a:avLst/>
            <a:gdLst/>
            <a:ahLst/>
            <a:cxnLst/>
            <a:rect r="r" b="b" t="t" l="l"/>
            <a:pathLst>
              <a:path h="1136748" w="2309723">
                <a:moveTo>
                  <a:pt x="0" y="0"/>
                </a:moveTo>
                <a:lnTo>
                  <a:pt x="2309723" y="0"/>
                </a:lnTo>
                <a:lnTo>
                  <a:pt x="2309723" y="1136748"/>
                </a:lnTo>
                <a:lnTo>
                  <a:pt x="0" y="113674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305092" y="-565727"/>
            <a:ext cx="1380401" cy="1131455"/>
          </a:xfrm>
          <a:custGeom>
            <a:avLst/>
            <a:gdLst/>
            <a:ahLst/>
            <a:cxnLst/>
            <a:rect r="r" b="b" t="t" l="l"/>
            <a:pathLst>
              <a:path h="1131455" w="1380401">
                <a:moveTo>
                  <a:pt x="0" y="0"/>
                </a:moveTo>
                <a:lnTo>
                  <a:pt x="1380401" y="0"/>
                </a:lnTo>
                <a:lnTo>
                  <a:pt x="1380401" y="1131454"/>
                </a:lnTo>
                <a:lnTo>
                  <a:pt x="0" y="113145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-2764753">
            <a:off x="-1018438" y="4865599"/>
            <a:ext cx="1380401" cy="1131455"/>
          </a:xfrm>
          <a:custGeom>
            <a:avLst/>
            <a:gdLst/>
            <a:ahLst/>
            <a:cxnLst/>
            <a:rect r="r" b="b" t="t" l="l"/>
            <a:pathLst>
              <a:path h="1131455" w="1380401">
                <a:moveTo>
                  <a:pt x="0" y="0"/>
                </a:moveTo>
                <a:lnTo>
                  <a:pt x="1380401" y="0"/>
                </a:lnTo>
                <a:lnTo>
                  <a:pt x="1380401" y="1131455"/>
                </a:lnTo>
                <a:lnTo>
                  <a:pt x="0" y="113145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8017816" y="-745751"/>
            <a:ext cx="1380401" cy="1131455"/>
          </a:xfrm>
          <a:custGeom>
            <a:avLst/>
            <a:gdLst/>
            <a:ahLst/>
            <a:cxnLst/>
            <a:rect r="r" b="b" t="t" l="l"/>
            <a:pathLst>
              <a:path h="1131455" w="1380401">
                <a:moveTo>
                  <a:pt x="0" y="0"/>
                </a:moveTo>
                <a:lnTo>
                  <a:pt x="1380401" y="0"/>
                </a:lnTo>
                <a:lnTo>
                  <a:pt x="1380401" y="1131455"/>
                </a:lnTo>
                <a:lnTo>
                  <a:pt x="0" y="113145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731520" y="248636"/>
            <a:ext cx="2757660" cy="6734471"/>
          </a:xfrm>
          <a:custGeom>
            <a:avLst/>
            <a:gdLst/>
            <a:ahLst/>
            <a:cxnLst/>
            <a:rect r="r" b="b" t="t" l="l"/>
            <a:pathLst>
              <a:path h="6734471" w="2757660">
                <a:moveTo>
                  <a:pt x="0" y="0"/>
                </a:moveTo>
                <a:lnTo>
                  <a:pt x="2757660" y="0"/>
                </a:lnTo>
                <a:lnTo>
                  <a:pt x="2757660" y="6734471"/>
                </a:lnTo>
                <a:lnTo>
                  <a:pt x="0" y="673447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124130" t="-5294" r="-12413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279922" y="248636"/>
            <a:ext cx="2742158" cy="6430657"/>
          </a:xfrm>
          <a:custGeom>
            <a:avLst/>
            <a:gdLst/>
            <a:ahLst/>
            <a:cxnLst/>
            <a:rect r="r" b="b" t="t" l="l"/>
            <a:pathLst>
              <a:path h="6430657" w="2742158">
                <a:moveTo>
                  <a:pt x="0" y="0"/>
                </a:moveTo>
                <a:lnTo>
                  <a:pt x="2742158" y="0"/>
                </a:lnTo>
                <a:lnTo>
                  <a:pt x="2742158" y="6430656"/>
                </a:lnTo>
                <a:lnTo>
                  <a:pt x="0" y="643065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117210" t="0" r="-100402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434486" y="1438031"/>
            <a:ext cx="697147" cy="1503651"/>
          </a:xfrm>
          <a:custGeom>
            <a:avLst/>
            <a:gdLst/>
            <a:ahLst/>
            <a:cxnLst/>
            <a:rect r="r" b="b" t="t" l="l"/>
            <a:pathLst>
              <a:path h="1503651" w="697147">
                <a:moveTo>
                  <a:pt x="0" y="0"/>
                </a:moveTo>
                <a:lnTo>
                  <a:pt x="697148" y="0"/>
                </a:lnTo>
                <a:lnTo>
                  <a:pt x="697148" y="1503651"/>
                </a:lnTo>
                <a:lnTo>
                  <a:pt x="0" y="150365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true" rot="0">
            <a:off x="5434486" y="4486116"/>
            <a:ext cx="697147" cy="1503651"/>
          </a:xfrm>
          <a:custGeom>
            <a:avLst/>
            <a:gdLst/>
            <a:ahLst/>
            <a:cxnLst/>
            <a:rect r="r" b="b" t="t" l="l"/>
            <a:pathLst>
              <a:path h="1503651" w="697147">
                <a:moveTo>
                  <a:pt x="0" y="1503652"/>
                </a:moveTo>
                <a:lnTo>
                  <a:pt x="697148" y="1503652"/>
                </a:lnTo>
                <a:lnTo>
                  <a:pt x="697148" y="0"/>
                </a:lnTo>
                <a:lnTo>
                  <a:pt x="0" y="0"/>
                </a:lnTo>
                <a:lnTo>
                  <a:pt x="0" y="1503652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5478371" y="3536090"/>
            <a:ext cx="849922" cy="294381"/>
          </a:xfrm>
          <a:custGeom>
            <a:avLst/>
            <a:gdLst/>
            <a:ahLst/>
            <a:cxnLst/>
            <a:rect r="r" b="b" t="t" l="l"/>
            <a:pathLst>
              <a:path h="294381" w="849922">
                <a:moveTo>
                  <a:pt x="0" y="0"/>
                </a:moveTo>
                <a:lnTo>
                  <a:pt x="849922" y="0"/>
                </a:lnTo>
                <a:lnTo>
                  <a:pt x="849922" y="294381"/>
                </a:lnTo>
                <a:lnTo>
                  <a:pt x="0" y="29438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-129517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-10800000">
            <a:off x="3547608" y="4542811"/>
            <a:ext cx="697147" cy="1503651"/>
          </a:xfrm>
          <a:custGeom>
            <a:avLst/>
            <a:gdLst/>
            <a:ahLst/>
            <a:cxnLst/>
            <a:rect r="r" b="b" t="t" l="l"/>
            <a:pathLst>
              <a:path h="1503651" w="697147">
                <a:moveTo>
                  <a:pt x="0" y="0"/>
                </a:moveTo>
                <a:lnTo>
                  <a:pt x="697148" y="0"/>
                </a:lnTo>
                <a:lnTo>
                  <a:pt x="697148" y="1503651"/>
                </a:lnTo>
                <a:lnTo>
                  <a:pt x="0" y="150365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true" rot="-10800000">
            <a:off x="3547608" y="1494726"/>
            <a:ext cx="697147" cy="1503651"/>
          </a:xfrm>
          <a:custGeom>
            <a:avLst/>
            <a:gdLst/>
            <a:ahLst/>
            <a:cxnLst/>
            <a:rect r="r" b="b" t="t" l="l"/>
            <a:pathLst>
              <a:path h="1503651" w="697147">
                <a:moveTo>
                  <a:pt x="0" y="1503651"/>
                </a:moveTo>
                <a:lnTo>
                  <a:pt x="697148" y="1503651"/>
                </a:lnTo>
                <a:lnTo>
                  <a:pt x="697148" y="0"/>
                </a:lnTo>
                <a:lnTo>
                  <a:pt x="0" y="0"/>
                </a:lnTo>
                <a:lnTo>
                  <a:pt x="0" y="1503651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-10800000">
            <a:off x="3350949" y="3654022"/>
            <a:ext cx="849922" cy="294381"/>
          </a:xfrm>
          <a:custGeom>
            <a:avLst/>
            <a:gdLst/>
            <a:ahLst/>
            <a:cxnLst/>
            <a:rect r="r" b="b" t="t" l="l"/>
            <a:pathLst>
              <a:path h="294381" w="849922">
                <a:moveTo>
                  <a:pt x="0" y="0"/>
                </a:moveTo>
                <a:lnTo>
                  <a:pt x="849922" y="0"/>
                </a:lnTo>
                <a:lnTo>
                  <a:pt x="849922" y="294381"/>
                </a:lnTo>
                <a:lnTo>
                  <a:pt x="0" y="29438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-129517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1039480" y="1570345"/>
            <a:ext cx="1946154" cy="1231835"/>
          </a:xfrm>
          <a:custGeom>
            <a:avLst/>
            <a:gdLst/>
            <a:ahLst/>
            <a:cxnLst/>
            <a:rect r="r" b="b" t="t" l="l"/>
            <a:pathLst>
              <a:path h="1231835" w="1946154">
                <a:moveTo>
                  <a:pt x="0" y="0"/>
                </a:moveTo>
                <a:lnTo>
                  <a:pt x="1946153" y="0"/>
                </a:lnTo>
                <a:lnTo>
                  <a:pt x="1946153" y="1231835"/>
                </a:lnTo>
                <a:lnTo>
                  <a:pt x="0" y="123183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99969" y="4078496"/>
            <a:ext cx="1914239" cy="578998"/>
          </a:xfrm>
          <a:custGeom>
            <a:avLst/>
            <a:gdLst/>
            <a:ahLst/>
            <a:cxnLst/>
            <a:rect r="r" b="b" t="t" l="l"/>
            <a:pathLst>
              <a:path h="578998" w="1914239">
                <a:moveTo>
                  <a:pt x="0" y="0"/>
                </a:moveTo>
                <a:lnTo>
                  <a:pt x="1914239" y="0"/>
                </a:lnTo>
                <a:lnTo>
                  <a:pt x="1914239" y="578998"/>
                </a:lnTo>
                <a:lnTo>
                  <a:pt x="0" y="57899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429517" y="1874460"/>
            <a:ext cx="2172070" cy="562903"/>
          </a:xfrm>
          <a:custGeom>
            <a:avLst/>
            <a:gdLst/>
            <a:ahLst/>
            <a:cxnLst/>
            <a:rect r="r" b="b" t="t" l="l"/>
            <a:pathLst>
              <a:path h="562903" w="2172070">
                <a:moveTo>
                  <a:pt x="0" y="0"/>
                </a:moveTo>
                <a:lnTo>
                  <a:pt x="2172070" y="0"/>
                </a:lnTo>
                <a:lnTo>
                  <a:pt x="2172070" y="562902"/>
                </a:lnTo>
                <a:lnTo>
                  <a:pt x="0" y="56290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674559" y="4027462"/>
            <a:ext cx="1787310" cy="1090185"/>
          </a:xfrm>
          <a:custGeom>
            <a:avLst/>
            <a:gdLst/>
            <a:ahLst/>
            <a:cxnLst/>
            <a:rect r="r" b="b" t="t" l="l"/>
            <a:pathLst>
              <a:path h="1090185" w="1787310">
                <a:moveTo>
                  <a:pt x="0" y="0"/>
                </a:moveTo>
                <a:lnTo>
                  <a:pt x="1787310" y="0"/>
                </a:lnTo>
                <a:lnTo>
                  <a:pt x="1787310" y="1090186"/>
                </a:lnTo>
                <a:lnTo>
                  <a:pt x="0" y="1090186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892722" y="910130"/>
            <a:ext cx="2285536" cy="584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93"/>
              </a:lnSpc>
              <a:spcBef>
                <a:spcPct val="0"/>
              </a:spcBef>
            </a:pPr>
            <a:r>
              <a:rPr lang="en-US" b="true" sz="1709">
                <a:solidFill>
                  <a:srgbClr val="000000"/>
                </a:solidFill>
                <a:latin typeface="Decalotype Ultra-Bold"/>
                <a:ea typeface="Decalotype Ultra-Bold"/>
                <a:cs typeface="Decalotype Ultra-Bold"/>
                <a:sym typeface="Decalotype Ultra-Bold"/>
              </a:rPr>
              <a:t>Elite Mileage Rewards &amp; VIP Airport Pickup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503109" y="1136950"/>
            <a:ext cx="1958760" cy="575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3"/>
              </a:lnSpc>
              <a:spcBef>
                <a:spcPct val="0"/>
              </a:spcBef>
            </a:pPr>
            <a:r>
              <a:rPr lang="en-US" b="true" sz="1702">
                <a:solidFill>
                  <a:srgbClr val="000000"/>
                </a:solidFill>
                <a:latin typeface="Decalotype Ultra-Bold"/>
                <a:ea typeface="Decalotype Ultra-Bold"/>
                <a:cs typeface="Decalotype Ultra-Bold"/>
                <a:sym typeface="Decalotype Ultra-Bold"/>
              </a:rPr>
              <a:t>Jet &amp; Drive Packages &amp; Exclusive Car Brands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559226" y="2631414"/>
            <a:ext cx="2183550" cy="1269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4"/>
              </a:lnSpc>
              <a:spcBef>
                <a:spcPct val="0"/>
              </a:spcBef>
            </a:pPr>
            <a:r>
              <a:rPr lang="en-US" b="true" sz="103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High-end car rental companies like Sixt and Hertz have special deals with luxury car brands such as Aston Martin, offering exclusive options for business travelers and first-class customers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99969" y="2882618"/>
            <a:ext cx="2098580" cy="1259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9"/>
              </a:lnSpc>
            </a:pPr>
            <a:r>
              <a:rPr lang="en-US" sz="1056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This service often works in conjunction with top airlines, offering elite members luxury perks like priority access, VIP transfers, and upgrades.</a:t>
            </a:r>
          </a:p>
          <a:p>
            <a:pPr algn="l">
              <a:lnSpc>
                <a:spcPts val="1479"/>
              </a:lnSpc>
              <a:spcBef>
                <a:spcPct val="0"/>
              </a:spcBef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6663747" y="5080425"/>
            <a:ext cx="2079029" cy="1269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4"/>
              </a:lnSpc>
              <a:spcBef>
                <a:spcPct val="0"/>
              </a:spcBef>
            </a:pPr>
            <a:r>
              <a:rPr lang="en-US" b="true" sz="103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Partnering with luxury brands such as Bentley or Rolls-Royce, Marriott hotels within the Luxury Collection offer car rentals and seamless transport services for their top-tier guests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43167" y="4877965"/>
            <a:ext cx="2055382" cy="1440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9"/>
              </a:lnSpc>
            </a:pPr>
            <a:r>
              <a:rPr lang="en-US" sz="1056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Lufthansa’s frequent flyer program allows customers to redeem miles for luxury upgrades, including car rentals, hotel stays, and more.</a:t>
            </a:r>
          </a:p>
          <a:p>
            <a:pPr algn="l">
              <a:lnSpc>
                <a:spcPts val="1479"/>
              </a:lnSpc>
            </a:pPr>
          </a:p>
          <a:p>
            <a:pPr algn="l">
              <a:lnSpc>
                <a:spcPts val="14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617" r="0" b="-1071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555516" y="6051950"/>
            <a:ext cx="2645642" cy="1573084"/>
          </a:xfrm>
          <a:custGeom>
            <a:avLst/>
            <a:gdLst/>
            <a:ahLst/>
            <a:cxnLst/>
            <a:rect r="r" b="b" t="t" l="l"/>
            <a:pathLst>
              <a:path h="1573084" w="2645642">
                <a:moveTo>
                  <a:pt x="0" y="0"/>
                </a:moveTo>
                <a:lnTo>
                  <a:pt x="2645641" y="0"/>
                </a:lnTo>
                <a:lnTo>
                  <a:pt x="2645641" y="1573084"/>
                </a:lnTo>
                <a:lnTo>
                  <a:pt x="0" y="15730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1579083">
            <a:off x="7703983" y="1207838"/>
            <a:ext cx="4417944" cy="907297"/>
          </a:xfrm>
          <a:custGeom>
            <a:avLst/>
            <a:gdLst/>
            <a:ahLst/>
            <a:cxnLst/>
            <a:rect r="r" b="b" t="t" l="l"/>
            <a:pathLst>
              <a:path h="907297" w="4417944">
                <a:moveTo>
                  <a:pt x="0" y="0"/>
                </a:moveTo>
                <a:lnTo>
                  <a:pt x="4417944" y="0"/>
                </a:lnTo>
                <a:lnTo>
                  <a:pt x="4417944" y="907297"/>
                </a:lnTo>
                <a:lnTo>
                  <a:pt x="0" y="907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498664">
            <a:off x="74402" y="-583421"/>
            <a:ext cx="1351347" cy="2629881"/>
          </a:xfrm>
          <a:custGeom>
            <a:avLst/>
            <a:gdLst/>
            <a:ahLst/>
            <a:cxnLst/>
            <a:rect r="r" b="b" t="t" l="l"/>
            <a:pathLst>
              <a:path h="2629881" w="1351347">
                <a:moveTo>
                  <a:pt x="0" y="0"/>
                </a:moveTo>
                <a:lnTo>
                  <a:pt x="1351346" y="0"/>
                </a:lnTo>
                <a:lnTo>
                  <a:pt x="1351346" y="2629882"/>
                </a:lnTo>
                <a:lnTo>
                  <a:pt x="0" y="262988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1049134">
            <a:off x="6410" y="5393313"/>
            <a:ext cx="1269218" cy="1912601"/>
          </a:xfrm>
          <a:custGeom>
            <a:avLst/>
            <a:gdLst/>
            <a:ahLst/>
            <a:cxnLst/>
            <a:rect r="r" b="b" t="t" l="l"/>
            <a:pathLst>
              <a:path h="1912601" w="1269218">
                <a:moveTo>
                  <a:pt x="0" y="0"/>
                </a:moveTo>
                <a:lnTo>
                  <a:pt x="1269218" y="0"/>
                </a:lnTo>
                <a:lnTo>
                  <a:pt x="1269218" y="1912601"/>
                </a:lnTo>
                <a:lnTo>
                  <a:pt x="0" y="191260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9022080" y="5028622"/>
            <a:ext cx="1380401" cy="1131455"/>
          </a:xfrm>
          <a:custGeom>
            <a:avLst/>
            <a:gdLst/>
            <a:ahLst/>
            <a:cxnLst/>
            <a:rect r="r" b="b" t="t" l="l"/>
            <a:pathLst>
              <a:path h="1131455" w="1380401">
                <a:moveTo>
                  <a:pt x="0" y="0"/>
                </a:moveTo>
                <a:lnTo>
                  <a:pt x="1380401" y="0"/>
                </a:lnTo>
                <a:lnTo>
                  <a:pt x="1380401" y="1131455"/>
                </a:lnTo>
                <a:lnTo>
                  <a:pt x="0" y="113145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-2088720">
            <a:off x="758810" y="6547339"/>
            <a:ext cx="2309723" cy="1136748"/>
          </a:xfrm>
          <a:custGeom>
            <a:avLst/>
            <a:gdLst/>
            <a:ahLst/>
            <a:cxnLst/>
            <a:rect r="r" b="b" t="t" l="l"/>
            <a:pathLst>
              <a:path h="1136748" w="2309723">
                <a:moveTo>
                  <a:pt x="0" y="0"/>
                </a:moveTo>
                <a:lnTo>
                  <a:pt x="2309723" y="0"/>
                </a:lnTo>
                <a:lnTo>
                  <a:pt x="2309723" y="1136748"/>
                </a:lnTo>
                <a:lnTo>
                  <a:pt x="0" y="113674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305092" y="-565727"/>
            <a:ext cx="1380401" cy="1131455"/>
          </a:xfrm>
          <a:custGeom>
            <a:avLst/>
            <a:gdLst/>
            <a:ahLst/>
            <a:cxnLst/>
            <a:rect r="r" b="b" t="t" l="l"/>
            <a:pathLst>
              <a:path h="1131455" w="1380401">
                <a:moveTo>
                  <a:pt x="0" y="0"/>
                </a:moveTo>
                <a:lnTo>
                  <a:pt x="1380401" y="0"/>
                </a:lnTo>
                <a:lnTo>
                  <a:pt x="1380401" y="1131454"/>
                </a:lnTo>
                <a:lnTo>
                  <a:pt x="0" y="113145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-2764753">
            <a:off x="-1018438" y="4865599"/>
            <a:ext cx="1380401" cy="1131455"/>
          </a:xfrm>
          <a:custGeom>
            <a:avLst/>
            <a:gdLst/>
            <a:ahLst/>
            <a:cxnLst/>
            <a:rect r="r" b="b" t="t" l="l"/>
            <a:pathLst>
              <a:path h="1131455" w="1380401">
                <a:moveTo>
                  <a:pt x="0" y="0"/>
                </a:moveTo>
                <a:lnTo>
                  <a:pt x="1380401" y="0"/>
                </a:lnTo>
                <a:lnTo>
                  <a:pt x="1380401" y="1131455"/>
                </a:lnTo>
                <a:lnTo>
                  <a:pt x="0" y="113145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8017816" y="-745751"/>
            <a:ext cx="1380401" cy="1131455"/>
          </a:xfrm>
          <a:custGeom>
            <a:avLst/>
            <a:gdLst/>
            <a:ahLst/>
            <a:cxnLst/>
            <a:rect r="r" b="b" t="t" l="l"/>
            <a:pathLst>
              <a:path h="1131455" w="1380401">
                <a:moveTo>
                  <a:pt x="0" y="0"/>
                </a:moveTo>
                <a:lnTo>
                  <a:pt x="1380401" y="0"/>
                </a:lnTo>
                <a:lnTo>
                  <a:pt x="1380401" y="1131455"/>
                </a:lnTo>
                <a:lnTo>
                  <a:pt x="0" y="113145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731520" y="248636"/>
            <a:ext cx="2757660" cy="6734471"/>
          </a:xfrm>
          <a:custGeom>
            <a:avLst/>
            <a:gdLst/>
            <a:ahLst/>
            <a:cxnLst/>
            <a:rect r="r" b="b" t="t" l="l"/>
            <a:pathLst>
              <a:path h="6734471" w="2757660">
                <a:moveTo>
                  <a:pt x="0" y="0"/>
                </a:moveTo>
                <a:lnTo>
                  <a:pt x="2757660" y="0"/>
                </a:lnTo>
                <a:lnTo>
                  <a:pt x="2757660" y="6734471"/>
                </a:lnTo>
                <a:lnTo>
                  <a:pt x="0" y="673447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124130" t="-5294" r="-12413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279922" y="248636"/>
            <a:ext cx="2742158" cy="6430657"/>
          </a:xfrm>
          <a:custGeom>
            <a:avLst/>
            <a:gdLst/>
            <a:ahLst/>
            <a:cxnLst/>
            <a:rect r="r" b="b" t="t" l="l"/>
            <a:pathLst>
              <a:path h="6430657" w="2742158">
                <a:moveTo>
                  <a:pt x="0" y="0"/>
                </a:moveTo>
                <a:lnTo>
                  <a:pt x="2742158" y="0"/>
                </a:lnTo>
                <a:lnTo>
                  <a:pt x="2742158" y="6430656"/>
                </a:lnTo>
                <a:lnTo>
                  <a:pt x="0" y="643065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117210" t="0" r="-100402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434486" y="1438031"/>
            <a:ext cx="697147" cy="1503651"/>
          </a:xfrm>
          <a:custGeom>
            <a:avLst/>
            <a:gdLst/>
            <a:ahLst/>
            <a:cxnLst/>
            <a:rect r="r" b="b" t="t" l="l"/>
            <a:pathLst>
              <a:path h="1503651" w="697147">
                <a:moveTo>
                  <a:pt x="0" y="0"/>
                </a:moveTo>
                <a:lnTo>
                  <a:pt x="697148" y="0"/>
                </a:lnTo>
                <a:lnTo>
                  <a:pt x="697148" y="1503651"/>
                </a:lnTo>
                <a:lnTo>
                  <a:pt x="0" y="150365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true" rot="0">
            <a:off x="5434486" y="4486116"/>
            <a:ext cx="697147" cy="1503651"/>
          </a:xfrm>
          <a:custGeom>
            <a:avLst/>
            <a:gdLst/>
            <a:ahLst/>
            <a:cxnLst/>
            <a:rect r="r" b="b" t="t" l="l"/>
            <a:pathLst>
              <a:path h="1503651" w="697147">
                <a:moveTo>
                  <a:pt x="0" y="1503652"/>
                </a:moveTo>
                <a:lnTo>
                  <a:pt x="697148" y="1503652"/>
                </a:lnTo>
                <a:lnTo>
                  <a:pt x="697148" y="0"/>
                </a:lnTo>
                <a:lnTo>
                  <a:pt x="0" y="0"/>
                </a:lnTo>
                <a:lnTo>
                  <a:pt x="0" y="1503652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5478371" y="3536090"/>
            <a:ext cx="849922" cy="294381"/>
          </a:xfrm>
          <a:custGeom>
            <a:avLst/>
            <a:gdLst/>
            <a:ahLst/>
            <a:cxnLst/>
            <a:rect r="r" b="b" t="t" l="l"/>
            <a:pathLst>
              <a:path h="294381" w="849922">
                <a:moveTo>
                  <a:pt x="0" y="0"/>
                </a:moveTo>
                <a:lnTo>
                  <a:pt x="849922" y="0"/>
                </a:lnTo>
                <a:lnTo>
                  <a:pt x="849922" y="294381"/>
                </a:lnTo>
                <a:lnTo>
                  <a:pt x="0" y="29438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-129517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-10800000">
            <a:off x="3547608" y="4542811"/>
            <a:ext cx="697147" cy="1503651"/>
          </a:xfrm>
          <a:custGeom>
            <a:avLst/>
            <a:gdLst/>
            <a:ahLst/>
            <a:cxnLst/>
            <a:rect r="r" b="b" t="t" l="l"/>
            <a:pathLst>
              <a:path h="1503651" w="697147">
                <a:moveTo>
                  <a:pt x="0" y="0"/>
                </a:moveTo>
                <a:lnTo>
                  <a:pt x="697148" y="0"/>
                </a:lnTo>
                <a:lnTo>
                  <a:pt x="697148" y="1503651"/>
                </a:lnTo>
                <a:lnTo>
                  <a:pt x="0" y="150365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true" rot="-10800000">
            <a:off x="3547608" y="1494726"/>
            <a:ext cx="697147" cy="1503651"/>
          </a:xfrm>
          <a:custGeom>
            <a:avLst/>
            <a:gdLst/>
            <a:ahLst/>
            <a:cxnLst/>
            <a:rect r="r" b="b" t="t" l="l"/>
            <a:pathLst>
              <a:path h="1503651" w="697147">
                <a:moveTo>
                  <a:pt x="0" y="1503651"/>
                </a:moveTo>
                <a:lnTo>
                  <a:pt x="697148" y="1503651"/>
                </a:lnTo>
                <a:lnTo>
                  <a:pt x="697148" y="0"/>
                </a:lnTo>
                <a:lnTo>
                  <a:pt x="0" y="0"/>
                </a:lnTo>
                <a:lnTo>
                  <a:pt x="0" y="1503651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-10800000">
            <a:off x="3350949" y="3654022"/>
            <a:ext cx="849922" cy="294381"/>
          </a:xfrm>
          <a:custGeom>
            <a:avLst/>
            <a:gdLst/>
            <a:ahLst/>
            <a:cxnLst/>
            <a:rect r="r" b="b" t="t" l="l"/>
            <a:pathLst>
              <a:path h="294381" w="849922">
                <a:moveTo>
                  <a:pt x="0" y="0"/>
                </a:moveTo>
                <a:lnTo>
                  <a:pt x="849922" y="0"/>
                </a:lnTo>
                <a:lnTo>
                  <a:pt x="849922" y="294381"/>
                </a:lnTo>
                <a:lnTo>
                  <a:pt x="0" y="29438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-129517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881694" y="1537544"/>
            <a:ext cx="2120087" cy="1191635"/>
          </a:xfrm>
          <a:custGeom>
            <a:avLst/>
            <a:gdLst/>
            <a:ahLst/>
            <a:cxnLst/>
            <a:rect r="r" b="b" t="t" l="l"/>
            <a:pathLst>
              <a:path h="1191635" w="2120087">
                <a:moveTo>
                  <a:pt x="0" y="0"/>
                </a:moveTo>
                <a:lnTo>
                  <a:pt x="2120087" y="0"/>
                </a:lnTo>
                <a:lnTo>
                  <a:pt x="2120087" y="1191635"/>
                </a:lnTo>
                <a:lnTo>
                  <a:pt x="0" y="119163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52243" y="4273963"/>
            <a:ext cx="1916215" cy="985879"/>
          </a:xfrm>
          <a:custGeom>
            <a:avLst/>
            <a:gdLst/>
            <a:ahLst/>
            <a:cxnLst/>
            <a:rect r="r" b="b" t="t" l="l"/>
            <a:pathLst>
              <a:path h="985879" w="1916215">
                <a:moveTo>
                  <a:pt x="0" y="0"/>
                </a:moveTo>
                <a:lnTo>
                  <a:pt x="1916215" y="0"/>
                </a:lnTo>
                <a:lnTo>
                  <a:pt x="1916215" y="985879"/>
                </a:lnTo>
                <a:lnTo>
                  <a:pt x="0" y="98587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717012" y="2189857"/>
            <a:ext cx="1818849" cy="739756"/>
          </a:xfrm>
          <a:custGeom>
            <a:avLst/>
            <a:gdLst/>
            <a:ahLst/>
            <a:cxnLst/>
            <a:rect r="r" b="b" t="t" l="l"/>
            <a:pathLst>
              <a:path h="739756" w="1818849">
                <a:moveTo>
                  <a:pt x="0" y="0"/>
                </a:moveTo>
                <a:lnTo>
                  <a:pt x="1818850" y="0"/>
                </a:lnTo>
                <a:lnTo>
                  <a:pt x="1818850" y="739756"/>
                </a:lnTo>
                <a:lnTo>
                  <a:pt x="0" y="739756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717012" y="3830471"/>
            <a:ext cx="1300804" cy="1102511"/>
          </a:xfrm>
          <a:custGeom>
            <a:avLst/>
            <a:gdLst/>
            <a:ahLst/>
            <a:cxnLst/>
            <a:rect r="r" b="b" t="t" l="l"/>
            <a:pathLst>
              <a:path h="1102511" w="1300804">
                <a:moveTo>
                  <a:pt x="0" y="0"/>
                </a:moveTo>
                <a:lnTo>
                  <a:pt x="1300804" y="0"/>
                </a:lnTo>
                <a:lnTo>
                  <a:pt x="1300804" y="1102511"/>
                </a:lnTo>
                <a:lnTo>
                  <a:pt x="0" y="110251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892722" y="910130"/>
            <a:ext cx="2285536" cy="584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93"/>
              </a:lnSpc>
              <a:spcBef>
                <a:spcPct val="0"/>
              </a:spcBef>
            </a:pPr>
            <a:r>
              <a:rPr lang="en-US" b="true" sz="1709">
                <a:solidFill>
                  <a:srgbClr val="000000"/>
                </a:solidFill>
                <a:latin typeface="Decalotype Ultra-Bold"/>
                <a:ea typeface="Decalotype Ultra-Bold"/>
                <a:cs typeface="Decalotype Ultra-Bold"/>
                <a:sym typeface="Decalotype Ultra-Bold"/>
              </a:rPr>
              <a:t>In-Flight Car Concierge &amp; Hotel &amp; Airline Synergy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503109" y="1136950"/>
            <a:ext cx="2239668" cy="871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3"/>
              </a:lnSpc>
              <a:spcBef>
                <a:spcPct val="0"/>
              </a:spcBef>
            </a:pPr>
            <a:r>
              <a:rPr lang="en-US" b="true" sz="1702">
                <a:solidFill>
                  <a:srgbClr val="000000"/>
                </a:solidFill>
                <a:latin typeface="Decalotype Ultra-Bold"/>
                <a:ea typeface="Decalotype Ultra-Bold"/>
                <a:cs typeface="Decalotype Ultra-Bold"/>
                <a:sym typeface="Decalotype Ultra-Bold"/>
              </a:rPr>
              <a:t>Luxury Experience Packages &amp; VIP Event Access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717012" y="2913107"/>
            <a:ext cx="2183550" cy="1088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4"/>
              </a:lnSpc>
            </a:pPr>
            <a:r>
              <a:rPr lang="en-US" sz="1031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Official F1 luxury experiences offer high-net-worth individuals VIP access to races, including exclusive parking and luxury transport options.</a:t>
            </a:r>
          </a:p>
          <a:p>
            <a:pPr algn="l">
              <a:lnSpc>
                <a:spcPts val="1444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137008" y="2795854"/>
            <a:ext cx="2095476" cy="1440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9"/>
              </a:lnSpc>
              <a:spcBef>
                <a:spcPct val="0"/>
              </a:spcBef>
            </a:pPr>
            <a:r>
              <a:rPr lang="en-US" b="true" sz="105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Collaborations between Four Seasons Hotels and private airlines provide exclusive travel packages where clients are picked up from the airport in luxury cars. Four Seasons also offers in-flight concierge services.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663747" y="5080425"/>
            <a:ext cx="2079029" cy="1269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4"/>
              </a:lnSpc>
            </a:pPr>
            <a:r>
              <a:rPr lang="en-US" sz="1031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MasterCard’s partnership with airlines and luxury brands offers exclusive VIP access to high-profile events like the Met Gala, Formula 1, and more.</a:t>
            </a:r>
          </a:p>
          <a:p>
            <a:pPr algn="l">
              <a:lnSpc>
                <a:spcPts val="1444"/>
              </a:lnSpc>
              <a:spcBef>
                <a:spcPct val="0"/>
              </a:spcBef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143167" y="5322421"/>
            <a:ext cx="1871041" cy="1440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9"/>
              </a:lnSpc>
            </a:pPr>
            <a:r>
              <a:rPr lang="en-US" sz="1056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This company combines private jet travel with car rentals to offer luxury transport from the airport to any destination, including hotels and events.</a:t>
            </a:r>
          </a:p>
          <a:p>
            <a:pPr algn="l">
              <a:lnSpc>
                <a:spcPts val="14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617" r="0" b="-1071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555516" y="6051950"/>
            <a:ext cx="2645642" cy="1573084"/>
          </a:xfrm>
          <a:custGeom>
            <a:avLst/>
            <a:gdLst/>
            <a:ahLst/>
            <a:cxnLst/>
            <a:rect r="r" b="b" t="t" l="l"/>
            <a:pathLst>
              <a:path h="1573084" w="2645642">
                <a:moveTo>
                  <a:pt x="0" y="0"/>
                </a:moveTo>
                <a:lnTo>
                  <a:pt x="2645641" y="0"/>
                </a:lnTo>
                <a:lnTo>
                  <a:pt x="2645641" y="1573084"/>
                </a:lnTo>
                <a:lnTo>
                  <a:pt x="0" y="15730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1579083">
            <a:off x="7703983" y="1207838"/>
            <a:ext cx="4417944" cy="907297"/>
          </a:xfrm>
          <a:custGeom>
            <a:avLst/>
            <a:gdLst/>
            <a:ahLst/>
            <a:cxnLst/>
            <a:rect r="r" b="b" t="t" l="l"/>
            <a:pathLst>
              <a:path h="907297" w="4417944">
                <a:moveTo>
                  <a:pt x="0" y="0"/>
                </a:moveTo>
                <a:lnTo>
                  <a:pt x="4417944" y="0"/>
                </a:lnTo>
                <a:lnTo>
                  <a:pt x="4417944" y="907297"/>
                </a:lnTo>
                <a:lnTo>
                  <a:pt x="0" y="907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498664">
            <a:off x="74402" y="-583421"/>
            <a:ext cx="1351347" cy="2629881"/>
          </a:xfrm>
          <a:custGeom>
            <a:avLst/>
            <a:gdLst/>
            <a:ahLst/>
            <a:cxnLst/>
            <a:rect r="r" b="b" t="t" l="l"/>
            <a:pathLst>
              <a:path h="2629881" w="1351347">
                <a:moveTo>
                  <a:pt x="0" y="0"/>
                </a:moveTo>
                <a:lnTo>
                  <a:pt x="1351346" y="0"/>
                </a:lnTo>
                <a:lnTo>
                  <a:pt x="1351346" y="2629882"/>
                </a:lnTo>
                <a:lnTo>
                  <a:pt x="0" y="262988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1049134">
            <a:off x="6410" y="5393313"/>
            <a:ext cx="1269218" cy="1912601"/>
          </a:xfrm>
          <a:custGeom>
            <a:avLst/>
            <a:gdLst/>
            <a:ahLst/>
            <a:cxnLst/>
            <a:rect r="r" b="b" t="t" l="l"/>
            <a:pathLst>
              <a:path h="1912601" w="1269218">
                <a:moveTo>
                  <a:pt x="0" y="0"/>
                </a:moveTo>
                <a:lnTo>
                  <a:pt x="1269218" y="0"/>
                </a:lnTo>
                <a:lnTo>
                  <a:pt x="1269218" y="1912601"/>
                </a:lnTo>
                <a:lnTo>
                  <a:pt x="0" y="191260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9022080" y="5028622"/>
            <a:ext cx="1380401" cy="1131455"/>
          </a:xfrm>
          <a:custGeom>
            <a:avLst/>
            <a:gdLst/>
            <a:ahLst/>
            <a:cxnLst/>
            <a:rect r="r" b="b" t="t" l="l"/>
            <a:pathLst>
              <a:path h="1131455" w="1380401">
                <a:moveTo>
                  <a:pt x="0" y="0"/>
                </a:moveTo>
                <a:lnTo>
                  <a:pt x="1380401" y="0"/>
                </a:lnTo>
                <a:lnTo>
                  <a:pt x="1380401" y="1131455"/>
                </a:lnTo>
                <a:lnTo>
                  <a:pt x="0" y="113145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-2088720">
            <a:off x="758810" y="6547339"/>
            <a:ext cx="2309723" cy="1136748"/>
          </a:xfrm>
          <a:custGeom>
            <a:avLst/>
            <a:gdLst/>
            <a:ahLst/>
            <a:cxnLst/>
            <a:rect r="r" b="b" t="t" l="l"/>
            <a:pathLst>
              <a:path h="1136748" w="2309723">
                <a:moveTo>
                  <a:pt x="0" y="0"/>
                </a:moveTo>
                <a:lnTo>
                  <a:pt x="2309723" y="0"/>
                </a:lnTo>
                <a:lnTo>
                  <a:pt x="2309723" y="1136748"/>
                </a:lnTo>
                <a:lnTo>
                  <a:pt x="0" y="113674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305092" y="-565727"/>
            <a:ext cx="1380401" cy="1131455"/>
          </a:xfrm>
          <a:custGeom>
            <a:avLst/>
            <a:gdLst/>
            <a:ahLst/>
            <a:cxnLst/>
            <a:rect r="r" b="b" t="t" l="l"/>
            <a:pathLst>
              <a:path h="1131455" w="1380401">
                <a:moveTo>
                  <a:pt x="0" y="0"/>
                </a:moveTo>
                <a:lnTo>
                  <a:pt x="1380401" y="0"/>
                </a:lnTo>
                <a:lnTo>
                  <a:pt x="1380401" y="1131454"/>
                </a:lnTo>
                <a:lnTo>
                  <a:pt x="0" y="113145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-2764753">
            <a:off x="-1018438" y="4865599"/>
            <a:ext cx="1380401" cy="1131455"/>
          </a:xfrm>
          <a:custGeom>
            <a:avLst/>
            <a:gdLst/>
            <a:ahLst/>
            <a:cxnLst/>
            <a:rect r="r" b="b" t="t" l="l"/>
            <a:pathLst>
              <a:path h="1131455" w="1380401">
                <a:moveTo>
                  <a:pt x="0" y="0"/>
                </a:moveTo>
                <a:lnTo>
                  <a:pt x="1380401" y="0"/>
                </a:lnTo>
                <a:lnTo>
                  <a:pt x="1380401" y="1131455"/>
                </a:lnTo>
                <a:lnTo>
                  <a:pt x="0" y="113145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8017816" y="-745751"/>
            <a:ext cx="1380401" cy="1131455"/>
          </a:xfrm>
          <a:custGeom>
            <a:avLst/>
            <a:gdLst/>
            <a:ahLst/>
            <a:cxnLst/>
            <a:rect r="r" b="b" t="t" l="l"/>
            <a:pathLst>
              <a:path h="1131455" w="1380401">
                <a:moveTo>
                  <a:pt x="0" y="0"/>
                </a:moveTo>
                <a:lnTo>
                  <a:pt x="1380401" y="0"/>
                </a:lnTo>
                <a:lnTo>
                  <a:pt x="1380401" y="1131455"/>
                </a:lnTo>
                <a:lnTo>
                  <a:pt x="0" y="113145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731520" y="248636"/>
            <a:ext cx="2757660" cy="6734471"/>
          </a:xfrm>
          <a:custGeom>
            <a:avLst/>
            <a:gdLst/>
            <a:ahLst/>
            <a:cxnLst/>
            <a:rect r="r" b="b" t="t" l="l"/>
            <a:pathLst>
              <a:path h="6734471" w="2757660">
                <a:moveTo>
                  <a:pt x="0" y="0"/>
                </a:moveTo>
                <a:lnTo>
                  <a:pt x="2757660" y="0"/>
                </a:lnTo>
                <a:lnTo>
                  <a:pt x="2757660" y="6734471"/>
                </a:lnTo>
                <a:lnTo>
                  <a:pt x="0" y="673447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124130" t="-5294" r="-12413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279922" y="248636"/>
            <a:ext cx="2742158" cy="6430657"/>
          </a:xfrm>
          <a:custGeom>
            <a:avLst/>
            <a:gdLst/>
            <a:ahLst/>
            <a:cxnLst/>
            <a:rect r="r" b="b" t="t" l="l"/>
            <a:pathLst>
              <a:path h="6430657" w="2742158">
                <a:moveTo>
                  <a:pt x="0" y="0"/>
                </a:moveTo>
                <a:lnTo>
                  <a:pt x="2742158" y="0"/>
                </a:lnTo>
                <a:lnTo>
                  <a:pt x="2742158" y="6430656"/>
                </a:lnTo>
                <a:lnTo>
                  <a:pt x="0" y="643065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117210" t="0" r="-100402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434486" y="1438031"/>
            <a:ext cx="697147" cy="1503651"/>
          </a:xfrm>
          <a:custGeom>
            <a:avLst/>
            <a:gdLst/>
            <a:ahLst/>
            <a:cxnLst/>
            <a:rect r="r" b="b" t="t" l="l"/>
            <a:pathLst>
              <a:path h="1503651" w="697147">
                <a:moveTo>
                  <a:pt x="0" y="0"/>
                </a:moveTo>
                <a:lnTo>
                  <a:pt x="697148" y="0"/>
                </a:lnTo>
                <a:lnTo>
                  <a:pt x="697148" y="1503651"/>
                </a:lnTo>
                <a:lnTo>
                  <a:pt x="0" y="150365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true" rot="0">
            <a:off x="5434486" y="4486116"/>
            <a:ext cx="697147" cy="1503651"/>
          </a:xfrm>
          <a:custGeom>
            <a:avLst/>
            <a:gdLst/>
            <a:ahLst/>
            <a:cxnLst/>
            <a:rect r="r" b="b" t="t" l="l"/>
            <a:pathLst>
              <a:path h="1503651" w="697147">
                <a:moveTo>
                  <a:pt x="0" y="1503652"/>
                </a:moveTo>
                <a:lnTo>
                  <a:pt x="697148" y="1503652"/>
                </a:lnTo>
                <a:lnTo>
                  <a:pt x="697148" y="0"/>
                </a:lnTo>
                <a:lnTo>
                  <a:pt x="0" y="0"/>
                </a:lnTo>
                <a:lnTo>
                  <a:pt x="0" y="1503652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5478371" y="3536090"/>
            <a:ext cx="849922" cy="294381"/>
          </a:xfrm>
          <a:custGeom>
            <a:avLst/>
            <a:gdLst/>
            <a:ahLst/>
            <a:cxnLst/>
            <a:rect r="r" b="b" t="t" l="l"/>
            <a:pathLst>
              <a:path h="294381" w="849922">
                <a:moveTo>
                  <a:pt x="0" y="0"/>
                </a:moveTo>
                <a:lnTo>
                  <a:pt x="849922" y="0"/>
                </a:lnTo>
                <a:lnTo>
                  <a:pt x="849922" y="294381"/>
                </a:lnTo>
                <a:lnTo>
                  <a:pt x="0" y="29438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-129517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-10800000">
            <a:off x="3547608" y="4542811"/>
            <a:ext cx="697147" cy="1503651"/>
          </a:xfrm>
          <a:custGeom>
            <a:avLst/>
            <a:gdLst/>
            <a:ahLst/>
            <a:cxnLst/>
            <a:rect r="r" b="b" t="t" l="l"/>
            <a:pathLst>
              <a:path h="1503651" w="697147">
                <a:moveTo>
                  <a:pt x="0" y="0"/>
                </a:moveTo>
                <a:lnTo>
                  <a:pt x="697148" y="0"/>
                </a:lnTo>
                <a:lnTo>
                  <a:pt x="697148" y="1503651"/>
                </a:lnTo>
                <a:lnTo>
                  <a:pt x="0" y="150365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true" rot="-10800000">
            <a:off x="3547608" y="1494726"/>
            <a:ext cx="697147" cy="1503651"/>
          </a:xfrm>
          <a:custGeom>
            <a:avLst/>
            <a:gdLst/>
            <a:ahLst/>
            <a:cxnLst/>
            <a:rect r="r" b="b" t="t" l="l"/>
            <a:pathLst>
              <a:path h="1503651" w="697147">
                <a:moveTo>
                  <a:pt x="0" y="1503651"/>
                </a:moveTo>
                <a:lnTo>
                  <a:pt x="697148" y="1503651"/>
                </a:lnTo>
                <a:lnTo>
                  <a:pt x="697148" y="0"/>
                </a:lnTo>
                <a:lnTo>
                  <a:pt x="0" y="0"/>
                </a:lnTo>
                <a:lnTo>
                  <a:pt x="0" y="1503651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-10800000">
            <a:off x="3350949" y="3654022"/>
            <a:ext cx="849922" cy="294381"/>
          </a:xfrm>
          <a:custGeom>
            <a:avLst/>
            <a:gdLst/>
            <a:ahLst/>
            <a:cxnLst/>
            <a:rect r="r" b="b" t="t" l="l"/>
            <a:pathLst>
              <a:path h="294381" w="849922">
                <a:moveTo>
                  <a:pt x="0" y="0"/>
                </a:moveTo>
                <a:lnTo>
                  <a:pt x="849922" y="0"/>
                </a:lnTo>
                <a:lnTo>
                  <a:pt x="849922" y="294381"/>
                </a:lnTo>
                <a:lnTo>
                  <a:pt x="0" y="29438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-129517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975090" y="1739584"/>
            <a:ext cx="2040406" cy="1091380"/>
          </a:xfrm>
          <a:custGeom>
            <a:avLst/>
            <a:gdLst/>
            <a:ahLst/>
            <a:cxnLst/>
            <a:rect r="r" b="b" t="t" l="l"/>
            <a:pathLst>
              <a:path h="1091380" w="2040406">
                <a:moveTo>
                  <a:pt x="0" y="0"/>
                </a:moveTo>
                <a:lnTo>
                  <a:pt x="2040406" y="0"/>
                </a:lnTo>
                <a:lnTo>
                  <a:pt x="2040406" y="1091380"/>
                </a:lnTo>
                <a:lnTo>
                  <a:pt x="0" y="109138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60121" y="4265997"/>
            <a:ext cx="1985389" cy="440239"/>
          </a:xfrm>
          <a:custGeom>
            <a:avLst/>
            <a:gdLst/>
            <a:ahLst/>
            <a:cxnLst/>
            <a:rect r="r" b="b" t="t" l="l"/>
            <a:pathLst>
              <a:path h="440239" w="1985389">
                <a:moveTo>
                  <a:pt x="0" y="0"/>
                </a:moveTo>
                <a:lnTo>
                  <a:pt x="1985389" y="0"/>
                </a:lnTo>
                <a:lnTo>
                  <a:pt x="1985389" y="440239"/>
                </a:lnTo>
                <a:lnTo>
                  <a:pt x="0" y="44023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892722" y="910130"/>
            <a:ext cx="2285536" cy="584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93"/>
              </a:lnSpc>
              <a:spcBef>
                <a:spcPct val="0"/>
              </a:spcBef>
            </a:pPr>
            <a:r>
              <a:rPr lang="en-US" b="true" sz="1709">
                <a:solidFill>
                  <a:srgbClr val="000000"/>
                </a:solidFill>
                <a:latin typeface="Decalotype Ultra-Bold"/>
                <a:ea typeface="Decalotype Ultra-Bold"/>
                <a:cs typeface="Decalotype Ultra-Bold"/>
                <a:sym typeface="Decalotype Ultra-Bold"/>
              </a:rPr>
              <a:t>Luxury Car Rentals: Elite &amp; Exotic Car Brands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7752" y="3051319"/>
            <a:ext cx="2095476" cy="897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9"/>
              </a:lnSpc>
              <a:spcBef>
                <a:spcPct val="0"/>
              </a:spcBef>
            </a:pPr>
            <a:r>
              <a:rPr lang="en-US" b="true" sz="105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Offers exclusive luxury and exotic cars for rentals, including brands like Bentley, Rolls-Royce, and Aston Martin.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60121" y="4934836"/>
            <a:ext cx="2095476" cy="1078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9"/>
              </a:lnSpc>
              <a:spcBef>
                <a:spcPct val="0"/>
              </a:spcBef>
            </a:pPr>
            <a:r>
              <a:rPr lang="en-US" b="true" sz="105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Avis offers premium rental services for high-end cars like Rolls-Royce and Maserati, catering to business and first-class passengers.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DAGe_PpNUlY</dc:identifier>
  <dcterms:modified xsi:type="dcterms:W3CDTF">2011-08-01T06:04:30Z</dcterms:modified>
  <cp:revision>1</cp:revision>
  <dc:title>Luxury Airline Strategies</dc:title>
</cp:coreProperties>
</file>