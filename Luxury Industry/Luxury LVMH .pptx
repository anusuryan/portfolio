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Glacial Indifference" charset="1" panose="00000000000000000000"/>
      <p:regular r:id="rId19"/>
    </p:embeddedFont>
    <p:embeddedFont>
      <p:font typeface="Garet" charset="1" panose="00000000000000000000"/>
      <p:regular r:id="rId20"/>
    </p:embeddedFont>
    <p:embeddedFont>
      <p:font typeface="Signature" charset="1" panose="00000000000000000000"/>
      <p:regular r:id="rId21"/>
    </p:embeddedFont>
    <p:embeddedFont>
      <p:font typeface="Garet Bold" charset="1" panose="00000000000000000000"/>
      <p:regular r:id="rId22"/>
    </p:embeddedFont>
    <p:embeddedFont>
      <p:font typeface="Garet Bold Italics" charset="1" panose="00000000000000000000"/>
      <p:regular r:id="rId23"/>
    </p:embeddedFont>
    <p:embeddedFont>
      <p:font typeface="Glacial Indifference Italics" charset="1" panose="00000000000000000000"/>
      <p:regular r:id="rId24"/>
    </p:embeddedFont>
    <p:embeddedFont>
      <p:font typeface="Glacial Indifference Bold Italics"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899845"/>
            <a:ext cx="16230600" cy="5541314"/>
          </a:xfrm>
          <a:prstGeom prst="rect">
            <a:avLst/>
          </a:prstGeom>
        </p:spPr>
        <p:txBody>
          <a:bodyPr anchor="t" rtlCol="false" tIns="0" lIns="0" bIns="0" rIns="0">
            <a:spAutoFit/>
          </a:bodyPr>
          <a:lstStyle/>
          <a:p>
            <a:pPr algn="ctr">
              <a:lnSpc>
                <a:spcPts val="45273"/>
              </a:lnSpc>
            </a:pPr>
            <a:r>
              <a:rPr lang="en-US" sz="32338">
                <a:solidFill>
                  <a:srgbClr val="FFFFFF"/>
                </a:solidFill>
                <a:latin typeface="Glacial Indifference"/>
                <a:ea typeface="Glacial Indifference"/>
                <a:cs typeface="Glacial Indifference"/>
                <a:sym typeface="Glacial Indifference"/>
              </a:rPr>
              <a:t>LVMH</a:t>
            </a:r>
          </a:p>
        </p:txBody>
      </p:sp>
      <p:sp>
        <p:nvSpPr>
          <p:cNvPr name="TextBox 4" id="4"/>
          <p:cNvSpPr txBox="true"/>
          <p:nvPr/>
        </p:nvSpPr>
        <p:spPr>
          <a:xfrm rot="0">
            <a:off x="3492629" y="7367752"/>
            <a:ext cx="11302742" cy="606319"/>
          </a:xfrm>
          <a:prstGeom prst="rect">
            <a:avLst/>
          </a:prstGeom>
        </p:spPr>
        <p:txBody>
          <a:bodyPr anchor="t" rtlCol="false" tIns="0" lIns="0" bIns="0" rIns="0">
            <a:spAutoFit/>
          </a:bodyPr>
          <a:lstStyle/>
          <a:p>
            <a:pPr algn="ctr">
              <a:lnSpc>
                <a:spcPts val="4905"/>
              </a:lnSpc>
            </a:pPr>
            <a:r>
              <a:rPr lang="en-US" sz="3504" spc="1187">
                <a:solidFill>
                  <a:srgbClr val="FFFFFF"/>
                </a:solidFill>
                <a:latin typeface="Glacial Indifference"/>
                <a:ea typeface="Glacial Indifference"/>
                <a:cs typeface="Glacial Indifference"/>
                <a:sym typeface="Glacial Indifference"/>
              </a:rPr>
              <a:t>WORLD OF LUXURY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40F0A"/>
        </a:solidFill>
      </p:bgPr>
    </p:bg>
    <p:spTree>
      <p:nvGrpSpPr>
        <p:cNvPr id="1" name=""/>
        <p:cNvGrpSpPr/>
        <p:nvPr/>
      </p:nvGrpSpPr>
      <p:grpSpPr>
        <a:xfrm>
          <a:off x="0" y="0"/>
          <a:ext cx="0" cy="0"/>
          <a:chOff x="0" y="0"/>
          <a:chExt cx="0" cy="0"/>
        </a:xfrm>
      </p:grpSpPr>
      <p:sp>
        <p:nvSpPr>
          <p:cNvPr name="Freeform 2" id="2"/>
          <p:cNvSpPr/>
          <p:nvPr/>
        </p:nvSpPr>
        <p:spPr>
          <a:xfrm flipH="false" flipV="false" rot="0">
            <a:off x="7436923" y="0"/>
            <a:ext cx="10851077" cy="5981656"/>
          </a:xfrm>
          <a:custGeom>
            <a:avLst/>
            <a:gdLst/>
            <a:ahLst/>
            <a:cxnLst/>
            <a:rect r="r" b="b" t="t" l="l"/>
            <a:pathLst>
              <a:path h="5981656" w="10851077">
                <a:moveTo>
                  <a:pt x="0" y="0"/>
                </a:moveTo>
                <a:lnTo>
                  <a:pt x="10851077" y="0"/>
                </a:lnTo>
                <a:lnTo>
                  <a:pt x="10851077" y="5981656"/>
                </a:lnTo>
                <a:lnTo>
                  <a:pt x="0" y="5981656"/>
                </a:lnTo>
                <a:lnTo>
                  <a:pt x="0" y="0"/>
                </a:lnTo>
                <a:close/>
              </a:path>
            </a:pathLst>
          </a:custGeom>
          <a:blipFill>
            <a:blip r:embed="rId2"/>
            <a:stretch>
              <a:fillRect l="0" t="0" r="0" b="0"/>
            </a:stretch>
          </a:blipFill>
        </p:spPr>
      </p:sp>
      <p:sp>
        <p:nvSpPr>
          <p:cNvPr name="TextBox 3" id="3"/>
          <p:cNvSpPr txBox="true"/>
          <p:nvPr/>
        </p:nvSpPr>
        <p:spPr>
          <a:xfrm rot="0">
            <a:off x="1232787" y="6663180"/>
            <a:ext cx="5536067" cy="1480185"/>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DEBFAF"/>
                </a:solidFill>
                <a:latin typeface="Garet"/>
                <a:ea typeface="Garet"/>
                <a:cs typeface="Garet"/>
                <a:sym typeface="Garet"/>
              </a:rPr>
              <a:t>More than 75 Maisons, 6 business sectors, over 213 000 employees across 80 countries, and more than 6,000 stores</a:t>
            </a:r>
          </a:p>
        </p:txBody>
      </p:sp>
      <p:sp>
        <p:nvSpPr>
          <p:cNvPr name="TextBox 4" id="4"/>
          <p:cNvSpPr txBox="true"/>
          <p:nvPr/>
        </p:nvSpPr>
        <p:spPr>
          <a:xfrm rot="0">
            <a:off x="376462" y="849739"/>
            <a:ext cx="6718881" cy="2902633"/>
          </a:xfrm>
          <a:prstGeom prst="rect">
            <a:avLst/>
          </a:prstGeom>
        </p:spPr>
        <p:txBody>
          <a:bodyPr anchor="t" rtlCol="false" tIns="0" lIns="0" bIns="0" rIns="0">
            <a:spAutoFit/>
          </a:bodyPr>
          <a:lstStyle/>
          <a:p>
            <a:pPr algn="l">
              <a:lnSpc>
                <a:spcPts val="23762"/>
              </a:lnSpc>
            </a:pPr>
            <a:r>
              <a:rPr lang="en-US" sz="16973">
                <a:solidFill>
                  <a:srgbClr val="DEBFAF"/>
                </a:solidFill>
                <a:latin typeface="Glacial Indifference"/>
                <a:ea typeface="Glacial Indifference"/>
                <a:cs typeface="Glacial Indifference"/>
                <a:sym typeface="Glacial Indifference"/>
              </a:rPr>
              <a:t>LVMH</a:t>
            </a:r>
          </a:p>
        </p:txBody>
      </p:sp>
      <p:sp>
        <p:nvSpPr>
          <p:cNvPr name="TextBox 5" id="5"/>
          <p:cNvSpPr txBox="true"/>
          <p:nvPr/>
        </p:nvSpPr>
        <p:spPr>
          <a:xfrm rot="0">
            <a:off x="8537806" y="6367905"/>
            <a:ext cx="8649311" cy="2962707"/>
          </a:xfrm>
          <a:prstGeom prst="rect">
            <a:avLst/>
          </a:prstGeom>
        </p:spPr>
        <p:txBody>
          <a:bodyPr anchor="t" rtlCol="false" tIns="0" lIns="0" bIns="0" rIns="0">
            <a:spAutoFit/>
          </a:bodyPr>
          <a:lstStyle/>
          <a:p>
            <a:pPr algn="r">
              <a:lnSpc>
                <a:spcPts val="24126"/>
              </a:lnSpc>
            </a:pPr>
            <a:r>
              <a:rPr lang="en-US" sz="17232">
                <a:solidFill>
                  <a:srgbClr val="DEBFAF"/>
                </a:solidFill>
                <a:latin typeface="Signature"/>
                <a:ea typeface="Signature"/>
                <a:cs typeface="Signature"/>
                <a:sym typeface="Signature"/>
              </a:rPr>
              <a:t>The Making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40F0A"/>
        </a:solidFill>
      </p:bgPr>
    </p:bg>
    <p:spTree>
      <p:nvGrpSpPr>
        <p:cNvPr id="1" name=""/>
        <p:cNvGrpSpPr/>
        <p:nvPr/>
      </p:nvGrpSpPr>
      <p:grpSpPr>
        <a:xfrm>
          <a:off x="0" y="0"/>
          <a:ext cx="0" cy="0"/>
          <a:chOff x="0" y="0"/>
          <a:chExt cx="0" cy="0"/>
        </a:xfrm>
      </p:grpSpPr>
      <p:grpSp>
        <p:nvGrpSpPr>
          <p:cNvPr name="Group 2" id="2"/>
          <p:cNvGrpSpPr/>
          <p:nvPr/>
        </p:nvGrpSpPr>
        <p:grpSpPr>
          <a:xfrm rot="0">
            <a:off x="11182960" y="0"/>
            <a:ext cx="2362921" cy="2784309"/>
            <a:chOff x="0" y="0"/>
            <a:chExt cx="3150562" cy="3712412"/>
          </a:xfrm>
        </p:grpSpPr>
        <p:pic>
          <p:nvPicPr>
            <p:cNvPr name="Picture 3" id="3"/>
            <p:cNvPicPr>
              <a:picLocks noChangeAspect="true"/>
            </p:cNvPicPr>
            <p:nvPr/>
          </p:nvPicPr>
          <p:blipFill>
            <a:blip r:embed="rId2"/>
            <a:srcRect l="11394" t="10880" r="9663" b="27106"/>
            <a:stretch>
              <a:fillRect/>
            </a:stretch>
          </p:blipFill>
          <p:spPr>
            <a:xfrm flipH="false" flipV="false">
              <a:off x="0" y="0"/>
              <a:ext cx="3150562" cy="3712412"/>
            </a:xfrm>
            <a:prstGeom prst="rect">
              <a:avLst/>
            </a:prstGeom>
          </p:spPr>
        </p:pic>
      </p:grpSp>
      <p:grpSp>
        <p:nvGrpSpPr>
          <p:cNvPr name="Group 4" id="4"/>
          <p:cNvGrpSpPr/>
          <p:nvPr/>
        </p:nvGrpSpPr>
        <p:grpSpPr>
          <a:xfrm rot="0">
            <a:off x="13545881" y="0"/>
            <a:ext cx="2005179" cy="2784309"/>
            <a:chOff x="0" y="0"/>
            <a:chExt cx="2673572" cy="3712412"/>
          </a:xfrm>
        </p:grpSpPr>
        <p:pic>
          <p:nvPicPr>
            <p:cNvPr name="Picture 5" id="5"/>
            <p:cNvPicPr>
              <a:picLocks noChangeAspect="true"/>
            </p:cNvPicPr>
            <p:nvPr/>
          </p:nvPicPr>
          <p:blipFill>
            <a:blip r:embed="rId3"/>
            <a:srcRect l="0" t="3656" r="0" b="3656"/>
            <a:stretch>
              <a:fillRect/>
            </a:stretch>
          </p:blipFill>
          <p:spPr>
            <a:xfrm flipH="false" flipV="false">
              <a:off x="0" y="0"/>
              <a:ext cx="2673572" cy="3712412"/>
            </a:xfrm>
            <a:prstGeom prst="rect">
              <a:avLst/>
            </a:prstGeom>
          </p:spPr>
        </p:pic>
      </p:grpSp>
      <p:grpSp>
        <p:nvGrpSpPr>
          <p:cNvPr name="Group 6" id="6"/>
          <p:cNvGrpSpPr/>
          <p:nvPr/>
        </p:nvGrpSpPr>
        <p:grpSpPr>
          <a:xfrm rot="0">
            <a:off x="15551060" y="0"/>
            <a:ext cx="2736940" cy="2784309"/>
            <a:chOff x="0" y="0"/>
            <a:chExt cx="3649254" cy="3712412"/>
          </a:xfrm>
        </p:grpSpPr>
        <p:pic>
          <p:nvPicPr>
            <p:cNvPr name="Picture 7" id="7"/>
            <p:cNvPicPr>
              <a:picLocks noChangeAspect="true"/>
            </p:cNvPicPr>
            <p:nvPr/>
          </p:nvPicPr>
          <p:blipFill>
            <a:blip r:embed="rId4"/>
            <a:srcRect l="0" t="16047" r="0" b="16047"/>
            <a:stretch>
              <a:fillRect/>
            </a:stretch>
          </p:blipFill>
          <p:spPr>
            <a:xfrm flipH="false" flipV="false">
              <a:off x="0" y="0"/>
              <a:ext cx="3649254" cy="3712412"/>
            </a:xfrm>
            <a:prstGeom prst="rect">
              <a:avLst/>
            </a:prstGeom>
          </p:spPr>
        </p:pic>
      </p:grpSp>
      <p:sp>
        <p:nvSpPr>
          <p:cNvPr name="TextBox 8" id="8"/>
          <p:cNvSpPr txBox="true"/>
          <p:nvPr/>
        </p:nvSpPr>
        <p:spPr>
          <a:xfrm rot="0">
            <a:off x="458815" y="553088"/>
            <a:ext cx="9913912" cy="1905583"/>
          </a:xfrm>
          <a:prstGeom prst="rect">
            <a:avLst/>
          </a:prstGeom>
        </p:spPr>
        <p:txBody>
          <a:bodyPr anchor="t" rtlCol="false" tIns="0" lIns="0" bIns="0" rIns="0">
            <a:spAutoFit/>
          </a:bodyPr>
          <a:lstStyle/>
          <a:p>
            <a:pPr algn="just">
              <a:lnSpc>
                <a:spcPts val="15531"/>
              </a:lnSpc>
            </a:pPr>
            <a:r>
              <a:rPr lang="en-US" sz="11093">
                <a:solidFill>
                  <a:srgbClr val="DEBFAF"/>
                </a:solidFill>
                <a:latin typeface="Glacial Indifference"/>
                <a:ea typeface="Glacial Indifference"/>
                <a:cs typeface="Glacial Indifference"/>
                <a:sym typeface="Glacial Indifference"/>
              </a:rPr>
              <a:t>Values of LVMH</a:t>
            </a:r>
          </a:p>
        </p:txBody>
      </p:sp>
      <p:sp>
        <p:nvSpPr>
          <p:cNvPr name="TextBox 9" id="9"/>
          <p:cNvSpPr txBox="true"/>
          <p:nvPr/>
        </p:nvSpPr>
        <p:spPr>
          <a:xfrm rot="0">
            <a:off x="618181" y="3759589"/>
            <a:ext cx="15749755" cy="4087968"/>
          </a:xfrm>
          <a:prstGeom prst="rect">
            <a:avLst/>
          </a:prstGeom>
        </p:spPr>
        <p:txBody>
          <a:bodyPr anchor="t" rtlCol="false" tIns="0" lIns="0" bIns="0" rIns="0">
            <a:spAutoFit/>
          </a:bodyPr>
          <a:lstStyle/>
          <a:p>
            <a:pPr algn="l" marL="847206" indent="-423603" lvl="1">
              <a:lnSpc>
                <a:spcPts val="5493"/>
              </a:lnSpc>
              <a:buFont typeface="Arial"/>
              <a:buChar char="•"/>
            </a:pPr>
            <a:r>
              <a:rPr lang="en-US" sz="3924" spc="1330">
                <a:solidFill>
                  <a:srgbClr val="DEBFAF"/>
                </a:solidFill>
                <a:latin typeface="Glacial Indifference"/>
                <a:ea typeface="Glacial Indifference"/>
                <a:cs typeface="Glacial Indifference"/>
                <a:sym typeface="Glacial Indifference"/>
              </a:rPr>
              <a:t>BEING CREATIVE AND INNOVATIVE</a:t>
            </a:r>
          </a:p>
          <a:p>
            <a:pPr algn="l" marL="847206" indent="-423603" lvl="1">
              <a:lnSpc>
                <a:spcPts val="5493"/>
              </a:lnSpc>
              <a:buFont typeface="Arial"/>
              <a:buChar char="•"/>
            </a:pPr>
            <a:r>
              <a:rPr lang="en-US" sz="3924" spc="1330">
                <a:solidFill>
                  <a:srgbClr val="DEBFAF"/>
                </a:solidFill>
                <a:latin typeface="Glacial Indifference"/>
                <a:ea typeface="Glacial Indifference"/>
                <a:cs typeface="Glacial Indifference"/>
                <a:sym typeface="Glacial Indifference"/>
              </a:rPr>
              <a:t>DELIVERING EXCELLENCE</a:t>
            </a:r>
          </a:p>
          <a:p>
            <a:pPr algn="l" marL="847206" indent="-423603" lvl="1">
              <a:lnSpc>
                <a:spcPts val="5493"/>
              </a:lnSpc>
              <a:buFont typeface="Arial"/>
              <a:buChar char="•"/>
            </a:pPr>
            <a:r>
              <a:rPr lang="en-US" sz="3924" spc="1330">
                <a:solidFill>
                  <a:srgbClr val="DEBFAF"/>
                </a:solidFill>
                <a:latin typeface="Glacial Indifference"/>
                <a:ea typeface="Glacial Indifference"/>
                <a:cs typeface="Glacial Indifference"/>
                <a:sym typeface="Glacial Indifference"/>
              </a:rPr>
              <a:t>CULTIVATING AN ENTREPRENEURIAL SPIRIT</a:t>
            </a:r>
          </a:p>
          <a:p>
            <a:pPr algn="l" marL="847206" indent="-423603" lvl="1">
              <a:lnSpc>
                <a:spcPts val="5493"/>
              </a:lnSpc>
              <a:buFont typeface="Arial"/>
              <a:buChar char="•"/>
            </a:pPr>
            <a:r>
              <a:rPr lang="en-US" sz="3924" spc="1330">
                <a:solidFill>
                  <a:srgbClr val="DEBFAF"/>
                </a:solidFill>
                <a:latin typeface="Glacial Indifference"/>
                <a:ea typeface="Glacial Indifference"/>
                <a:cs typeface="Glacial Indifference"/>
                <a:sym typeface="Glacial Indifference"/>
              </a:rPr>
              <a:t>BEING COMMITTED TO POSITIVE IMPACT</a:t>
            </a:r>
          </a:p>
          <a:p>
            <a:pPr algn="l">
              <a:lnSpc>
                <a:spcPts val="549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40F0A"/>
        </a:solidFill>
      </p:bgPr>
    </p:bg>
    <p:spTree>
      <p:nvGrpSpPr>
        <p:cNvPr id="1" name=""/>
        <p:cNvGrpSpPr/>
        <p:nvPr/>
      </p:nvGrpSpPr>
      <p:grpSpPr>
        <a:xfrm>
          <a:off x="0" y="0"/>
          <a:ext cx="0" cy="0"/>
          <a:chOff x="0" y="0"/>
          <a:chExt cx="0" cy="0"/>
        </a:xfrm>
      </p:grpSpPr>
      <p:sp>
        <p:nvSpPr>
          <p:cNvPr name="Freeform 2" id="2"/>
          <p:cNvSpPr/>
          <p:nvPr/>
        </p:nvSpPr>
        <p:spPr>
          <a:xfrm flipH="false" flipV="false" rot="0">
            <a:off x="10172700" y="5650162"/>
            <a:ext cx="8115300" cy="4978952"/>
          </a:xfrm>
          <a:custGeom>
            <a:avLst/>
            <a:gdLst/>
            <a:ahLst/>
            <a:cxnLst/>
            <a:rect r="r" b="b" t="t" l="l"/>
            <a:pathLst>
              <a:path h="4978952" w="8115300">
                <a:moveTo>
                  <a:pt x="0" y="0"/>
                </a:moveTo>
                <a:lnTo>
                  <a:pt x="8115300" y="0"/>
                </a:lnTo>
                <a:lnTo>
                  <a:pt x="8115300" y="4978953"/>
                </a:lnTo>
                <a:lnTo>
                  <a:pt x="0" y="4978953"/>
                </a:lnTo>
                <a:lnTo>
                  <a:pt x="0" y="0"/>
                </a:lnTo>
                <a:close/>
              </a:path>
            </a:pathLst>
          </a:custGeom>
          <a:blipFill>
            <a:blip r:embed="rId2"/>
            <a:stretch>
              <a:fillRect l="0" t="0" r="0" b="0"/>
            </a:stretch>
          </a:blipFill>
        </p:spPr>
      </p:sp>
      <p:sp>
        <p:nvSpPr>
          <p:cNvPr name="TextBox 3" id="3"/>
          <p:cNvSpPr txBox="true"/>
          <p:nvPr/>
        </p:nvSpPr>
        <p:spPr>
          <a:xfrm rot="0">
            <a:off x="-1346311" y="452437"/>
            <a:ext cx="14702103" cy="1028701"/>
          </a:xfrm>
          <a:prstGeom prst="rect">
            <a:avLst/>
          </a:prstGeom>
        </p:spPr>
        <p:txBody>
          <a:bodyPr anchor="t" rtlCol="false" tIns="0" lIns="0" bIns="0" rIns="0">
            <a:spAutoFit/>
          </a:bodyPr>
          <a:lstStyle/>
          <a:p>
            <a:pPr algn="r">
              <a:lnSpc>
                <a:spcPts val="8399"/>
              </a:lnSpc>
            </a:pPr>
            <a:r>
              <a:rPr lang="en-US" sz="5999">
                <a:solidFill>
                  <a:srgbClr val="DEBFAF"/>
                </a:solidFill>
                <a:latin typeface="Glacial Indifference"/>
                <a:ea typeface="Glacial Indifference"/>
                <a:cs typeface="Glacial Indifference"/>
                <a:sym typeface="Glacial Indifference"/>
              </a:rPr>
              <a:t>1.FOCUS ON WINES &amp; SPIRITS</a:t>
            </a:r>
          </a:p>
        </p:txBody>
      </p:sp>
      <p:sp>
        <p:nvSpPr>
          <p:cNvPr name="TextBox 4" id="4"/>
          <p:cNvSpPr txBox="true"/>
          <p:nvPr/>
        </p:nvSpPr>
        <p:spPr>
          <a:xfrm rot="0">
            <a:off x="661125" y="3654062"/>
            <a:ext cx="14281182" cy="2167512"/>
          </a:xfrm>
          <a:prstGeom prst="rect">
            <a:avLst/>
          </a:prstGeom>
        </p:spPr>
        <p:txBody>
          <a:bodyPr anchor="t" rtlCol="false" tIns="0" lIns="0" bIns="0" rIns="0">
            <a:spAutoFit/>
          </a:bodyPr>
          <a:lstStyle/>
          <a:p>
            <a:pPr algn="l" marL="440412" indent="-220206" lvl="1">
              <a:lnSpc>
                <a:spcPts val="2855"/>
              </a:lnSpc>
              <a:spcBef>
                <a:spcPct val="0"/>
              </a:spcBef>
              <a:buFont typeface="Arial"/>
              <a:buChar char="•"/>
            </a:pPr>
            <a:r>
              <a:rPr lang="en-US" sz="2039">
                <a:solidFill>
                  <a:srgbClr val="DEBFAF"/>
                </a:solidFill>
                <a:latin typeface="Garet"/>
                <a:ea typeface="Garet"/>
                <a:cs typeface="Garet"/>
                <a:sym typeface="Garet"/>
              </a:rPr>
              <a:t>Pu</a:t>
            </a:r>
            <a:r>
              <a:rPr lang="en-US" sz="2039" strike="noStrike" u="none">
                <a:solidFill>
                  <a:srgbClr val="DEBFAF"/>
                </a:solidFill>
                <a:latin typeface="Garet"/>
                <a:ea typeface="Garet"/>
                <a:cs typeface="Garet"/>
                <a:sym typeface="Garet"/>
              </a:rPr>
              <a:t>rsue value-enhancing strategy </a:t>
            </a:r>
          </a:p>
          <a:p>
            <a:pPr algn="l" marL="440412" indent="-220206" lvl="1">
              <a:lnSpc>
                <a:spcPts val="2855"/>
              </a:lnSpc>
              <a:spcBef>
                <a:spcPct val="0"/>
              </a:spcBef>
              <a:buFont typeface="Arial"/>
              <a:buChar char="•"/>
            </a:pPr>
            <a:r>
              <a:rPr lang="en-US" sz="2039" strike="noStrike" u="none">
                <a:solidFill>
                  <a:srgbClr val="DEBFAF"/>
                </a:solidFill>
                <a:latin typeface="Garet"/>
                <a:ea typeface="Garet"/>
                <a:cs typeface="Garet"/>
                <a:sym typeface="Garet"/>
              </a:rPr>
              <a:t>Expand production capacities to ensure sustainable growth</a:t>
            </a:r>
          </a:p>
          <a:p>
            <a:pPr algn="l" marL="440412" indent="-220206" lvl="1">
              <a:lnSpc>
                <a:spcPts val="2855"/>
              </a:lnSpc>
              <a:spcBef>
                <a:spcPct val="0"/>
              </a:spcBef>
              <a:buFont typeface="Arial"/>
              <a:buChar char="•"/>
            </a:pPr>
            <a:r>
              <a:rPr lang="en-US" sz="2039" strike="noStrike" u="none">
                <a:solidFill>
                  <a:srgbClr val="DEBFAF"/>
                </a:solidFill>
                <a:latin typeface="Garet"/>
                <a:ea typeface="Garet"/>
                <a:cs typeface="Garet"/>
                <a:sym typeface="Garet"/>
              </a:rPr>
              <a:t>Develop direct sales to end-customers</a:t>
            </a:r>
          </a:p>
          <a:p>
            <a:pPr algn="l" marL="440412" indent="-220206" lvl="1">
              <a:lnSpc>
                <a:spcPts val="2855"/>
              </a:lnSpc>
              <a:spcBef>
                <a:spcPct val="0"/>
              </a:spcBef>
              <a:buFont typeface="Arial"/>
              <a:buChar char="•"/>
            </a:pPr>
            <a:r>
              <a:rPr lang="en-US" sz="2039" strike="noStrike" u="none">
                <a:solidFill>
                  <a:srgbClr val="DEBFAF"/>
                </a:solidFill>
                <a:latin typeface="Garet"/>
                <a:ea typeface="Garet"/>
                <a:cs typeface="Garet"/>
                <a:sym typeface="Garet"/>
              </a:rPr>
              <a:t>Further improve efficiency of distribution in key markets</a:t>
            </a:r>
          </a:p>
          <a:p>
            <a:pPr algn="l" marL="440412" indent="-220206" lvl="1">
              <a:lnSpc>
                <a:spcPts val="2855"/>
              </a:lnSpc>
              <a:spcBef>
                <a:spcPct val="0"/>
              </a:spcBef>
              <a:buFont typeface="Arial"/>
              <a:buChar char="•"/>
            </a:pPr>
            <a:r>
              <a:rPr lang="en-US" sz="2039" strike="noStrike" u="none">
                <a:solidFill>
                  <a:srgbClr val="DEBFAF"/>
                </a:solidFill>
                <a:latin typeface="Garet"/>
                <a:ea typeface="Garet"/>
                <a:cs typeface="Garet"/>
                <a:sym typeface="Garet"/>
              </a:rPr>
              <a:t>Accelerate efforts to protect the environment, in particular in supply chains and packaging</a:t>
            </a:r>
          </a:p>
          <a:p>
            <a:pPr algn="l" marL="0" indent="0" lvl="0">
              <a:lnSpc>
                <a:spcPts val="2855"/>
              </a:lnSpc>
              <a:spcBef>
                <a:spcPct val="0"/>
              </a:spcBef>
            </a:pPr>
            <a:r>
              <a:rPr lang="en-US" sz="2039" strike="noStrike" u="none">
                <a:solidFill>
                  <a:srgbClr val="DEBFAF"/>
                </a:solidFill>
                <a:latin typeface="Garet"/>
                <a:ea typeface="Garet"/>
                <a:cs typeface="Garet"/>
                <a:sym typeface="Garet"/>
              </a:rPr>
              <a:t> </a:t>
            </a:r>
          </a:p>
        </p:txBody>
      </p:sp>
      <p:sp>
        <p:nvSpPr>
          <p:cNvPr name="TextBox 5" id="5"/>
          <p:cNvSpPr txBox="true"/>
          <p:nvPr/>
        </p:nvSpPr>
        <p:spPr>
          <a:xfrm rot="0">
            <a:off x="1028700" y="2555788"/>
            <a:ext cx="4746784" cy="537711"/>
          </a:xfrm>
          <a:prstGeom prst="rect">
            <a:avLst/>
          </a:prstGeom>
        </p:spPr>
        <p:txBody>
          <a:bodyPr anchor="t" rtlCol="false" tIns="0" lIns="0" bIns="0" rIns="0">
            <a:spAutoFit/>
          </a:bodyPr>
          <a:lstStyle/>
          <a:p>
            <a:pPr algn="ctr">
              <a:lnSpc>
                <a:spcPts val="4487"/>
              </a:lnSpc>
              <a:spcBef>
                <a:spcPct val="0"/>
              </a:spcBef>
            </a:pPr>
            <a:r>
              <a:rPr lang="en-US" sz="3205">
                <a:solidFill>
                  <a:srgbClr val="DEBFAF"/>
                </a:solidFill>
                <a:latin typeface="Garet"/>
                <a:ea typeface="Garet"/>
                <a:cs typeface="Garet"/>
                <a:sym typeface="Garet"/>
              </a:rPr>
              <a:t>STRATEGIC PRIORITIES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40F0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8903928" cy="7133497"/>
          </a:xfrm>
          <a:custGeom>
            <a:avLst/>
            <a:gdLst/>
            <a:ahLst/>
            <a:cxnLst/>
            <a:rect r="r" b="b" t="t" l="l"/>
            <a:pathLst>
              <a:path h="7133497" w="8903928">
                <a:moveTo>
                  <a:pt x="0" y="0"/>
                </a:moveTo>
                <a:lnTo>
                  <a:pt x="8903928" y="0"/>
                </a:lnTo>
                <a:lnTo>
                  <a:pt x="8903928" y="7133497"/>
                </a:lnTo>
                <a:lnTo>
                  <a:pt x="0" y="7133497"/>
                </a:lnTo>
                <a:lnTo>
                  <a:pt x="0" y="0"/>
                </a:lnTo>
                <a:close/>
              </a:path>
            </a:pathLst>
          </a:custGeom>
          <a:blipFill>
            <a:blip r:embed="rId2"/>
            <a:stretch>
              <a:fillRect l="-21214" t="0" r="-21214" b="0"/>
            </a:stretch>
          </a:blipFill>
        </p:spPr>
      </p:sp>
      <p:sp>
        <p:nvSpPr>
          <p:cNvPr name="TextBox 3" id="3"/>
          <p:cNvSpPr txBox="true"/>
          <p:nvPr/>
        </p:nvSpPr>
        <p:spPr>
          <a:xfrm rot="0">
            <a:off x="9465639" y="3394040"/>
            <a:ext cx="7662112" cy="3460819"/>
          </a:xfrm>
          <a:prstGeom prst="rect">
            <a:avLst/>
          </a:prstGeom>
        </p:spPr>
        <p:txBody>
          <a:bodyPr anchor="t" rtlCol="false" tIns="0" lIns="0" bIns="0" rIns="0">
            <a:spAutoFit/>
          </a:bodyPr>
          <a:lstStyle/>
          <a:p>
            <a:pPr algn="l" marL="423835" indent="-211917" lvl="1">
              <a:lnSpc>
                <a:spcPts val="2748"/>
              </a:lnSpc>
              <a:buFont typeface="Arial"/>
              <a:buChar char="•"/>
            </a:pPr>
            <a:r>
              <a:rPr lang="en-US" sz="1963">
                <a:solidFill>
                  <a:srgbClr val="DEBFAF"/>
                </a:solidFill>
                <a:latin typeface="Garet"/>
                <a:ea typeface="Garet"/>
                <a:cs typeface="Garet"/>
                <a:sym typeface="Garet"/>
              </a:rPr>
              <a:t>Maison Berluti has become an icon in men’s luxury footwear</a:t>
            </a:r>
          </a:p>
          <a:p>
            <a:pPr algn="l" marL="423835" indent="-211917" lvl="1">
              <a:lnSpc>
                <a:spcPts val="2748"/>
              </a:lnSpc>
              <a:buFont typeface="Arial"/>
              <a:buChar char="•"/>
            </a:pPr>
            <a:r>
              <a:rPr lang="en-US" sz="1963">
                <a:solidFill>
                  <a:srgbClr val="DEBFAF"/>
                </a:solidFill>
                <a:latin typeface="Garet"/>
                <a:ea typeface="Garet"/>
                <a:cs typeface="Garet"/>
                <a:sym typeface="Garet"/>
              </a:rPr>
              <a:t>Berluti’s appeal is more than just good looks—it’s about attracting attention through quiet confidence and subtle elegance</a:t>
            </a:r>
          </a:p>
          <a:p>
            <a:pPr algn="l" marL="423835" indent="-211917" lvl="1">
              <a:lnSpc>
                <a:spcPts val="2748"/>
              </a:lnSpc>
              <a:buFont typeface="Arial"/>
              <a:buChar char="•"/>
            </a:pPr>
            <a:r>
              <a:rPr lang="en-US" sz="1963">
                <a:solidFill>
                  <a:srgbClr val="DEBFAF"/>
                </a:solidFill>
                <a:latin typeface="Garet"/>
                <a:ea typeface="Garet"/>
                <a:cs typeface="Garet"/>
                <a:sym typeface="Garet"/>
              </a:rPr>
              <a:t>Berluti’s commitment to craftsmanship and personalization has kept the Maison at the forefront of luxury shoemaking</a:t>
            </a:r>
          </a:p>
          <a:p>
            <a:pPr algn="l">
              <a:lnSpc>
                <a:spcPts val="2748"/>
              </a:lnSpc>
            </a:pPr>
          </a:p>
          <a:p>
            <a:pPr algn="l" marL="0" indent="0" lvl="0">
              <a:lnSpc>
                <a:spcPts val="2748"/>
              </a:lnSpc>
              <a:spcBef>
                <a:spcPct val="0"/>
              </a:spcBef>
            </a:pPr>
          </a:p>
        </p:txBody>
      </p:sp>
      <p:sp>
        <p:nvSpPr>
          <p:cNvPr name="TextBox 4" id="4"/>
          <p:cNvSpPr txBox="true"/>
          <p:nvPr/>
        </p:nvSpPr>
        <p:spPr>
          <a:xfrm rot="0">
            <a:off x="9251213" y="149471"/>
            <a:ext cx="7876538" cy="2114545"/>
          </a:xfrm>
          <a:prstGeom prst="rect">
            <a:avLst/>
          </a:prstGeom>
        </p:spPr>
        <p:txBody>
          <a:bodyPr anchor="t" rtlCol="false" tIns="0" lIns="0" bIns="0" rIns="0">
            <a:spAutoFit/>
          </a:bodyPr>
          <a:lstStyle/>
          <a:p>
            <a:pPr algn="ctr">
              <a:lnSpc>
                <a:spcPts val="8400"/>
              </a:lnSpc>
              <a:spcBef>
                <a:spcPct val="0"/>
              </a:spcBef>
            </a:pPr>
            <a:r>
              <a:rPr lang="en-US" sz="6000">
                <a:solidFill>
                  <a:srgbClr val="DEBFAF"/>
                </a:solidFill>
                <a:latin typeface="Glacial Indifference"/>
                <a:ea typeface="Glacial Indifference"/>
                <a:cs typeface="Glacial Indifference"/>
                <a:sym typeface="Glacial Indifference"/>
              </a:rPr>
              <a:t>2. FOCUS ON </a:t>
            </a:r>
            <a:r>
              <a:rPr lang="en-US" sz="6000">
                <a:solidFill>
                  <a:srgbClr val="DEBFAF"/>
                </a:solidFill>
                <a:latin typeface="Glacial Indifference"/>
                <a:ea typeface="Glacial Indifference"/>
                <a:cs typeface="Glacial Indifference"/>
                <a:sym typeface="Glacial Indifference"/>
              </a:rPr>
              <a:t>FASHION &amp; LEATHER GOODS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40F0A"/>
        </a:solidFill>
      </p:bgPr>
    </p:bg>
    <p:spTree>
      <p:nvGrpSpPr>
        <p:cNvPr id="1" name=""/>
        <p:cNvGrpSpPr/>
        <p:nvPr/>
      </p:nvGrpSpPr>
      <p:grpSpPr>
        <a:xfrm>
          <a:off x="0" y="0"/>
          <a:ext cx="0" cy="0"/>
          <a:chOff x="0" y="0"/>
          <a:chExt cx="0" cy="0"/>
        </a:xfrm>
      </p:grpSpPr>
      <p:sp>
        <p:nvSpPr>
          <p:cNvPr name="Freeform 2" id="2"/>
          <p:cNvSpPr/>
          <p:nvPr/>
        </p:nvSpPr>
        <p:spPr>
          <a:xfrm flipH="false" flipV="false" rot="0">
            <a:off x="7453668" y="2039303"/>
            <a:ext cx="10677563" cy="6006129"/>
          </a:xfrm>
          <a:custGeom>
            <a:avLst/>
            <a:gdLst/>
            <a:ahLst/>
            <a:cxnLst/>
            <a:rect r="r" b="b" t="t" l="l"/>
            <a:pathLst>
              <a:path h="6006129" w="10677563">
                <a:moveTo>
                  <a:pt x="0" y="0"/>
                </a:moveTo>
                <a:lnTo>
                  <a:pt x="10677563" y="0"/>
                </a:lnTo>
                <a:lnTo>
                  <a:pt x="10677563" y="6006129"/>
                </a:lnTo>
                <a:lnTo>
                  <a:pt x="0" y="6006129"/>
                </a:lnTo>
                <a:lnTo>
                  <a:pt x="0" y="0"/>
                </a:lnTo>
                <a:close/>
              </a:path>
            </a:pathLst>
          </a:custGeom>
          <a:blipFill>
            <a:blip r:embed="rId2"/>
            <a:stretch>
              <a:fillRect l="0" t="0" r="0" b="0"/>
            </a:stretch>
          </a:blipFill>
        </p:spPr>
      </p:sp>
      <p:sp>
        <p:nvSpPr>
          <p:cNvPr name="TextBox 3" id="3"/>
          <p:cNvSpPr txBox="true"/>
          <p:nvPr/>
        </p:nvSpPr>
        <p:spPr>
          <a:xfrm rot="0">
            <a:off x="1028700" y="2267641"/>
            <a:ext cx="5417345" cy="3539099"/>
          </a:xfrm>
          <a:prstGeom prst="rect">
            <a:avLst/>
          </a:prstGeom>
        </p:spPr>
        <p:txBody>
          <a:bodyPr anchor="t" rtlCol="false" tIns="0" lIns="0" bIns="0" rIns="0">
            <a:spAutoFit/>
          </a:bodyPr>
          <a:lstStyle/>
          <a:p>
            <a:pPr algn="just">
              <a:lnSpc>
                <a:spcPts val="2331"/>
              </a:lnSpc>
            </a:pPr>
            <a:r>
              <a:rPr lang="en-US" sz="1665">
                <a:solidFill>
                  <a:srgbClr val="DEBFAF"/>
                </a:solidFill>
                <a:latin typeface="Garet"/>
                <a:ea typeface="Garet"/>
                <a:cs typeface="Garet"/>
                <a:sym typeface="Garet"/>
              </a:rPr>
              <a:t>The success of the Perfumes &amp; Cosmetics division depends on finding the right balance between major historic Maisons such as Parfums Christian Dior, Parfums Givenchy and Guerlain, and younger brands with strong potential like Benefit Cosmetics, Fresh, Make Up For Ever.</a:t>
            </a:r>
          </a:p>
          <a:p>
            <a:pPr algn="just">
              <a:lnSpc>
                <a:spcPts val="2331"/>
              </a:lnSpc>
            </a:pPr>
          </a:p>
          <a:p>
            <a:pPr algn="just">
              <a:lnSpc>
                <a:spcPts val="2331"/>
              </a:lnSpc>
            </a:pPr>
            <a:r>
              <a:rPr lang="en-US" sz="1665">
                <a:solidFill>
                  <a:srgbClr val="DEBFAF"/>
                </a:solidFill>
                <a:latin typeface="Garet"/>
                <a:ea typeface="Garet"/>
                <a:cs typeface="Garet"/>
                <a:sym typeface="Garet"/>
              </a:rPr>
              <a:t>Yet, these brands are driven by the same values:</a:t>
            </a:r>
          </a:p>
          <a:p>
            <a:pPr algn="just" marL="359561" indent="-179780" lvl="1">
              <a:lnSpc>
                <a:spcPts val="2331"/>
              </a:lnSpc>
              <a:buFont typeface="Arial"/>
              <a:buChar char="•"/>
            </a:pPr>
            <a:r>
              <a:rPr lang="en-US" sz="1665">
                <a:solidFill>
                  <a:srgbClr val="DEBFAF"/>
                </a:solidFill>
                <a:latin typeface="Garet"/>
                <a:ea typeface="Garet"/>
                <a:cs typeface="Garet"/>
                <a:sym typeface="Garet"/>
              </a:rPr>
              <a:t> </a:t>
            </a:r>
            <a:r>
              <a:rPr lang="en-US" b="true" sz="1665">
                <a:solidFill>
                  <a:srgbClr val="DEBFAF"/>
                </a:solidFill>
                <a:latin typeface="Garet Bold"/>
                <a:ea typeface="Garet Bold"/>
                <a:cs typeface="Garet Bold"/>
                <a:sym typeface="Garet Bold"/>
              </a:rPr>
              <a:t>quest for excellence</a:t>
            </a:r>
          </a:p>
          <a:p>
            <a:pPr algn="just" marL="359561" indent="-179780" lvl="1">
              <a:lnSpc>
                <a:spcPts val="2331"/>
              </a:lnSpc>
              <a:buFont typeface="Arial"/>
              <a:buChar char="•"/>
            </a:pPr>
            <a:r>
              <a:rPr lang="en-US" b="true" sz="1665">
                <a:solidFill>
                  <a:srgbClr val="DEBFAF"/>
                </a:solidFill>
                <a:latin typeface="Garet Bold"/>
                <a:ea typeface="Garet Bold"/>
                <a:cs typeface="Garet Bold"/>
                <a:sym typeface="Garet Bold"/>
              </a:rPr>
              <a:t>creativity</a:t>
            </a:r>
          </a:p>
          <a:p>
            <a:pPr algn="just" marL="359561" indent="-179780" lvl="1">
              <a:lnSpc>
                <a:spcPts val="2331"/>
              </a:lnSpc>
              <a:buFont typeface="Arial"/>
              <a:buChar char="•"/>
            </a:pPr>
            <a:r>
              <a:rPr lang="en-US" b="true" sz="1665">
                <a:solidFill>
                  <a:srgbClr val="DEBFAF"/>
                </a:solidFill>
                <a:latin typeface="Garet Bold"/>
                <a:ea typeface="Garet Bold"/>
                <a:cs typeface="Garet Bold"/>
                <a:sym typeface="Garet Bold"/>
              </a:rPr>
              <a:t> innovation </a:t>
            </a:r>
          </a:p>
          <a:p>
            <a:pPr algn="just" marL="359561" indent="-179780" lvl="1">
              <a:lnSpc>
                <a:spcPts val="2331"/>
              </a:lnSpc>
              <a:spcBef>
                <a:spcPct val="0"/>
              </a:spcBef>
              <a:buFont typeface="Arial"/>
              <a:buChar char="•"/>
            </a:pPr>
            <a:r>
              <a:rPr lang="en-US" b="true" sz="1665">
                <a:solidFill>
                  <a:srgbClr val="DEBFAF"/>
                </a:solidFill>
                <a:latin typeface="Garet Bold"/>
                <a:ea typeface="Garet Bold"/>
                <a:cs typeface="Garet Bold"/>
                <a:sym typeface="Garet Bold"/>
              </a:rPr>
              <a:t> perfect mastery of their image. </a:t>
            </a:r>
          </a:p>
        </p:txBody>
      </p:sp>
      <p:sp>
        <p:nvSpPr>
          <p:cNvPr name="TextBox 4" id="4"/>
          <p:cNvSpPr txBox="true"/>
          <p:nvPr/>
        </p:nvSpPr>
        <p:spPr>
          <a:xfrm rot="0">
            <a:off x="1758715" y="457266"/>
            <a:ext cx="14770571" cy="1028568"/>
          </a:xfrm>
          <a:prstGeom prst="rect">
            <a:avLst/>
          </a:prstGeom>
        </p:spPr>
        <p:txBody>
          <a:bodyPr anchor="t" rtlCol="false" tIns="0" lIns="0" bIns="0" rIns="0">
            <a:spAutoFit/>
          </a:bodyPr>
          <a:lstStyle/>
          <a:p>
            <a:pPr algn="ctr">
              <a:lnSpc>
                <a:spcPts val="8407"/>
              </a:lnSpc>
              <a:spcBef>
                <a:spcPct val="0"/>
              </a:spcBef>
            </a:pPr>
            <a:r>
              <a:rPr lang="en-US" sz="6005">
                <a:solidFill>
                  <a:srgbClr val="DEBFAF"/>
                </a:solidFill>
                <a:latin typeface="Glacial Indifference"/>
                <a:ea typeface="Glacial Indifference"/>
                <a:cs typeface="Glacial Indifference"/>
                <a:sym typeface="Glacial Indifference"/>
              </a:rPr>
              <a:t>3.FOCUS ON </a:t>
            </a:r>
            <a:r>
              <a:rPr lang="en-US" sz="6005">
                <a:solidFill>
                  <a:srgbClr val="DEBFAF"/>
                </a:solidFill>
                <a:latin typeface="Glacial Indifference"/>
                <a:ea typeface="Glacial Indifference"/>
                <a:cs typeface="Glacial Indifference"/>
                <a:sym typeface="Glacial Indifference"/>
              </a:rPr>
              <a:t>PERFUMES &amp; COSMETICS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40F0A"/>
        </a:solidFill>
      </p:bgPr>
    </p:bg>
    <p:spTree>
      <p:nvGrpSpPr>
        <p:cNvPr id="1" name=""/>
        <p:cNvGrpSpPr/>
        <p:nvPr/>
      </p:nvGrpSpPr>
      <p:grpSpPr>
        <a:xfrm>
          <a:off x="0" y="0"/>
          <a:ext cx="0" cy="0"/>
          <a:chOff x="0" y="0"/>
          <a:chExt cx="0" cy="0"/>
        </a:xfrm>
      </p:grpSpPr>
      <p:sp>
        <p:nvSpPr>
          <p:cNvPr name="Freeform 2" id="2"/>
          <p:cNvSpPr/>
          <p:nvPr/>
        </p:nvSpPr>
        <p:spPr>
          <a:xfrm flipH="false" flipV="false" rot="0">
            <a:off x="386370" y="718887"/>
            <a:ext cx="8019617" cy="7273146"/>
          </a:xfrm>
          <a:custGeom>
            <a:avLst/>
            <a:gdLst/>
            <a:ahLst/>
            <a:cxnLst/>
            <a:rect r="r" b="b" t="t" l="l"/>
            <a:pathLst>
              <a:path h="7273146" w="8019617">
                <a:moveTo>
                  <a:pt x="0" y="0"/>
                </a:moveTo>
                <a:lnTo>
                  <a:pt x="8019617" y="0"/>
                </a:lnTo>
                <a:lnTo>
                  <a:pt x="8019617" y="7273145"/>
                </a:lnTo>
                <a:lnTo>
                  <a:pt x="0" y="7273145"/>
                </a:lnTo>
                <a:lnTo>
                  <a:pt x="0" y="0"/>
                </a:lnTo>
                <a:close/>
              </a:path>
            </a:pathLst>
          </a:custGeom>
          <a:blipFill>
            <a:blip r:embed="rId2"/>
            <a:stretch>
              <a:fillRect l="-18077" t="0" r="-18077" b="0"/>
            </a:stretch>
          </a:blipFill>
        </p:spPr>
      </p:sp>
      <p:sp>
        <p:nvSpPr>
          <p:cNvPr name="TextBox 3" id="3"/>
          <p:cNvSpPr txBox="true"/>
          <p:nvPr/>
        </p:nvSpPr>
        <p:spPr>
          <a:xfrm rot="0">
            <a:off x="9559106" y="3304528"/>
            <a:ext cx="6374664" cy="1480185"/>
          </a:xfrm>
          <a:prstGeom prst="rect">
            <a:avLst/>
          </a:prstGeom>
        </p:spPr>
        <p:txBody>
          <a:bodyPr anchor="t" rtlCol="false" tIns="0" lIns="0" bIns="0" rIns="0">
            <a:spAutoFit/>
          </a:bodyPr>
          <a:lstStyle/>
          <a:p>
            <a:pPr algn="just" marL="0" indent="0" lvl="0">
              <a:lnSpc>
                <a:spcPts val="2940"/>
              </a:lnSpc>
              <a:spcBef>
                <a:spcPct val="0"/>
              </a:spcBef>
            </a:pPr>
            <a:r>
              <a:rPr lang="en-US" sz="2100">
                <a:solidFill>
                  <a:srgbClr val="DEBFAF"/>
                </a:solidFill>
                <a:latin typeface="Garet"/>
                <a:ea typeface="Garet"/>
                <a:cs typeface="Garet"/>
                <a:sym typeface="Garet"/>
              </a:rPr>
              <a:t>Maisons in the Watches &amp; Jewelry sector of LVMH operate in two segments: high-quality watchmaking on the one hand, and jewelry and high jewelry on the other.</a:t>
            </a:r>
          </a:p>
        </p:txBody>
      </p:sp>
      <p:sp>
        <p:nvSpPr>
          <p:cNvPr name="TextBox 4" id="4"/>
          <p:cNvSpPr txBox="true"/>
          <p:nvPr/>
        </p:nvSpPr>
        <p:spPr>
          <a:xfrm rot="0">
            <a:off x="8873736" y="895350"/>
            <a:ext cx="8738116" cy="2114550"/>
          </a:xfrm>
          <a:prstGeom prst="rect">
            <a:avLst/>
          </a:prstGeom>
        </p:spPr>
        <p:txBody>
          <a:bodyPr anchor="t" rtlCol="false" tIns="0" lIns="0" bIns="0" rIns="0">
            <a:spAutoFit/>
          </a:bodyPr>
          <a:lstStyle/>
          <a:p>
            <a:pPr algn="ctr">
              <a:lnSpc>
                <a:spcPts val="8400"/>
              </a:lnSpc>
              <a:spcBef>
                <a:spcPct val="0"/>
              </a:spcBef>
            </a:pPr>
            <a:r>
              <a:rPr lang="en-US" sz="6000">
                <a:solidFill>
                  <a:srgbClr val="DEBFAF"/>
                </a:solidFill>
                <a:latin typeface="Glacial Indifference"/>
                <a:ea typeface="Glacial Indifference"/>
                <a:cs typeface="Glacial Indifference"/>
                <a:sym typeface="Glacial Indifference"/>
              </a:rPr>
              <a:t>4.FOCUS ON WATCHES &amp; JEWELRY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40F0A"/>
        </a:solidFill>
      </p:bgPr>
    </p:bg>
    <p:spTree>
      <p:nvGrpSpPr>
        <p:cNvPr id="1" name=""/>
        <p:cNvGrpSpPr/>
        <p:nvPr/>
      </p:nvGrpSpPr>
      <p:grpSpPr>
        <a:xfrm>
          <a:off x="0" y="0"/>
          <a:ext cx="0" cy="0"/>
          <a:chOff x="0" y="0"/>
          <a:chExt cx="0" cy="0"/>
        </a:xfrm>
      </p:grpSpPr>
      <p:grpSp>
        <p:nvGrpSpPr>
          <p:cNvPr name="Group 2" id="2"/>
          <p:cNvGrpSpPr/>
          <p:nvPr/>
        </p:nvGrpSpPr>
        <p:grpSpPr>
          <a:xfrm rot="0">
            <a:off x="13826523" y="0"/>
            <a:ext cx="4461477" cy="10287000"/>
            <a:chOff x="0" y="0"/>
            <a:chExt cx="5948635" cy="13716000"/>
          </a:xfrm>
        </p:grpSpPr>
        <p:pic>
          <p:nvPicPr>
            <p:cNvPr name="Picture 3" id="3"/>
            <p:cNvPicPr>
              <a:picLocks noChangeAspect="true"/>
            </p:cNvPicPr>
            <p:nvPr/>
          </p:nvPicPr>
          <p:blipFill>
            <a:blip r:embed="rId2"/>
            <a:srcRect l="17513" t="0" r="17513" b="0"/>
            <a:stretch>
              <a:fillRect/>
            </a:stretch>
          </p:blipFill>
          <p:spPr>
            <a:xfrm flipH="false" flipV="false">
              <a:off x="0" y="0"/>
              <a:ext cx="5948635" cy="13716000"/>
            </a:xfrm>
            <a:prstGeom prst="rect">
              <a:avLst/>
            </a:prstGeom>
          </p:spPr>
        </p:pic>
      </p:grpSp>
      <p:sp>
        <p:nvSpPr>
          <p:cNvPr name="TextBox 4" id="4"/>
          <p:cNvSpPr txBox="true"/>
          <p:nvPr/>
        </p:nvSpPr>
        <p:spPr>
          <a:xfrm rot="0">
            <a:off x="962578" y="2997763"/>
            <a:ext cx="7657112" cy="6260537"/>
          </a:xfrm>
          <a:prstGeom prst="rect">
            <a:avLst/>
          </a:prstGeom>
        </p:spPr>
        <p:txBody>
          <a:bodyPr anchor="t" rtlCol="false" tIns="0" lIns="0" bIns="0" rIns="0">
            <a:spAutoFit/>
          </a:bodyPr>
          <a:lstStyle/>
          <a:p>
            <a:pPr algn="just">
              <a:lnSpc>
                <a:spcPts val="3531"/>
              </a:lnSpc>
            </a:pPr>
            <a:r>
              <a:rPr lang="en-US" sz="2522">
                <a:solidFill>
                  <a:srgbClr val="DEBFAF"/>
                </a:solidFill>
                <a:latin typeface="Garet"/>
                <a:ea typeface="Garet"/>
                <a:cs typeface="Garet"/>
                <a:sym typeface="Garet"/>
              </a:rPr>
              <a:t>The Selective Retailing Maisons in the LVMH Group share the same objective:</a:t>
            </a:r>
          </a:p>
          <a:p>
            <a:pPr algn="just" marL="544533" indent="-272266" lvl="1">
              <a:lnSpc>
                <a:spcPts val="3531"/>
              </a:lnSpc>
              <a:buFont typeface="Arial"/>
              <a:buChar char="•"/>
            </a:pPr>
            <a:r>
              <a:rPr lang="en-US" sz="2522">
                <a:solidFill>
                  <a:srgbClr val="DEBFAF"/>
                </a:solidFill>
                <a:latin typeface="Garet"/>
                <a:ea typeface="Garet"/>
                <a:cs typeface="Garet"/>
                <a:sym typeface="Garet"/>
              </a:rPr>
              <a:t>to transform shopping into a unique experience. </a:t>
            </a:r>
          </a:p>
          <a:p>
            <a:pPr algn="just">
              <a:lnSpc>
                <a:spcPts val="3531"/>
              </a:lnSpc>
            </a:pPr>
          </a:p>
          <a:p>
            <a:pPr algn="just">
              <a:lnSpc>
                <a:spcPts val="3531"/>
              </a:lnSpc>
            </a:pPr>
            <a:r>
              <a:rPr lang="en-US" sz="2522">
                <a:solidFill>
                  <a:srgbClr val="DEBFAF"/>
                </a:solidFill>
                <a:latin typeface="Garet"/>
                <a:ea typeface="Garet"/>
                <a:cs typeface="Garet"/>
                <a:sym typeface="Garet"/>
              </a:rPr>
              <a:t>Key drivers of selective retailing:</a:t>
            </a:r>
          </a:p>
          <a:p>
            <a:pPr algn="l" marL="544533" indent="-272266" lvl="1">
              <a:lnSpc>
                <a:spcPts val="3531"/>
              </a:lnSpc>
              <a:buFont typeface="Arial"/>
              <a:buChar char="•"/>
            </a:pPr>
            <a:r>
              <a:rPr lang="en-US" sz="2522">
                <a:solidFill>
                  <a:srgbClr val="DEBFAF"/>
                </a:solidFill>
                <a:latin typeface="Garet"/>
                <a:ea typeface="Garet"/>
                <a:cs typeface="Garet"/>
                <a:sym typeface="Garet"/>
              </a:rPr>
              <a:t>Specialist product selection, </a:t>
            </a:r>
          </a:p>
          <a:p>
            <a:pPr algn="l" marL="544533" indent="-272266" lvl="1">
              <a:lnSpc>
                <a:spcPts val="3531"/>
              </a:lnSpc>
              <a:buFont typeface="Arial"/>
              <a:buChar char="•"/>
            </a:pPr>
            <a:r>
              <a:rPr lang="en-US" sz="2522">
                <a:solidFill>
                  <a:srgbClr val="DEBFAF"/>
                </a:solidFill>
                <a:latin typeface="Garet"/>
                <a:ea typeface="Garet"/>
                <a:cs typeface="Garet"/>
                <a:sym typeface="Garet"/>
              </a:rPr>
              <a:t>Upgrading of stores and services, </a:t>
            </a:r>
          </a:p>
          <a:p>
            <a:pPr algn="l" marL="544533" indent="-272266" lvl="1">
              <a:lnSpc>
                <a:spcPts val="3531"/>
              </a:lnSpc>
              <a:buFont typeface="Arial"/>
              <a:buChar char="•"/>
            </a:pPr>
            <a:r>
              <a:rPr lang="en-US" sz="2522">
                <a:solidFill>
                  <a:srgbClr val="DEBFAF"/>
                </a:solidFill>
                <a:latin typeface="Garet"/>
                <a:ea typeface="Garet"/>
                <a:cs typeface="Garet"/>
                <a:sym typeface="Garet"/>
              </a:rPr>
              <a:t>Constant innovation,</a:t>
            </a:r>
          </a:p>
          <a:p>
            <a:pPr algn="l" marL="544533" indent="-272266" lvl="1">
              <a:lnSpc>
                <a:spcPts val="3531"/>
              </a:lnSpc>
              <a:buFont typeface="Arial"/>
              <a:buChar char="•"/>
            </a:pPr>
            <a:r>
              <a:rPr lang="en-US" sz="2522">
                <a:solidFill>
                  <a:srgbClr val="DEBFAF"/>
                </a:solidFill>
                <a:latin typeface="Garet"/>
                <a:ea typeface="Garet"/>
                <a:cs typeface="Garet"/>
                <a:sym typeface="Garet"/>
              </a:rPr>
              <a:t> Digitalization </a:t>
            </a:r>
          </a:p>
          <a:p>
            <a:pPr algn="l" marL="544533" indent="-272266" lvl="1">
              <a:lnSpc>
                <a:spcPts val="3531"/>
              </a:lnSpc>
              <a:buFont typeface="Arial"/>
              <a:buChar char="•"/>
            </a:pPr>
            <a:r>
              <a:rPr lang="en-US" sz="2522">
                <a:solidFill>
                  <a:srgbClr val="DEBFAF"/>
                </a:solidFill>
                <a:latin typeface="Garet"/>
                <a:ea typeface="Garet"/>
                <a:cs typeface="Garet"/>
                <a:sym typeface="Garet"/>
              </a:rPr>
              <a:t> Personalization of relationships</a:t>
            </a:r>
          </a:p>
          <a:p>
            <a:pPr algn="r">
              <a:lnSpc>
                <a:spcPts val="3531"/>
              </a:lnSpc>
            </a:pPr>
          </a:p>
          <a:p>
            <a:pPr algn="r">
              <a:lnSpc>
                <a:spcPts val="3531"/>
              </a:lnSpc>
            </a:pPr>
          </a:p>
          <a:p>
            <a:pPr algn="l" marL="0" indent="0" lvl="0">
              <a:lnSpc>
                <a:spcPts val="3531"/>
              </a:lnSpc>
              <a:spcBef>
                <a:spcPct val="0"/>
              </a:spcBef>
            </a:pPr>
          </a:p>
        </p:txBody>
      </p:sp>
      <p:sp>
        <p:nvSpPr>
          <p:cNvPr name="TextBox 5" id="5"/>
          <p:cNvSpPr txBox="true"/>
          <p:nvPr/>
        </p:nvSpPr>
        <p:spPr>
          <a:xfrm rot="0">
            <a:off x="0" y="285248"/>
            <a:ext cx="9582269" cy="2085975"/>
          </a:xfrm>
          <a:prstGeom prst="rect">
            <a:avLst/>
          </a:prstGeom>
        </p:spPr>
        <p:txBody>
          <a:bodyPr anchor="t" rtlCol="false" tIns="0" lIns="0" bIns="0" rIns="0">
            <a:spAutoFit/>
          </a:bodyPr>
          <a:lstStyle/>
          <a:p>
            <a:pPr algn="ctr">
              <a:lnSpc>
                <a:spcPts val="8399"/>
              </a:lnSpc>
              <a:spcBef>
                <a:spcPct val="0"/>
              </a:spcBef>
            </a:pPr>
            <a:r>
              <a:rPr lang="en-US" sz="5999">
                <a:solidFill>
                  <a:srgbClr val="DEBFAF"/>
                </a:solidFill>
                <a:latin typeface="Glacial Indifference"/>
                <a:ea typeface="Glacial Indifference"/>
                <a:cs typeface="Glacial Indifference"/>
                <a:sym typeface="Glacial Indifference"/>
              </a:rPr>
              <a:t>5.FOCUS ON SELECTIVE RETAILING</a:t>
            </a:r>
          </a:p>
        </p:txBody>
      </p:sp>
      <p:grpSp>
        <p:nvGrpSpPr>
          <p:cNvPr name="Group 6" id="6"/>
          <p:cNvGrpSpPr/>
          <p:nvPr/>
        </p:nvGrpSpPr>
        <p:grpSpPr>
          <a:xfrm rot="0">
            <a:off x="9144000" y="0"/>
            <a:ext cx="4684252" cy="10287000"/>
            <a:chOff x="0" y="0"/>
            <a:chExt cx="6245670" cy="13716000"/>
          </a:xfrm>
        </p:grpSpPr>
        <p:pic>
          <p:nvPicPr>
            <p:cNvPr name="Picture 7" id="7"/>
            <p:cNvPicPr>
              <a:picLocks noChangeAspect="true"/>
            </p:cNvPicPr>
            <p:nvPr/>
          </p:nvPicPr>
          <p:blipFill>
            <a:blip r:embed="rId3"/>
            <a:srcRect l="38775" t="0" r="30829" b="0"/>
            <a:stretch>
              <a:fillRect/>
            </a:stretch>
          </p:blipFill>
          <p:spPr>
            <a:xfrm flipH="false" flipV="false">
              <a:off x="0" y="0"/>
              <a:ext cx="6245670" cy="13716000"/>
            </a:xfrm>
            <a:prstGeom prst="rect">
              <a:avLst/>
            </a:prstGeom>
          </p:spPr>
        </p:pic>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40F0A"/>
        </a:solidFill>
      </p:bgPr>
    </p:bg>
    <p:spTree>
      <p:nvGrpSpPr>
        <p:cNvPr id="1" name=""/>
        <p:cNvGrpSpPr/>
        <p:nvPr/>
      </p:nvGrpSpPr>
      <p:grpSpPr>
        <a:xfrm>
          <a:off x="0" y="0"/>
          <a:ext cx="0" cy="0"/>
          <a:chOff x="0" y="0"/>
          <a:chExt cx="0" cy="0"/>
        </a:xfrm>
      </p:grpSpPr>
      <p:grpSp>
        <p:nvGrpSpPr>
          <p:cNvPr name="Group 2" id="2"/>
          <p:cNvGrpSpPr/>
          <p:nvPr/>
        </p:nvGrpSpPr>
        <p:grpSpPr>
          <a:xfrm rot="0">
            <a:off x="3092631" y="0"/>
            <a:ext cx="6427210" cy="5078970"/>
            <a:chOff x="0" y="0"/>
            <a:chExt cx="8569614" cy="6771960"/>
          </a:xfrm>
        </p:grpSpPr>
        <p:pic>
          <p:nvPicPr>
            <p:cNvPr name="Picture 3" id="3"/>
            <p:cNvPicPr>
              <a:picLocks noChangeAspect="true"/>
            </p:cNvPicPr>
            <p:nvPr/>
          </p:nvPicPr>
          <p:blipFill>
            <a:blip r:embed="rId2"/>
            <a:srcRect l="7844" t="0" r="7844" b="0"/>
            <a:stretch>
              <a:fillRect/>
            </a:stretch>
          </p:blipFill>
          <p:spPr>
            <a:xfrm flipH="false" flipV="false">
              <a:off x="0" y="0"/>
              <a:ext cx="8569614" cy="6771960"/>
            </a:xfrm>
            <a:prstGeom prst="rect">
              <a:avLst/>
            </a:prstGeom>
          </p:spPr>
        </p:pic>
      </p:grpSp>
      <p:grpSp>
        <p:nvGrpSpPr>
          <p:cNvPr name="Group 4" id="4"/>
          <p:cNvGrpSpPr/>
          <p:nvPr/>
        </p:nvGrpSpPr>
        <p:grpSpPr>
          <a:xfrm rot="0">
            <a:off x="1028700" y="5208030"/>
            <a:ext cx="6427210" cy="5078970"/>
            <a:chOff x="0" y="0"/>
            <a:chExt cx="8569614" cy="6771960"/>
          </a:xfrm>
        </p:grpSpPr>
        <p:pic>
          <p:nvPicPr>
            <p:cNvPr name="Picture 5" id="5"/>
            <p:cNvPicPr>
              <a:picLocks noChangeAspect="true"/>
            </p:cNvPicPr>
            <p:nvPr/>
          </p:nvPicPr>
          <p:blipFill>
            <a:blip r:embed="rId3"/>
            <a:srcRect l="0" t="23675" r="0" b="23675"/>
            <a:stretch>
              <a:fillRect/>
            </a:stretch>
          </p:blipFill>
          <p:spPr>
            <a:xfrm flipH="false" flipV="false">
              <a:off x="0" y="0"/>
              <a:ext cx="8569614" cy="6771960"/>
            </a:xfrm>
            <a:prstGeom prst="rect">
              <a:avLst/>
            </a:prstGeom>
          </p:spPr>
        </p:pic>
      </p:grpSp>
      <p:sp>
        <p:nvSpPr>
          <p:cNvPr name="TextBox 6" id="6"/>
          <p:cNvSpPr txBox="true"/>
          <p:nvPr/>
        </p:nvSpPr>
        <p:spPr>
          <a:xfrm rot="0">
            <a:off x="9144000" y="424935"/>
            <a:ext cx="8668309" cy="2114550"/>
          </a:xfrm>
          <a:prstGeom prst="rect">
            <a:avLst/>
          </a:prstGeom>
        </p:spPr>
        <p:txBody>
          <a:bodyPr anchor="t" rtlCol="false" tIns="0" lIns="0" bIns="0" rIns="0">
            <a:spAutoFit/>
          </a:bodyPr>
          <a:lstStyle/>
          <a:p>
            <a:pPr algn="ctr">
              <a:lnSpc>
                <a:spcPts val="8400"/>
              </a:lnSpc>
              <a:spcBef>
                <a:spcPct val="0"/>
              </a:spcBef>
            </a:pPr>
            <a:r>
              <a:rPr lang="en-US" sz="6000">
                <a:solidFill>
                  <a:srgbClr val="DEBFAF"/>
                </a:solidFill>
                <a:latin typeface="Glacial Indifference"/>
                <a:ea typeface="Glacial Indifference"/>
                <a:cs typeface="Glacial Indifference"/>
                <a:sym typeface="Glacial Indifference"/>
              </a:rPr>
              <a:t>6.FOCUS ON OTHER ACTIVITIES</a:t>
            </a:r>
          </a:p>
        </p:txBody>
      </p:sp>
      <p:sp>
        <p:nvSpPr>
          <p:cNvPr name="TextBox 7" id="7"/>
          <p:cNvSpPr txBox="true"/>
          <p:nvPr/>
        </p:nvSpPr>
        <p:spPr>
          <a:xfrm rot="0">
            <a:off x="11607019" y="2976697"/>
            <a:ext cx="4324655" cy="3337560"/>
          </a:xfrm>
          <a:prstGeom prst="rect">
            <a:avLst/>
          </a:prstGeom>
        </p:spPr>
        <p:txBody>
          <a:bodyPr anchor="t" rtlCol="false" tIns="0" lIns="0" bIns="0" rIns="0">
            <a:spAutoFit/>
          </a:bodyPr>
          <a:lstStyle/>
          <a:p>
            <a:pPr algn="l">
              <a:lnSpc>
                <a:spcPts val="2940"/>
              </a:lnSpc>
            </a:pPr>
            <a:r>
              <a:rPr lang="en-US" sz="2100" i="true" b="true">
                <a:solidFill>
                  <a:srgbClr val="DEBFAF"/>
                </a:solidFill>
                <a:latin typeface="Garet Bold Italics"/>
                <a:ea typeface="Garet Bold Italics"/>
                <a:cs typeface="Garet Bold Italics"/>
                <a:sym typeface="Garet Bold Italics"/>
              </a:rPr>
              <a:t>Craftsmanship meets creativity</a:t>
            </a:r>
          </a:p>
          <a:p>
            <a:pPr algn="l">
              <a:lnSpc>
                <a:spcPts val="2940"/>
              </a:lnSpc>
            </a:pPr>
          </a:p>
          <a:p>
            <a:pPr algn="l" marL="0" indent="0" lvl="0">
              <a:lnSpc>
                <a:spcPts val="2940"/>
              </a:lnSpc>
              <a:spcBef>
                <a:spcPct val="0"/>
              </a:spcBef>
            </a:pPr>
            <a:r>
              <a:rPr lang="en-US" sz="2100">
                <a:solidFill>
                  <a:srgbClr val="DEBFAF"/>
                </a:solidFill>
                <a:latin typeface="Garet"/>
                <a:ea typeface="Garet"/>
                <a:cs typeface="Garet"/>
                <a:sym typeface="Garet"/>
              </a:rPr>
              <a:t>Inspired by the spirit of LVMH and its love for contemporary innovation, Cheval Blanc revisits the codes of ultra-Luxury hospitality with bold modernity. </a:t>
            </a:r>
            <a:r>
              <a:rPr lang="en-US" sz="2100" strike="noStrike" u="none">
                <a:solidFill>
                  <a:srgbClr val="DEBFAF"/>
                </a:solidFill>
                <a:latin typeface="Garet"/>
                <a:ea typeface="Garet"/>
                <a:cs typeface="Garet"/>
                <a:sym typeface="Garet"/>
              </a:rPr>
              <a:t>.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240F0A"/>
        </a:solidFill>
      </p:bgPr>
    </p:bg>
    <p:spTree>
      <p:nvGrpSpPr>
        <p:cNvPr id="1" name=""/>
        <p:cNvGrpSpPr/>
        <p:nvPr/>
      </p:nvGrpSpPr>
      <p:grpSpPr>
        <a:xfrm>
          <a:off x="0" y="0"/>
          <a:ext cx="0" cy="0"/>
          <a:chOff x="0" y="0"/>
          <a:chExt cx="0" cy="0"/>
        </a:xfrm>
      </p:grpSpPr>
      <p:sp>
        <p:nvSpPr>
          <p:cNvPr name="TextBox 2" id="2"/>
          <p:cNvSpPr txBox="true"/>
          <p:nvPr/>
        </p:nvSpPr>
        <p:spPr>
          <a:xfrm rot="0">
            <a:off x="2807226" y="1290859"/>
            <a:ext cx="10860436" cy="2156912"/>
          </a:xfrm>
          <a:prstGeom prst="rect">
            <a:avLst/>
          </a:prstGeom>
        </p:spPr>
        <p:txBody>
          <a:bodyPr anchor="t" rtlCol="false" tIns="0" lIns="0" bIns="0" rIns="0">
            <a:spAutoFit/>
          </a:bodyPr>
          <a:lstStyle/>
          <a:p>
            <a:pPr algn="l">
              <a:lnSpc>
                <a:spcPts val="17582"/>
              </a:lnSpc>
            </a:pPr>
            <a:r>
              <a:rPr lang="en-US" sz="12559">
                <a:solidFill>
                  <a:srgbClr val="DEBFAF"/>
                </a:solidFill>
                <a:latin typeface="Signature"/>
                <a:ea typeface="Signature"/>
                <a:cs typeface="Signature"/>
                <a:sym typeface="Signature"/>
              </a:rPr>
              <a:t>Brand’s Operating Model</a:t>
            </a:r>
          </a:p>
        </p:txBody>
      </p:sp>
      <p:sp>
        <p:nvSpPr>
          <p:cNvPr name="TextBox 3" id="3"/>
          <p:cNvSpPr txBox="true"/>
          <p:nvPr/>
        </p:nvSpPr>
        <p:spPr>
          <a:xfrm rot="0">
            <a:off x="1623967" y="4595403"/>
            <a:ext cx="13575502" cy="3051175"/>
          </a:xfrm>
          <a:prstGeom prst="rect">
            <a:avLst/>
          </a:prstGeom>
        </p:spPr>
        <p:txBody>
          <a:bodyPr anchor="t" rtlCol="false" tIns="0" lIns="0" bIns="0" rIns="0">
            <a:spAutoFit/>
          </a:bodyPr>
          <a:lstStyle/>
          <a:p>
            <a:pPr algn="just" marL="539746" indent="-269873" lvl="1">
              <a:lnSpc>
                <a:spcPts val="3499"/>
              </a:lnSpc>
              <a:buFont typeface="Arial"/>
              <a:buChar char="•"/>
            </a:pPr>
            <a:r>
              <a:rPr lang="en-US" sz="2499" spc="847">
                <a:solidFill>
                  <a:srgbClr val="DEBFAF"/>
                </a:solidFill>
                <a:latin typeface="Glacial Indifference"/>
                <a:ea typeface="Glacial Indifference"/>
                <a:cs typeface="Glacial Indifference"/>
                <a:sym typeface="Glacial Indifference"/>
              </a:rPr>
              <a:t>DECENTRALIZED ORGANIZATION</a:t>
            </a:r>
          </a:p>
          <a:p>
            <a:pPr algn="just" marL="539746" indent="-269873" lvl="1">
              <a:lnSpc>
                <a:spcPts val="3499"/>
              </a:lnSpc>
              <a:buFont typeface="Arial"/>
              <a:buChar char="•"/>
            </a:pPr>
            <a:r>
              <a:rPr lang="en-US" sz="2499" spc="847">
                <a:solidFill>
                  <a:srgbClr val="DEBFAF"/>
                </a:solidFill>
                <a:latin typeface="Glacial Indifference"/>
                <a:ea typeface="Glacial Indifference"/>
                <a:cs typeface="Glacial Indifference"/>
                <a:sym typeface="Glacial Indifference"/>
              </a:rPr>
              <a:t>VERTICAL INTEGRATION </a:t>
            </a:r>
          </a:p>
          <a:p>
            <a:pPr algn="just" marL="539746" indent="-269873" lvl="1">
              <a:lnSpc>
                <a:spcPts val="3499"/>
              </a:lnSpc>
              <a:buFont typeface="Arial"/>
              <a:buChar char="•"/>
            </a:pPr>
            <a:r>
              <a:rPr lang="en-US" sz="2499" spc="847">
                <a:solidFill>
                  <a:srgbClr val="DEBFAF"/>
                </a:solidFill>
                <a:latin typeface="Glacial Indifference"/>
                <a:ea typeface="Glacial Indifference"/>
                <a:cs typeface="Glacial Indifference"/>
                <a:sym typeface="Glacial Indifference"/>
              </a:rPr>
              <a:t>SUSTAINING SAVOIR-FAIRE </a:t>
            </a:r>
          </a:p>
          <a:p>
            <a:pPr algn="just" marL="539746" indent="-269873" lvl="1">
              <a:lnSpc>
                <a:spcPts val="3499"/>
              </a:lnSpc>
              <a:buFont typeface="Arial"/>
              <a:buChar char="•"/>
            </a:pPr>
            <a:r>
              <a:rPr lang="en-US" sz="2499" spc="847">
                <a:solidFill>
                  <a:srgbClr val="DEBFAF"/>
                </a:solidFill>
                <a:latin typeface="Glacial Indifference"/>
                <a:ea typeface="Glacial Indifference"/>
                <a:cs typeface="Glacial Indifference"/>
                <a:sym typeface="Glacial Indifference"/>
              </a:rPr>
              <a:t>ORGANIC GROWTH </a:t>
            </a:r>
          </a:p>
          <a:p>
            <a:pPr algn="just" marL="539746" indent="-269873" lvl="1">
              <a:lnSpc>
                <a:spcPts val="3499"/>
              </a:lnSpc>
              <a:buFont typeface="Arial"/>
              <a:buChar char="•"/>
            </a:pPr>
            <a:r>
              <a:rPr lang="en-US" sz="2499" spc="847">
                <a:solidFill>
                  <a:srgbClr val="DEBFAF"/>
                </a:solidFill>
                <a:latin typeface="Glacial Indifference"/>
                <a:ea typeface="Glacial Indifference"/>
                <a:cs typeface="Glacial Indifference"/>
                <a:sym typeface="Glacial Indifference"/>
              </a:rPr>
              <a:t>CREATING SYNERGIES </a:t>
            </a:r>
          </a:p>
          <a:p>
            <a:pPr algn="just" marL="539746" indent="-269873" lvl="1">
              <a:lnSpc>
                <a:spcPts val="3499"/>
              </a:lnSpc>
              <a:buFont typeface="Arial"/>
              <a:buChar char="•"/>
            </a:pPr>
            <a:r>
              <a:rPr lang="en-US" sz="2499" spc="847">
                <a:solidFill>
                  <a:srgbClr val="DEBFAF"/>
                </a:solidFill>
                <a:latin typeface="Glacial Indifference"/>
                <a:ea typeface="Glacial Indifference"/>
                <a:cs typeface="Glacial Indifference"/>
                <a:sym typeface="Glacial Indifference"/>
              </a:rPr>
              <a:t>BALANCE ACROSS BUSINESS SEGMENTS&amp; GEOGRAPHIES</a:t>
            </a:r>
          </a:p>
          <a:p>
            <a:pPr algn="just">
              <a:lnSpc>
                <a:spcPts val="3499"/>
              </a:lnSpc>
            </a:pPr>
          </a:p>
        </p:txBody>
      </p:sp>
      <p:sp>
        <p:nvSpPr>
          <p:cNvPr name="TextBox 4" id="4"/>
          <p:cNvSpPr txBox="true"/>
          <p:nvPr/>
        </p:nvSpPr>
        <p:spPr>
          <a:xfrm rot="0">
            <a:off x="1623967" y="3221584"/>
            <a:ext cx="14753148" cy="1029431"/>
          </a:xfrm>
          <a:prstGeom prst="rect">
            <a:avLst/>
          </a:prstGeom>
        </p:spPr>
        <p:txBody>
          <a:bodyPr anchor="t" rtlCol="false" tIns="0" lIns="0" bIns="0" rIns="0">
            <a:spAutoFit/>
          </a:bodyPr>
          <a:lstStyle/>
          <a:p>
            <a:pPr algn="just">
              <a:lnSpc>
                <a:spcPts val="4159"/>
              </a:lnSpc>
            </a:pPr>
            <a:r>
              <a:rPr lang="en-US" sz="2971" i="true" spc="1007">
                <a:solidFill>
                  <a:srgbClr val="DEBFAF"/>
                </a:solidFill>
                <a:latin typeface="Glacial Indifference Italics"/>
                <a:ea typeface="Glacial Indifference Italics"/>
                <a:cs typeface="Glacial Indifference Italics"/>
                <a:sym typeface="Glacial Indifference Italics"/>
              </a:rPr>
              <a:t>BRAND OPERATING MODEL HAS 6 PILLARS  DEFINED BY EXCELLENCE &amp; HIGH QUALITY</a:t>
            </a:r>
          </a:p>
        </p:txBody>
      </p:sp>
      <p:sp>
        <p:nvSpPr>
          <p:cNvPr name="TextBox 5" id="5"/>
          <p:cNvSpPr txBox="true"/>
          <p:nvPr/>
        </p:nvSpPr>
        <p:spPr>
          <a:xfrm rot="0">
            <a:off x="5747260" y="-219075"/>
            <a:ext cx="5195051" cy="1940547"/>
          </a:xfrm>
          <a:prstGeom prst="rect">
            <a:avLst/>
          </a:prstGeom>
        </p:spPr>
        <p:txBody>
          <a:bodyPr anchor="t" rtlCol="false" tIns="0" lIns="0" bIns="0" rIns="0">
            <a:spAutoFit/>
          </a:bodyPr>
          <a:lstStyle/>
          <a:p>
            <a:pPr algn="ctr">
              <a:lnSpc>
                <a:spcPts val="15890"/>
              </a:lnSpc>
            </a:pPr>
            <a:r>
              <a:rPr lang="en-US" sz="11350">
                <a:solidFill>
                  <a:srgbClr val="BC9676"/>
                </a:solidFill>
                <a:latin typeface="Glacial Indifference"/>
                <a:ea typeface="Glacial Indifference"/>
                <a:cs typeface="Glacial Indifference"/>
                <a:sym typeface="Glacial Indifference"/>
              </a:rPr>
              <a:t>LVMH</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40F0A"/>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4511017" cy="10287000"/>
            <a:chOff x="0" y="0"/>
            <a:chExt cx="6014689" cy="13716000"/>
          </a:xfrm>
        </p:grpSpPr>
        <p:pic>
          <p:nvPicPr>
            <p:cNvPr name="Picture 3" id="3"/>
            <p:cNvPicPr>
              <a:picLocks noChangeAspect="true"/>
            </p:cNvPicPr>
            <p:nvPr/>
          </p:nvPicPr>
          <p:blipFill>
            <a:blip r:embed="rId2"/>
            <a:srcRect l="35364" t="0" r="35364" b="0"/>
            <a:stretch>
              <a:fillRect/>
            </a:stretch>
          </p:blipFill>
          <p:spPr>
            <a:xfrm flipH="false" flipV="false">
              <a:off x="0" y="0"/>
              <a:ext cx="6014689" cy="13716000"/>
            </a:xfrm>
            <a:prstGeom prst="rect">
              <a:avLst/>
            </a:prstGeom>
          </p:spPr>
        </p:pic>
      </p:grpSp>
      <p:grpSp>
        <p:nvGrpSpPr>
          <p:cNvPr name="Group 4" id="4"/>
          <p:cNvGrpSpPr/>
          <p:nvPr/>
        </p:nvGrpSpPr>
        <p:grpSpPr>
          <a:xfrm rot="0">
            <a:off x="13776983" y="0"/>
            <a:ext cx="4511017" cy="10287000"/>
            <a:chOff x="0" y="0"/>
            <a:chExt cx="698875" cy="1593725"/>
          </a:xfrm>
        </p:grpSpPr>
        <p:sp>
          <p:nvSpPr>
            <p:cNvPr name="Freeform 5" id="5"/>
            <p:cNvSpPr/>
            <p:nvPr/>
          </p:nvSpPr>
          <p:spPr>
            <a:xfrm flipH="false" flipV="false" rot="0">
              <a:off x="0" y="0"/>
              <a:ext cx="698875" cy="1593725"/>
            </a:xfrm>
            <a:custGeom>
              <a:avLst/>
              <a:gdLst/>
              <a:ahLst/>
              <a:cxnLst/>
              <a:rect r="r" b="b" t="t" l="l"/>
              <a:pathLst>
                <a:path h="1593725" w="698875">
                  <a:moveTo>
                    <a:pt x="0" y="0"/>
                  </a:moveTo>
                  <a:lnTo>
                    <a:pt x="698875" y="0"/>
                  </a:lnTo>
                  <a:lnTo>
                    <a:pt x="698875" y="1593725"/>
                  </a:lnTo>
                  <a:lnTo>
                    <a:pt x="0" y="1593725"/>
                  </a:lnTo>
                  <a:close/>
                </a:path>
              </a:pathLst>
            </a:custGeom>
            <a:blipFill>
              <a:blip r:embed="rId3"/>
              <a:stretch>
                <a:fillRect l="-121138" t="0" r="-121138" b="0"/>
              </a:stretch>
            </a:blipFill>
          </p:spPr>
        </p:sp>
      </p:grpSp>
      <p:sp>
        <p:nvSpPr>
          <p:cNvPr name="TextBox 6" id="6"/>
          <p:cNvSpPr txBox="true"/>
          <p:nvPr/>
        </p:nvSpPr>
        <p:spPr>
          <a:xfrm rot="0">
            <a:off x="1028700" y="395496"/>
            <a:ext cx="8649311" cy="2606459"/>
          </a:xfrm>
          <a:prstGeom prst="rect">
            <a:avLst/>
          </a:prstGeom>
        </p:spPr>
        <p:txBody>
          <a:bodyPr anchor="t" rtlCol="false" tIns="0" lIns="0" bIns="0" rIns="0">
            <a:spAutoFit/>
          </a:bodyPr>
          <a:lstStyle/>
          <a:p>
            <a:pPr algn="l">
              <a:lnSpc>
                <a:spcPts val="21186"/>
              </a:lnSpc>
            </a:pPr>
            <a:r>
              <a:rPr lang="en-US" sz="15133">
                <a:solidFill>
                  <a:srgbClr val="DEBFAF"/>
                </a:solidFill>
                <a:latin typeface="Signature"/>
                <a:ea typeface="Signature"/>
                <a:cs typeface="Signature"/>
                <a:sym typeface="Signature"/>
              </a:rPr>
              <a:t>Key Insights</a:t>
            </a:r>
          </a:p>
        </p:txBody>
      </p:sp>
      <p:sp>
        <p:nvSpPr>
          <p:cNvPr name="TextBox 7" id="7"/>
          <p:cNvSpPr txBox="true"/>
          <p:nvPr/>
        </p:nvSpPr>
        <p:spPr>
          <a:xfrm rot="0">
            <a:off x="1028700" y="3107191"/>
            <a:ext cx="6917321" cy="2761097"/>
          </a:xfrm>
          <a:prstGeom prst="rect">
            <a:avLst/>
          </a:prstGeom>
        </p:spPr>
        <p:txBody>
          <a:bodyPr anchor="t" rtlCol="false" tIns="0" lIns="0" bIns="0" rIns="0">
            <a:spAutoFit/>
          </a:bodyPr>
          <a:lstStyle/>
          <a:p>
            <a:pPr algn="l" marL="483028" indent="-241514" lvl="1">
              <a:lnSpc>
                <a:spcPts val="3132"/>
              </a:lnSpc>
              <a:buFont typeface="Arial"/>
              <a:buChar char="•"/>
            </a:pPr>
            <a:r>
              <a:rPr lang="en-US" sz="2237">
                <a:solidFill>
                  <a:srgbClr val="DEBFAF"/>
                </a:solidFill>
                <a:latin typeface="Garet"/>
                <a:ea typeface="Garet"/>
                <a:cs typeface="Garet"/>
                <a:sym typeface="Garet"/>
              </a:rPr>
              <a:t>Key Challenges of Luxury Industry </a:t>
            </a:r>
          </a:p>
          <a:p>
            <a:pPr algn="l" marL="483028" indent="-241514" lvl="1">
              <a:lnSpc>
                <a:spcPts val="3132"/>
              </a:lnSpc>
              <a:buFont typeface="Arial"/>
              <a:buChar char="•"/>
            </a:pPr>
            <a:r>
              <a:rPr lang="en-US" sz="2237">
                <a:solidFill>
                  <a:srgbClr val="DEBFAF"/>
                </a:solidFill>
                <a:latin typeface="Garet"/>
                <a:ea typeface="Garet"/>
                <a:cs typeface="Garet"/>
                <a:sym typeface="Garet"/>
              </a:rPr>
              <a:t>Past, Present,Future:Luxury Formula </a:t>
            </a:r>
          </a:p>
          <a:p>
            <a:pPr algn="l" marL="483028" indent="-241514" lvl="1">
              <a:lnSpc>
                <a:spcPts val="3132"/>
              </a:lnSpc>
              <a:buFont typeface="Arial"/>
              <a:buChar char="•"/>
            </a:pPr>
            <a:r>
              <a:rPr lang="en-US" sz="2237">
                <a:solidFill>
                  <a:srgbClr val="DEBFAF"/>
                </a:solidFill>
                <a:latin typeface="Garet"/>
                <a:ea typeface="Garet"/>
                <a:cs typeface="Garet"/>
                <a:sym typeface="Garet"/>
              </a:rPr>
              <a:t>Consumer Behaviour &amp;  Key Markets </a:t>
            </a:r>
          </a:p>
          <a:p>
            <a:pPr algn="l" marL="483028" indent="-241514" lvl="1">
              <a:lnSpc>
                <a:spcPts val="3132"/>
              </a:lnSpc>
              <a:buFont typeface="Arial"/>
              <a:buChar char="•"/>
            </a:pPr>
            <a:r>
              <a:rPr lang="en-US" sz="2237">
                <a:solidFill>
                  <a:srgbClr val="DEBFAF"/>
                </a:solidFill>
                <a:latin typeface="Garet"/>
                <a:ea typeface="Garet"/>
                <a:cs typeface="Garet"/>
                <a:sym typeface="Garet"/>
              </a:rPr>
              <a:t>How to define Luxury </a:t>
            </a:r>
          </a:p>
          <a:p>
            <a:pPr algn="l" marL="483028" indent="-241514" lvl="1">
              <a:lnSpc>
                <a:spcPts val="3132"/>
              </a:lnSpc>
              <a:buFont typeface="Arial"/>
              <a:buChar char="•"/>
            </a:pPr>
            <a:r>
              <a:rPr lang="en-US" sz="2237">
                <a:solidFill>
                  <a:srgbClr val="DEBFAF"/>
                </a:solidFill>
                <a:latin typeface="Garet"/>
                <a:ea typeface="Garet"/>
                <a:cs typeface="Garet"/>
                <a:sym typeface="Garet"/>
              </a:rPr>
              <a:t>Identification as Luxury Product </a:t>
            </a:r>
          </a:p>
          <a:p>
            <a:pPr algn="l" marL="483028" indent="-241514" lvl="1">
              <a:lnSpc>
                <a:spcPts val="3132"/>
              </a:lnSpc>
              <a:buFont typeface="Arial"/>
              <a:buChar char="•"/>
            </a:pPr>
            <a:r>
              <a:rPr lang="en-US" sz="2237">
                <a:solidFill>
                  <a:srgbClr val="DEBFAF"/>
                </a:solidFill>
                <a:latin typeface="Garet"/>
                <a:ea typeface="Garet"/>
                <a:cs typeface="Garet"/>
                <a:sym typeface="Garet"/>
              </a:rPr>
              <a:t>Personalization in Luxury Industry</a:t>
            </a:r>
          </a:p>
          <a:p>
            <a:pPr algn="l" marL="0" indent="0" lvl="0">
              <a:lnSpc>
                <a:spcPts val="3132"/>
              </a:lnSpc>
              <a:spcBef>
                <a:spcPct val="0"/>
              </a:spcBef>
            </a:pPr>
          </a:p>
        </p:txBody>
      </p:sp>
      <p:sp>
        <p:nvSpPr>
          <p:cNvPr name="TextBox 8" id="8"/>
          <p:cNvSpPr txBox="true"/>
          <p:nvPr/>
        </p:nvSpPr>
        <p:spPr>
          <a:xfrm rot="0">
            <a:off x="162705" y="8254482"/>
            <a:ext cx="8649311" cy="382270"/>
          </a:xfrm>
          <a:prstGeom prst="rect">
            <a:avLst/>
          </a:prstGeom>
        </p:spPr>
        <p:txBody>
          <a:bodyPr anchor="t" rtlCol="false" tIns="0" lIns="0" bIns="0" rIns="0">
            <a:spAutoFit/>
          </a:bodyPr>
          <a:lstStyle/>
          <a:p>
            <a:pPr algn="l">
              <a:lnSpc>
                <a:spcPts val="3079"/>
              </a:lnSpc>
            </a:pPr>
            <a:r>
              <a:rPr lang="en-US" sz="2199" i="true" b="true">
                <a:solidFill>
                  <a:srgbClr val="DEBFAF"/>
                </a:solidFill>
                <a:latin typeface="Glacial Indifference Bold Italics"/>
                <a:ea typeface="Glacial Indifference Bold Italics"/>
                <a:cs typeface="Glacial Indifference Bold Italics"/>
                <a:sym typeface="Glacial Indifference Bold Italics"/>
              </a:rPr>
              <a:t>SOURCE: LVMH COURSE CERTIFICATION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40F0A"/>
        </a:solidFill>
      </p:bgPr>
    </p:bg>
    <p:spTree>
      <p:nvGrpSpPr>
        <p:cNvPr id="1" name=""/>
        <p:cNvGrpSpPr/>
        <p:nvPr/>
      </p:nvGrpSpPr>
      <p:grpSpPr>
        <a:xfrm>
          <a:off x="0" y="0"/>
          <a:ext cx="0" cy="0"/>
          <a:chOff x="0" y="0"/>
          <a:chExt cx="0" cy="0"/>
        </a:xfrm>
      </p:grpSpPr>
      <p:sp>
        <p:nvSpPr>
          <p:cNvPr name="Freeform 2" id="2"/>
          <p:cNvSpPr/>
          <p:nvPr/>
        </p:nvSpPr>
        <p:spPr>
          <a:xfrm flipH="false" flipV="false" rot="0">
            <a:off x="4626575" y="2209761"/>
            <a:ext cx="8769221" cy="5867478"/>
          </a:xfrm>
          <a:custGeom>
            <a:avLst/>
            <a:gdLst/>
            <a:ahLst/>
            <a:cxnLst/>
            <a:rect r="r" b="b" t="t" l="l"/>
            <a:pathLst>
              <a:path h="5867478" w="8769221">
                <a:moveTo>
                  <a:pt x="0" y="0"/>
                </a:moveTo>
                <a:lnTo>
                  <a:pt x="8769221" y="0"/>
                </a:lnTo>
                <a:lnTo>
                  <a:pt x="8769221" y="5867478"/>
                </a:lnTo>
                <a:lnTo>
                  <a:pt x="0" y="5867478"/>
                </a:lnTo>
                <a:lnTo>
                  <a:pt x="0" y="0"/>
                </a:lnTo>
                <a:close/>
              </a:path>
            </a:pathLst>
          </a:custGeom>
          <a:blipFill>
            <a:blip r:embed="rId2"/>
            <a:stretch>
              <a:fillRect l="0" t="-1561" r="0" b="-1561"/>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TextBox 3" id="3"/>
          <p:cNvSpPr txBox="true"/>
          <p:nvPr/>
        </p:nvSpPr>
        <p:spPr>
          <a:xfrm rot="0">
            <a:off x="1028700" y="1871270"/>
            <a:ext cx="16230600" cy="5572682"/>
          </a:xfrm>
          <a:prstGeom prst="rect">
            <a:avLst/>
          </a:prstGeom>
        </p:spPr>
        <p:txBody>
          <a:bodyPr anchor="t" rtlCol="false" tIns="0" lIns="0" bIns="0" rIns="0">
            <a:spAutoFit/>
          </a:bodyPr>
          <a:lstStyle/>
          <a:p>
            <a:pPr algn="ctr">
              <a:lnSpc>
                <a:spcPts val="45273"/>
              </a:lnSpc>
            </a:pPr>
            <a:r>
              <a:rPr lang="en-US" sz="32338">
                <a:solidFill>
                  <a:srgbClr val="FFFFFF"/>
                </a:solidFill>
                <a:latin typeface="Signature"/>
                <a:ea typeface="Signature"/>
                <a:cs typeface="Signature"/>
                <a:sym typeface="Signatur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DAGfWs9VG-U</dc:identifier>
  <dcterms:modified xsi:type="dcterms:W3CDTF">2011-08-01T06:04:30Z</dcterms:modified>
  <cp:revision>1</cp:revision>
  <dc:title>Luxury LVMH </dc:title>
</cp:coreProperties>
</file>